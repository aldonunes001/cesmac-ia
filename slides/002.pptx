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9"/>
  </p:notesMasterIdLst>
  <p:sldIdLst>
    <p:sldId id="257" r:id="rId2"/>
    <p:sldId id="258" r:id="rId3"/>
    <p:sldId id="259" r:id="rId4"/>
    <p:sldId id="356" r:id="rId5"/>
    <p:sldId id="357" r:id="rId6"/>
    <p:sldId id="260" r:id="rId7"/>
    <p:sldId id="262" r:id="rId8"/>
    <p:sldId id="261" r:id="rId9"/>
    <p:sldId id="263" r:id="rId10"/>
    <p:sldId id="264" r:id="rId11"/>
    <p:sldId id="265" r:id="rId12"/>
    <p:sldId id="266" r:id="rId13"/>
    <p:sldId id="267" r:id="rId14"/>
    <p:sldId id="358" r:id="rId15"/>
    <p:sldId id="268" r:id="rId16"/>
    <p:sldId id="269" r:id="rId17"/>
    <p:sldId id="270" r:id="rId18"/>
    <p:sldId id="271" r:id="rId19"/>
    <p:sldId id="272" r:id="rId20"/>
    <p:sldId id="273" r:id="rId21"/>
    <p:sldId id="360" r:id="rId22"/>
    <p:sldId id="275" r:id="rId23"/>
    <p:sldId id="276" r:id="rId24"/>
    <p:sldId id="362" r:id="rId25"/>
    <p:sldId id="363" r:id="rId26"/>
    <p:sldId id="364" r:id="rId27"/>
    <p:sldId id="365" r:id="rId28"/>
    <p:sldId id="366" r:id="rId29"/>
    <p:sldId id="367" r:id="rId30"/>
    <p:sldId id="277" r:id="rId31"/>
    <p:sldId id="278" r:id="rId32"/>
    <p:sldId id="279" r:id="rId33"/>
    <p:sldId id="280" r:id="rId34"/>
    <p:sldId id="368" r:id="rId35"/>
    <p:sldId id="370" r:id="rId36"/>
    <p:sldId id="371" r:id="rId37"/>
    <p:sldId id="373" r:id="rId38"/>
    <p:sldId id="281" r:id="rId39"/>
    <p:sldId id="374" r:id="rId40"/>
    <p:sldId id="375" r:id="rId41"/>
    <p:sldId id="378" r:id="rId42"/>
    <p:sldId id="379" r:id="rId43"/>
    <p:sldId id="380" r:id="rId44"/>
    <p:sldId id="381" r:id="rId45"/>
    <p:sldId id="382" r:id="rId46"/>
    <p:sldId id="383" r:id="rId47"/>
    <p:sldId id="384" r:id="rId48"/>
    <p:sldId id="284" r:id="rId49"/>
    <p:sldId id="285" r:id="rId50"/>
    <p:sldId id="286" r:id="rId51"/>
    <p:sldId id="386" r:id="rId52"/>
    <p:sldId id="387" r:id="rId53"/>
    <p:sldId id="388" r:id="rId54"/>
    <p:sldId id="389" r:id="rId55"/>
    <p:sldId id="291" r:id="rId56"/>
    <p:sldId id="392" r:id="rId57"/>
    <p:sldId id="390" r:id="rId58"/>
    <p:sldId id="292" r:id="rId59"/>
    <p:sldId id="393" r:id="rId60"/>
    <p:sldId id="391" r:id="rId61"/>
    <p:sldId id="394" r:id="rId62"/>
    <p:sldId id="395" r:id="rId63"/>
    <p:sldId id="396" r:id="rId64"/>
    <p:sldId id="293" r:id="rId65"/>
    <p:sldId id="294" r:id="rId66"/>
    <p:sldId id="397" r:id="rId67"/>
    <p:sldId id="398" r:id="rId68"/>
    <p:sldId id="399" r:id="rId69"/>
    <p:sldId id="295" r:id="rId70"/>
    <p:sldId id="400" r:id="rId71"/>
    <p:sldId id="401" r:id="rId72"/>
    <p:sldId id="402" r:id="rId73"/>
    <p:sldId id="297" r:id="rId74"/>
    <p:sldId id="298" r:id="rId75"/>
    <p:sldId id="409" r:id="rId76"/>
    <p:sldId id="411" r:id="rId77"/>
    <p:sldId id="412" r:id="rId78"/>
    <p:sldId id="413" r:id="rId79"/>
    <p:sldId id="299" r:id="rId80"/>
    <p:sldId id="414" r:id="rId81"/>
    <p:sldId id="415" r:id="rId82"/>
    <p:sldId id="416" r:id="rId83"/>
    <p:sldId id="300" r:id="rId84"/>
    <p:sldId id="418" r:id="rId85"/>
    <p:sldId id="419" r:id="rId86"/>
    <p:sldId id="420" r:id="rId87"/>
    <p:sldId id="421" r:id="rId88"/>
    <p:sldId id="422" r:id="rId89"/>
    <p:sldId id="423" r:id="rId90"/>
    <p:sldId id="424" r:id="rId91"/>
    <p:sldId id="302" r:id="rId92"/>
    <p:sldId id="426" r:id="rId93"/>
    <p:sldId id="427" r:id="rId94"/>
    <p:sldId id="428" r:id="rId95"/>
    <p:sldId id="429" r:id="rId96"/>
    <p:sldId id="430" r:id="rId97"/>
    <p:sldId id="431" r:id="rId98"/>
    <p:sldId id="432" r:id="rId99"/>
    <p:sldId id="433" r:id="rId100"/>
    <p:sldId id="434" r:id="rId101"/>
    <p:sldId id="435" r:id="rId102"/>
    <p:sldId id="436" r:id="rId103"/>
    <p:sldId id="437" r:id="rId104"/>
    <p:sldId id="438" r:id="rId105"/>
    <p:sldId id="439" r:id="rId106"/>
    <p:sldId id="440" r:id="rId107"/>
    <p:sldId id="441" r:id="rId108"/>
    <p:sldId id="442" r:id="rId109"/>
    <p:sldId id="443" r:id="rId110"/>
    <p:sldId id="444" r:id="rId111"/>
    <p:sldId id="445" r:id="rId112"/>
    <p:sldId id="446" r:id="rId113"/>
    <p:sldId id="447" r:id="rId114"/>
    <p:sldId id="448" r:id="rId115"/>
    <p:sldId id="449" r:id="rId116"/>
    <p:sldId id="450" r:id="rId117"/>
    <p:sldId id="451" r:id="rId118"/>
    <p:sldId id="452" r:id="rId119"/>
    <p:sldId id="453" r:id="rId120"/>
    <p:sldId id="454" r:id="rId121"/>
    <p:sldId id="455" r:id="rId122"/>
    <p:sldId id="456" r:id="rId123"/>
    <p:sldId id="457" r:id="rId124"/>
    <p:sldId id="458" r:id="rId125"/>
    <p:sldId id="459" r:id="rId126"/>
    <p:sldId id="461" r:id="rId127"/>
    <p:sldId id="460" r:id="rId128"/>
    <p:sldId id="462" r:id="rId129"/>
    <p:sldId id="463" r:id="rId130"/>
    <p:sldId id="464" r:id="rId131"/>
    <p:sldId id="314" r:id="rId132"/>
    <p:sldId id="465" r:id="rId133"/>
    <p:sldId id="466" r:id="rId134"/>
    <p:sldId id="316" r:id="rId135"/>
    <p:sldId id="317" r:id="rId136"/>
    <p:sldId id="469" r:id="rId137"/>
    <p:sldId id="470" r:id="rId138"/>
    <p:sldId id="471" r:id="rId139"/>
    <p:sldId id="472" r:id="rId140"/>
    <p:sldId id="473" r:id="rId141"/>
    <p:sldId id="474" r:id="rId142"/>
    <p:sldId id="475" r:id="rId143"/>
    <p:sldId id="476" r:id="rId144"/>
    <p:sldId id="477" r:id="rId145"/>
    <p:sldId id="478" r:id="rId146"/>
    <p:sldId id="479" r:id="rId147"/>
    <p:sldId id="480" r:id="rId148"/>
    <p:sldId id="481" r:id="rId149"/>
    <p:sldId id="482" r:id="rId150"/>
    <p:sldId id="483" r:id="rId151"/>
    <p:sldId id="484" r:id="rId152"/>
    <p:sldId id="485" r:id="rId153"/>
    <p:sldId id="486" r:id="rId154"/>
    <p:sldId id="487" r:id="rId155"/>
    <p:sldId id="488" r:id="rId156"/>
    <p:sldId id="489" r:id="rId157"/>
    <p:sldId id="490" r:id="rId158"/>
    <p:sldId id="491" r:id="rId159"/>
    <p:sldId id="323" r:id="rId160"/>
    <p:sldId id="324" r:id="rId161"/>
    <p:sldId id="325" r:id="rId162"/>
    <p:sldId id="493" r:id="rId163"/>
    <p:sldId id="495" r:id="rId164"/>
    <p:sldId id="494" r:id="rId165"/>
    <p:sldId id="496" r:id="rId166"/>
    <p:sldId id="497" r:id="rId167"/>
    <p:sldId id="498" r:id="rId168"/>
    <p:sldId id="499" r:id="rId169"/>
    <p:sldId id="326" r:id="rId170"/>
    <p:sldId id="500" r:id="rId171"/>
    <p:sldId id="503" r:id="rId172"/>
    <p:sldId id="504" r:id="rId173"/>
    <p:sldId id="501" r:id="rId174"/>
    <p:sldId id="506" r:id="rId175"/>
    <p:sldId id="505" r:id="rId176"/>
    <p:sldId id="508" r:id="rId177"/>
    <p:sldId id="507" r:id="rId178"/>
    <p:sldId id="509" r:id="rId179"/>
    <p:sldId id="327" r:id="rId180"/>
    <p:sldId id="328" r:id="rId181"/>
    <p:sldId id="511" r:id="rId182"/>
    <p:sldId id="512" r:id="rId183"/>
    <p:sldId id="510" r:id="rId184"/>
    <p:sldId id="513" r:id="rId185"/>
    <p:sldId id="514" r:id="rId186"/>
    <p:sldId id="515" r:id="rId187"/>
    <p:sldId id="516" r:id="rId188"/>
    <p:sldId id="517" r:id="rId189"/>
    <p:sldId id="331" r:id="rId190"/>
    <p:sldId id="519" r:id="rId191"/>
    <p:sldId id="520" r:id="rId192"/>
    <p:sldId id="518" r:id="rId193"/>
    <p:sldId id="332" r:id="rId194"/>
    <p:sldId id="521" r:id="rId195"/>
    <p:sldId id="522" r:id="rId196"/>
    <p:sldId id="523" r:id="rId197"/>
    <p:sldId id="524" r:id="rId198"/>
    <p:sldId id="333" r:id="rId199"/>
    <p:sldId id="526" r:id="rId200"/>
    <p:sldId id="527" r:id="rId201"/>
    <p:sldId id="528" r:id="rId202"/>
    <p:sldId id="529" r:id="rId203"/>
    <p:sldId id="530" r:id="rId204"/>
    <p:sldId id="334" r:id="rId205"/>
    <p:sldId id="532" r:id="rId206"/>
    <p:sldId id="533" r:id="rId207"/>
    <p:sldId id="534" r:id="rId208"/>
    <p:sldId id="535" r:id="rId209"/>
    <p:sldId id="536" r:id="rId210"/>
    <p:sldId id="537" r:id="rId211"/>
    <p:sldId id="538" r:id="rId212"/>
    <p:sldId id="539" r:id="rId213"/>
    <p:sldId id="540" r:id="rId214"/>
    <p:sldId id="541" r:id="rId215"/>
    <p:sldId id="542" r:id="rId216"/>
    <p:sldId id="344" r:id="rId217"/>
    <p:sldId id="345" r:id="rId218"/>
    <p:sldId id="544" r:id="rId219"/>
    <p:sldId id="543" r:id="rId220"/>
    <p:sldId id="346" r:id="rId221"/>
    <p:sldId id="545" r:id="rId222"/>
    <p:sldId id="546" r:id="rId223"/>
    <p:sldId id="547" r:id="rId224"/>
    <p:sldId id="548" r:id="rId225"/>
    <p:sldId id="347" r:id="rId226"/>
    <p:sldId id="549" r:id="rId227"/>
    <p:sldId id="550" r:id="rId228"/>
    <p:sldId id="551" r:id="rId229"/>
    <p:sldId id="552" r:id="rId230"/>
    <p:sldId id="553" r:id="rId231"/>
    <p:sldId id="555" r:id="rId232"/>
    <p:sldId id="554" r:id="rId233"/>
    <p:sldId id="556" r:id="rId234"/>
    <p:sldId id="348" r:id="rId235"/>
    <p:sldId id="349" r:id="rId236"/>
    <p:sldId id="557" r:id="rId237"/>
    <p:sldId id="558" r:id="rId238"/>
    <p:sldId id="559" r:id="rId239"/>
    <p:sldId id="350" r:id="rId240"/>
    <p:sldId id="351" r:id="rId241"/>
    <p:sldId id="560" r:id="rId242"/>
    <p:sldId id="561" r:id="rId243"/>
    <p:sldId id="562" r:id="rId244"/>
    <p:sldId id="352" r:id="rId245"/>
    <p:sldId id="563" r:id="rId246"/>
    <p:sldId id="564" r:id="rId247"/>
    <p:sldId id="565" r:id="rId248"/>
  </p:sldIdLst>
  <p:sldSz cx="24384000" cy="13716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80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9851"/>
    <p:restoredTop sz="94706"/>
  </p:normalViewPr>
  <p:slideViewPr>
    <p:cSldViewPr snapToGrid="0">
      <p:cViewPr varScale="1">
        <p:scale>
          <a:sx n="59" d="100"/>
          <a:sy n="59" d="100"/>
        </p:scale>
        <p:origin x="21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notesMaster" Target="notesMasters/notesMaster1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presProps" Target="presProps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viewProps" Target="viewProps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theme" Target="theme/theme1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tableStyles" Target="tableStyle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4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5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6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8EE41-C120-5AFA-BB5A-26B4DF652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489F2F-6DE2-4A8C-4814-BCE215D90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770C2B-5041-97DC-6BB1-DD0371E2D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664CB-20E9-32DC-9AB0-E88A365714E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4013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43E5D-4258-112F-32AF-C505C7EF8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55BD10-B399-DB07-C8A4-4F4C68AFF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3F220-401A-2816-C373-60E15FE79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9A07E-1087-0B13-105B-13470C27444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9999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11343-5787-DEC6-70D1-BA3FB1D85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0B0C26-8408-D64C-4865-3DF2BE24A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94F15C-4B24-B362-ACD4-B05873EEB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0483B-10A9-5E75-AA77-3DC6F2F20A1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90872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A18F7-D776-0A92-F7F6-F705E3947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8F757-E62F-9F4D-9302-0A516B1430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65105-2EDB-5032-8BDB-F44D7BBA6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3D710-A2FD-67BF-D87A-22456773E4C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5420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5963A-FD49-F58B-6B55-B122ECA45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D4741D-17A4-5F01-BC0A-76829A585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AFE01-4A12-1C82-F187-FCF6FB444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44937-98CF-424F-397E-F70692614A9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87233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ED859-CF64-0A0E-2E62-27009DE14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8C77A-3C29-D1F7-3924-97898A2AD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66AE3-88AD-3AB5-D0BC-B69D599E2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05D15-41CB-85B5-852E-592AE90E21B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09156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F32CA-71D0-6898-67E0-422AECA73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8744D-5F0D-AFE7-C769-E8908C66F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7E0B08-E02D-B862-1E81-962AECB96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DD721-5A09-7C16-25C0-5642C0E750A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39232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02F2B-AD02-A439-BC5E-E4B921B6C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B612B7-8836-CB03-C2F9-1AF3386F4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9C0A0-F506-D20F-FBED-7FA743C91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4639C-B756-14A2-BF74-EB75D9CC54F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40746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E186D-127A-3F44-8322-FE8E03865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C8CCF-BF50-522C-18CF-567888EE7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C6D3F7-4370-4079-5D41-5B6D74A3C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7318A-4C04-B710-E752-75646128B79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38939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EE851-9B9A-3D09-1060-73246FB13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81D09D-93B3-3C69-562E-70F7C26C6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6750A5-B394-6DD8-2BDE-087193470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10514-E128-033E-3078-2803EEA462C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59330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AE5B3-99BF-0034-641C-F4572AF01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3376B5-E3C6-F24F-8D93-AB41384AC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04ACF8-6E15-448C-2008-51D65CAFB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DD9D6-A52A-66E5-454C-4913D2A71DC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41040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99795-C1DD-4562-EB9F-2282D3234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F57838-8CF6-2AD4-1CB4-DF711EDB9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EB489E-772D-1DA9-038F-0C28A7C7E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8A67D-E0B4-BF9D-17BC-060B5DFA87F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1413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D81CD-F013-3D41-18A4-B2964AAC4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EDACFA-6C06-7586-0EAE-6309613E7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1F0F4-B331-5221-099E-F475BD6CFF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E6E8D-C2DD-F8C6-ED7D-53902735A2C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26163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FE6A4-5CC9-24E8-B8C9-9C7605FB5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22EAD-E9BC-8A15-4088-B74658257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EF8E6-FC25-966D-583D-F8FF37E5B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E1D9E-A63C-657C-B256-6FF41958C98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43092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8B220-8FC9-4F9A-B3E2-6BE6CC90B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96B2E-D3BD-F4BD-9E70-8FAD67B7A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38779-FDD5-3982-A4BF-C594D82B8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E2D35-5677-FFF7-4E75-FEFB2DC4477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929603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C2CB7-D7C9-3A3F-CD7E-4302FF8F4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851DB-1463-BB4C-B089-C3295C5C7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84A6AE-B204-486E-2E1E-EB25FA7D1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FB946-03C6-E948-4098-0373FED0DC8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99996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58A97-9BD8-5914-53C7-9EF1760BD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D98F96-8E71-3315-3772-F43D32C72E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87209-8910-1F37-7B10-122936A8F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8EDDD-3813-5AE5-3B34-EFEBD7E231E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1053702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009C8-1168-9310-E963-B3F88009D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28E20-CF9B-A102-4017-5AD14371A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F06FD-094B-B4DB-BFFE-FFAACBB52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666D4-4EAF-E646-F528-4718CA842B9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37854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B69C8-591A-2778-8226-C47316544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3BE1E-9842-C5CE-D2DB-472790B0B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D3768-3DFD-79B9-808B-1FEFB603F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31994-EA73-7D7D-215B-0D6E093A0D9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0840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7D55A-CFD2-F61B-A8B7-01EB07019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6085C-C7F2-A3C0-0FE4-1F4294016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EAACC-2E3D-7B1C-6A5E-96DEA30B5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81E7E-1AC4-35B2-AE94-0615037F711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33103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18131-0014-E211-5D4C-599D5BEBD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F82DC-7341-3449-B4B4-9525DFF56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D3FDBE-9B01-B2EF-0994-20786DA4F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E232F-7345-E334-D0F7-F07B70F7B25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382624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1730-C604-F86A-D3B2-1826C150C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37B56-51E4-A1AD-F4A1-3E38F32F9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BE548D-A9E3-06A7-2AA8-ED2D95D8D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46080-2C4C-0F47-32BA-5CE7D8DD132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452091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C2C61-1B5F-5A4C-B858-7D6ED1CBA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493321-F786-3C92-A85F-8F77ACFF5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7FC17-9940-B2E8-2144-CB2A05891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5C655-6798-2CDA-2F34-3051F39BB9A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837590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144AD-2915-FCB7-9226-0D9E4B0C6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38E55B-CCBF-E78E-6B33-5521A7222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8B9E4-79AE-4425-D6D2-515AA863B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D7BBE-41F6-77EE-9E76-4C987C06D78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731199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78A46-13DB-19D9-9600-30A7F26EC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674CFF-5B02-B894-1E09-215C6C7AE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D8CDEA-A57D-EFFA-1BBC-502C7E589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FE202-15E6-5132-D57A-1BB53F25927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735092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6913A-E994-38D2-ACF8-1E2577340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1563EC-9063-481E-97FF-790909A97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044D88-E486-01D1-8FEA-8CB513864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65BA8-8A49-3AD8-2201-B4992AD6C3C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555370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1558C-4C81-E3C9-3E1E-29BE339EB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9E66E7-E478-4EEC-F4BE-D2B2F030E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17A6C8-3B14-3765-59E4-1DF3EB8E0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D5043-6EC3-B84B-ECB1-55065D9CB3C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252075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448E3-2F25-9E12-2C34-0A8F38BD3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2FD6E3-EBF2-B355-A758-7285FB312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46506-E445-536E-23EB-A2CFECBC3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9AB0F-3D2B-99DA-BDE8-621AF18FD5B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066042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319EC-AB6F-97F9-A7F4-52935A15F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E80C5-72EE-EEEB-555B-2ACB23AF5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90C86-1B54-4C0B-FC9A-73BB25D17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F1306-941C-236F-4B27-6D3F8253595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507324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F5289-FC49-B0AB-3C8B-410E73F75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E97BDE-D827-21E7-DBCB-8C56AF3AE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AB3CA4-208B-71BD-49C1-A12AEAC8D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CDE06-8F5E-3E3D-CB0D-438B85FE413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927994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ECDF3-03A1-4332-861A-03EBD9448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0376B1-031F-2402-A3DD-111E5CA39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51944-5B44-5375-9F91-88BA6E74A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F914F-38BE-FB50-227E-BB31F4BD269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722569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DAFCA-88E3-0A64-AD07-7468EB5C4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C0F8E1-9426-4704-A29F-EFAB3FCA3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832A1-0302-1677-FABC-5D4101FE5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F84ED-FB3C-C1F9-A2CF-1F70B8B3021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956548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3C8C5-6048-EEFA-5680-73DD646EA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67E0F9-9090-F02B-5558-6926C504F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FBE3E-58E9-D64E-10AF-FE3F45F0C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7A0CE-022D-8FB5-776D-EA18CF727A7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957516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78D54-8E9C-F042-058E-99DE2C11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82E5BB-382A-A89E-84AC-4C99D3ACF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7B9D77-8E71-8D97-2986-71A214E1F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D6CF2-3A41-E5BD-69CD-BFA34556B6B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466198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DAE43-E2D9-8871-36CE-BAC605705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D291C-FD84-7EF8-AFCC-2841AF18D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42DF6-AC26-13EA-FD50-94F3AC6B7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BB0C7-6152-3FED-4908-312587F65F2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462810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AE1E1-9612-BF25-C160-DBCEE3856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F2B975-7ED2-6065-1D96-3C9C08264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D0F210-06DE-9866-6531-13276823E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7A370-123D-6CBB-BD8A-E05C5BFE9D6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433728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6461D-D6AC-1A5C-6EBD-120E68AE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7CC2F9-A949-8A3D-224B-D9A6B1299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39AD1F-210C-F4AF-F553-9A873AF69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E7EB9-779F-05BC-DD87-269FFAF5A08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689078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BC1CB-2E43-953A-9944-CCA271D7B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856F80-A9F3-16BE-88DC-DF78752A4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58397B-0786-4992-DFF2-E681791AE5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AC1BE-44CE-08BD-191E-D442855CAF7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826243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4C9CA-B0E0-901A-B43A-5FD16078B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E5143-AA6F-1B0F-8CD2-EBF7DED05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9EF35-63AA-C33E-1654-5B2FFFB29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E73E5-B694-B88B-FD6C-EBC636DDB4C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676006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A400E-E455-C10A-6125-6B61FD7E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A8646-0C59-9615-0423-452D12AAB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A8ACF-73B7-3CFB-63CA-92992CA3C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CD8C2-56F2-6D46-0FC3-B236F8971E2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609820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15442-62F7-27E8-C79B-DCF4A97FD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19130-179A-8CBC-7678-83595CC4D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41AA0-E83D-930F-381A-C78FE23C2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4CC28-15AE-618F-77E0-4351BFE80B9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867012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37A7D-45A9-7148-B246-BB4D4965E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356A8B-546A-08C7-A230-0BAB051A6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F75660-EEC4-0C7C-8A7E-C4F06EEDE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802F8-8C44-3B69-42F3-A8E02D83CF6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8725737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B07F8-01E5-FA26-770B-4BB784620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D6CE50-B8E6-C833-1867-AC249EDB6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76D582-45AC-26E5-2F45-F9E24C734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B1CCD-4C61-8119-8C83-63CA907D74E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356429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A5A2C-6A2D-B778-91D9-96FDD899E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630ED3-A2F6-313D-9639-BB79768BC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4348CC-BA84-8ED3-2DE9-1AB99631B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2FC71-6641-B3DA-9AC2-78F1FA2C5BD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7891175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0A9C0-FF45-9916-7DD9-B218D0AAF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4F2D71-E152-7F0A-0501-D4507E024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80F87C-1F4D-014C-A5D3-F6214401F4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EB99D-636B-7B3D-7454-E901760F3F0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363707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A8142-252F-A80E-6952-E5A3EC09E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ECBF88-0245-BE3B-833F-F94254194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292CF-48A5-FCB5-8254-37B9B9746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C943B-2F4B-5C7F-D8BE-7014E7D40B3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411678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9B79B-F5B9-D075-6887-4835B7841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B5442-CDE5-B91B-F3C7-2F35C7E7E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361EAE-0B9D-CF81-0C7E-8A6C9D3A6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45FEB-82FB-F5BB-49CC-E49EA98D793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658602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A3B1F-5068-8B1C-04A0-4E7430DA3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4CACD4-A000-0A7D-1245-1F545468C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DB0CDC-1B33-C9E2-62D0-9801D5765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50F7D-D3F0-C697-00EC-F22F437AC93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22467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70E21-F3BB-70B0-D0BE-0AA9C8F16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F2271D-944E-0255-804E-89A36E0B9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6165F0-ED63-CDC3-4840-F6310D7D2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C9419-F8F5-9F69-44D5-2E4AC51CF84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530477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DA6E5-C127-E6E3-D4AE-D0A2751E8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A7C510-058D-4075-7F81-06C02EB3B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FCA0DC-510E-5AFC-1804-A46DE19E9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17F0B-A67B-B02B-B58D-3C111C52595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6490608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534E0-656E-5414-A9AE-118B18F92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56D41-F5B2-B8D1-4891-25E6F2B07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5DBDCA-524E-1EED-6766-D1399E36E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8EFD6-F30B-23F5-C1DC-C3ABF6DAD72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0655729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D466F-260F-8059-CA13-DA6618F6C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0EA947-974D-2750-A546-731796EA53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50791F-DFCE-D0FF-4CE3-356B332F1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FCF5A-B595-1879-AFEF-63F8153B9D7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634917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81B2D-7319-D5B4-041F-9E05BD756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5F303-2431-7302-5041-2F4E53B66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0927DE-C4C7-C14F-7A44-FF3967C53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911FA-EEE6-7290-542F-2D3A6A5F89C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3221207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4500E-39EB-E18E-BA56-CE14C1892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EEA886-35B0-DF16-BD77-3851AB8C9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D63DEB-81F8-1727-2BA0-87A2D31F7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A378F-DE64-80E2-468B-DD938349723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475400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0FF2B-2AFB-291A-4B6B-A10FC3BF4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13157E-0D56-7502-AD8D-43D3E7BE9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63EF88-A09F-45BC-4742-CAD7642E4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C7798-1C1A-BE4C-C008-DF3DA46EDF0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639996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CFC9E-988A-4CFE-DDB0-3A2A7B4F8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B5807-9BF0-6E49-C4CC-0BD6ABDBF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D47D45-318C-33A8-D48A-2442C71B9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DF4D0-E811-E6A5-3AF4-4B2191FE008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2324462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DF6D-306C-15E0-008D-7BD1DD385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FF3E-8832-2A50-8DA2-AE7964AB6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B9B2EA-547D-ECED-3F7E-AD6C0323A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C7660-84F2-F300-11D9-FF5EE42659C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1013297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40C6D-9EBB-8E5B-68F2-4476C9A62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456C3-DA7B-8620-DC2C-97991E957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5DA141-06E8-389B-1FEC-B31B72A9B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766D2-8E4A-2391-5E70-771158E2BD8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5719780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32C1B-E966-9F03-892A-8F45CA996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B3F0B6-76AE-0569-8F07-5951829BD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8ED24-50EC-7999-94D3-7A7DC34DA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A0245-378D-AD91-71E1-7CF6D673C75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89959202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2C92A-60E5-9B02-CBB9-FBF32734A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C60B38-976E-49F5-1231-D8DD53E18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963815-7CDC-A9E5-224C-017A4F535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20367-62D7-BA4A-14DC-F040E790702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47734579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98B0D-C90B-AC60-F1E7-341632F59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D18284-3ABB-A920-E7D8-6914C73944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326C6-3B8D-11B8-924E-90B7E21F7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082E7-FBE7-E602-80FF-1A232F3938A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60387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EDAF2-52B1-5077-8AA0-0F0EA19AB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40C3F-9AC9-1DAD-0C6F-FE7D38FDA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F59D4A-99AD-0DBE-C430-266AF3204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8AB45-88CE-1E64-D4F9-8289BEC8F88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4179903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75CDD-36FC-E155-DD9E-91F2D7B30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12E7DE-B915-FEE5-856A-EDF39A6C9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5301EE-551D-6FD9-9DD4-58C02BE88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6E5BE-CAF5-F205-1A20-10482432260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8159008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2CCD6-7EF4-E300-C713-470C13985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48FFB-E84B-0EC5-7405-E4BF1D196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03EA11-68D5-BCB0-FB09-036AA1548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DEA19-6FFF-5B5F-2C70-4DB6FF84FDE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809467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A1648-724C-8C1D-A681-4C6FEB9BD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C2C8C-9E9C-BD7B-FECF-FEBB58EAE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B48A73-FADD-66BB-4A08-008C8432F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8B819-A366-1409-B302-9AC723C3B4E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4871851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C02F8-F663-4782-1176-580D667E7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B3E21C-D9DE-7F9C-7753-3B9DCB259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3B10D1-4B3B-96E2-3962-F1D0FC677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5E0FE-7585-C069-7F34-526FC042410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1827474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465F2-CAB5-6B6C-2A51-78C9DB8D9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C4A2CD-B3F9-F47E-875C-18CCE81C9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EB416D-E8D6-3DEA-1C7E-62C20BC25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62F01-B3BF-A6AF-E600-2F38A16331E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0448644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5FB6F-F184-BA45-4710-4C4BF701F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A39787-5420-37D6-2E48-96A0AECC0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43DA35-CD95-30DB-961E-C8F3C9118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37AB4-FF12-5AB4-CC8E-1E20FAB78AF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9411138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37EB6-DE9C-0FA8-40D2-8F5B1C90D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F148A-D539-4B2C-61BE-C662778CE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358C59-31E4-3D5B-29A8-976D37CA5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B816A-A37B-A3B9-8824-8390E1CDD23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1172418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94D1A-2B8F-5323-60E5-A775A8171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A8FE66-65AF-F381-184A-1D12DC548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E2DF56-BB5D-7793-7C76-9441FA4FE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A7C64-77CB-66E3-F67B-960E0996524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3971594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2472A-41CE-E891-8186-17378B270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88549-C91D-0988-8395-95581018D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FFCCEE-9566-D77A-5A6B-041C5F299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8FB9E-4609-2D62-2A10-2059A38ABF1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7228474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66B3C-098A-35E0-A066-4C1AB1744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7C7FFE-7872-3BB9-0431-8A313B065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59317-311F-E4D3-419D-C751FF1FE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49BD6-0029-1507-2F14-A533508AC9B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2230828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0AE49-C5D9-3B59-54CB-E6FC94D31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4378F-6EA6-2C41-D28C-FF77F048B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C4490F-113D-B195-8F4E-6665FE025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D0F92-A7D1-18AF-839D-1157BFBD83E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2120280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7B4F0-1D22-06E1-1DD7-F34AD65AC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5028C-2F04-6322-F12D-8EFD53ADC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A26753-B0AD-7646-93E7-3B571F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9EF8B-35C4-8C22-72CC-A46C0DFBB9B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6185717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63215-B1D3-01CD-12D8-BB782E852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B886B8-B05F-9543-CF57-6C04904701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2DB89B-634D-E7C8-17E2-B6A2C3137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24D3A-ED6E-AD09-C78D-DEA3DE449AD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3612395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D0FB8-4E04-5BF7-9B91-EDA5BF61B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59C9D5-27ED-4BF0-E419-CD65BDBCB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9AD232-F7C8-6212-2BE6-BEA4448C7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1E5DF-D040-12D9-3793-74373E14144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482950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D6E91-9233-4EE9-58CF-D5141A093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25094-E6DF-C20F-0268-53B15CB28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8CF0C-CCE7-6582-A103-A4053928B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DF27B-58D3-8A69-E962-EB611CCD0D7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8753046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FB227-86A1-C4F9-6897-E1272F574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AB4B62-A139-A2E0-0376-58C9F530C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2384A6-BB29-A3A0-2339-1664E3192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E19B7-EB77-B897-46B7-5EC977EA064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6919506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EC458-A156-E032-FB48-1E04AA799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160BC7-B9C1-8F4C-8E78-B3033AB95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23D650-9B87-E1F8-F2EC-51EA341C4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9C8D7-A9BD-C312-18B3-AE1A3B48EB7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0956972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08C19-7F5D-9BCD-B45D-200D56BBE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0AEFFA-880D-3364-6729-FE8E38CD2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E867AA-497D-8179-46A2-1EE921134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4C056-DED7-D440-D29C-296B0C3600C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0005414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DBBD4-87EE-162B-5358-F879FC60B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B7370-6EDF-B4EE-A0DA-C58BCEF14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4D2A9-18EE-2140-B1A8-9A293DF34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BC91A-41C9-D597-FBBD-EE70307FC09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457306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561CE-0128-4DCE-1CD2-C2521B0B7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65D21B-1DED-52F7-F403-534416BCB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B9ACC4-05B6-7193-CC90-BCF27080A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ED361-FEC2-82BF-35CE-3665A8E3536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4214412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19902-4CFC-61DF-0BBA-733B679EC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56DC1E-B5F0-5A1D-18C3-07C395CA9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57853-C66B-EAC9-D6C8-8D014FE88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E85AC-4B1C-06DF-B29A-A5C090719E9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5824826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0B7BD-6971-4718-0BF5-497C90F31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663A11-497F-2077-202A-743C1D4EB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74E108-D63E-87FF-A77E-C9A038B6B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9B7A0-9813-5181-8852-66041206047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7382462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9A3D3-253E-F841-5E89-79C47B617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4ACFA9-D9FE-D1D2-30D1-0E712F79C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CA24F-CE26-33CE-F26E-5F012E958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B7641-2DC3-86A8-556C-02564ED0D0E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3916907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38DCB-D288-6680-5B9B-9394B80E6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76D25-D709-38DA-6761-373EDB5D9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0641C1-92F3-2284-E983-0D69FEEC7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6EA67-4458-48E2-6E54-35C48A002C0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7421652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9F364-04FA-A78F-8A4C-9F1EC4BE4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01D97-9085-6F65-FF14-474344CDA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3AE2F-27A1-50E8-5353-8E94FDA93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AA953-F5EE-F379-D0CB-55F068E9F03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3721068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84948-D70E-F19B-09ED-1BD41911C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82D2B6-62FB-F6BF-F341-70924E732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B8D5A4-3812-CEB7-41FA-97F48C6BB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36505-2766-1178-BB17-E759ECE12AB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6046512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00C40-955B-5C05-55DC-5F051C0CD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6E26F8-D560-D41D-3748-82DA54DAD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523C92-3EA2-D4A9-ED9A-15A28AF1C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E09E6-6AD8-C800-A1FB-28A01269062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8164884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70D92-CD26-ABC7-C3E2-06636EF81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78E18B-8E3B-0CFB-62B4-9258A502F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B8019-ADF1-3F35-2906-98ED3B838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E6F6F-44D5-39B2-577D-CD295052BD9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3170305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149D2-D9A7-7DBD-2FEF-9667F0983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E8AE3-1FEF-1CFE-E46F-F8745982E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8CC235-DFC4-C662-77DF-E62397D8C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81EE8-ABC9-8B37-3B8D-DAA65D4255D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9946769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A80D2-D648-4056-AC69-A8DA0B42B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2352EB-3813-3D3B-018A-6F33EE0CD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176B53-D16E-07C0-7F9A-4D9C0394A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23934-9BC6-6DB1-336E-421EA695221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40166897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A2095-8EB7-5D8B-5C78-56361F149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25458-9482-A376-8BAF-110B5A149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F8EF7-D1AD-4F46-01F0-6096F8BB1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AD18F-A726-3B2C-4661-D61602DA5A0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7333973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24277-CA92-F1F9-7B5B-14980C193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09AA4C-435F-905E-C97E-3FEFBBFDD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B6CB13-47A4-E110-C53B-0A29BA9D5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19E60-33A8-DB42-90B7-45372A706F3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3359817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4ABDE-00F5-FE80-BBE3-5D4FFAE87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2CB939-9D94-3D78-6A51-6949A8B4F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D07194-C864-51DC-F00D-389B2762A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14178-F305-193B-5882-0E3C4807325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8352075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7EC4E-8B09-4C32-67BF-8912FD9AA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7C8C3-000F-91D2-8F5F-4645B2253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A62740-B657-6C63-F135-806EC4415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D38D2-D69B-172C-B6AB-2F2EA71299E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3185946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D20A1-BD6E-F989-23DF-980923250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3FB039-2CEB-CDDF-314C-08ACF9111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F1CAAD-88B6-884A-2EF6-72E9A07DE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281E7-DA5C-6F59-BB30-B3039799033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3349044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DAC76-5B68-2130-178C-370BA63DE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84498-A54D-339E-CFEA-9F878BB52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AF6FA-1C37-D18D-84A3-9D7E156FF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B3AE2-0C06-3288-505D-859648E7B9B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6169796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DFC22-397B-4FB2-A6A5-4114D73D0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7595F-1D4A-D3D3-C13B-7AB268F8F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E52197-FA24-7C1D-D8B5-831FD74C1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95DE6-C132-12ED-D235-4E15DCD04BF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7969744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EFB6B-CE6C-A284-6731-AA7D0A04C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E918E5-2959-404C-BA89-2EE52CA88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6D0F29-43AB-4A1E-0E11-46E124995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8127B-FEF9-3413-6092-820F310123B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7748924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FA933-E159-19A8-274C-73E681130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BB3AF-01B5-6EC5-C64D-D65415401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BD5C5-DD64-ECED-6421-F3748586F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A5497-5954-78A2-7C3B-1293F6B6BA3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77858454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06C8F-A113-D900-A884-235BBAF8B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FDD58A-EBB5-16DF-07EB-A51D9BCE7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4CC41-3227-3BFA-610D-91DC981BB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B26AE-84AA-1DC1-722F-BF5B3E899C0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9298325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F9D0-7BE7-B0B4-6A2D-4D7C7E159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93DACC-C3B5-32DE-5BB2-EB605924C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7CD88-83C2-16DE-1223-55395A4E6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A536D-DA7F-AEF5-0AB1-D175327434C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052454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660CE-8795-998E-DEA8-664353E04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B01702-FF07-E049-8375-08FC2E3BA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699937-6A58-0F4F-6F10-5E395C3EE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E29B1-0354-61D7-61A8-5F30A759F63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203741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121BA-4A43-BC0A-6639-2F3A5F0AE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F5BBE9-4485-FF71-EE8B-A139E199A5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E2399D-F4E6-20CF-22B8-BB80FD7BF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0B271-7636-D5EC-5AB4-55576B5B1BC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3304245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FC49D-64C1-E50A-B320-042511926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6FE7B-F3F0-C0BA-3C76-DF83810B7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A9A0A7-0106-F6FF-CCFE-7CE4025E9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0D46C-BAED-16E7-F104-FA789F623FE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0452618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E9147-61B3-B19A-7F40-A0AB5826B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16CD6F-B951-D184-BC61-2A8A6561A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E9D225-3025-94B3-1CBA-B08FF195E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9AE57-8B42-7711-9694-73B26A1A618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900281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F6C96-DED2-F944-F357-C5938CD25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686D14-497A-FB2F-7497-8A5B4BAD6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A426B4-A8BC-AC63-FE61-E6F1FBF11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8F053-BFF5-25F5-8560-F3AB655DB11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1902729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6167E-A483-0F88-02C1-9F44E5675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5DF31F-22A9-17DE-2916-F98648EF1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FD84C-6CDC-45BA-BA4C-E663E831F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9F641-41DC-100E-83B5-96C71C1942E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031913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8DEB2-9909-F58F-7294-7DD6442DD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1CEE0-DA84-BEBB-10DB-E74197B28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36D4AE-3040-8CF2-A04B-F3BB72DC1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AF217-1A41-582F-E7D6-63D582DF2C3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5870474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E309E-6721-0752-5C60-E4C3F636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1593B1-F50F-9F9B-D199-FD66C79B5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DBE687-4F3D-F00C-E6DD-555E22CC9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63E65-6F82-47DE-DB80-8C979515E32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4184535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48C5E-F4A9-8771-ACEE-F5D9A2AF2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82D5B2-6CF5-1DB1-048C-8204DA6AC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8AE0B7-81AC-A221-B85B-32332FEAD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06182-512B-3F00-D1EA-B95287D9AC9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1165860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5E465-5A28-4996-D5F0-5B5E210FA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4AE36F-04B9-F916-E425-71CEEE991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49163F-58D4-9B29-E949-8EADA86CD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980E0-A937-D66D-F5E3-AB182468371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0325106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FCEA7-7A75-9420-E9A0-B4997C11E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D92D60-635E-AD4C-388E-FC64206FD1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5591E4-2D23-1D77-89D3-A21044FCC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76AA8-485C-8959-C66F-BFE64139507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7507654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81CD7-A1F8-2CF4-EFEC-80DF94874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4E6FF7-9231-7194-A9AD-356FB582C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8B5E0-53AF-5170-B02F-1BFEE7B44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E68B5-7D85-67F3-E3F2-DB145242596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3957158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9FB90-41CC-19EA-C57A-28DCDBC6A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9D2B50-9443-2A56-4533-4B48CEEDDD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962886-B0D0-5082-D759-97F06F990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78C4E-8343-F674-76C9-EAAB98E61D5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0719636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C09D0-353A-4904-92C3-F359CA969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51EA91-DBEB-AE61-B75F-CB756859C8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42341-B5CE-C397-97D7-6B06CB689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8F860-4799-6492-83F5-4D42C22F1C2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26155169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DBC9E-738D-22AB-838A-2C4BD3716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993217-8D97-7F2D-2BB8-A0AD4582CA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47913E-7F68-5D56-5796-9EE6B9117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51F52-5F4D-0BF4-21E4-D1ABA45F8E5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10495715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F637F-BE70-05DB-A7D0-6EA259F7F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016F2-7BAB-E3AA-5FB8-7565DFDBE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298C9F-EB89-3137-0BD2-4B30F8270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CCBF0-46EF-6386-2DC4-2E51499D059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4282646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16D86-0684-B63F-9253-0EB0F7EE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FFB4F-D3D8-E79D-9416-508AC1552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2A836-5A32-8B84-0D75-9A3141214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840E1-0B1D-7D51-B813-206D2D6CA66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4164875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8B11C-6F6D-3422-D9B7-BCE8556E1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6B672D-7D24-B7C9-9BED-0B79AF255F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3D1BDA-DDFA-E905-DCA4-B666681E8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F93E1-05D9-9F10-C08A-3829A967389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0564325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2B830-2B2D-7408-7944-34F4B82C8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575FCE-CF93-CCAF-D4EA-8564FCE35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AF890C-1558-363D-35B4-26EE34154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23724-EFCC-E8B1-9434-A6100C93DB7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0732714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6C32F-6292-D8E6-0457-331FC0384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7DEF32-D691-3558-1B8D-C75BEC108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CCC83-01A8-1059-BCC4-8C482861C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17016-0FFE-8C20-8C4E-92963B00C33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7583152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86E85-5741-6DEF-16D0-94FD2E0E0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E2C1EA-9540-FACA-C30E-BFE116E42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E444F0-A4A9-7863-F1F1-CA3D598F9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2E323-0965-F32B-ABDB-658D022846A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7257956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2733E-9433-9710-D226-48B806F56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148F6F-8C54-9B29-1EE0-B96E85E50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42731A-03F0-0F43-BD53-29BA3BC7D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50630-A839-9B40-7AF2-FA3D1851D2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4477343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2DF5B-AAF2-B2D5-0C22-1D89A0B08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3439EE-F01F-58FC-3C05-857E898D8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4FC46C-F10B-B45A-2990-8533990EC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96CCF-4857-623F-51E2-FC39D5C8267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704265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C9D80-8543-4B13-0595-D1A5015A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5FECC5-1EDF-AF39-8028-22A739F6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CA34A0-C3BB-1017-902B-5937A620A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48681-299F-38F6-8CBC-838A311649C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2404068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747EC-0173-D210-9E39-2588E65F2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C55EC2-09A8-DE77-EB88-DD02F4C0B4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F4F95-515A-3B48-D585-5DC408BCB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10DAF-439C-E60C-5107-8F603999AA2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7509340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F1401-6576-4278-4E95-9095EACA2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289D7D-2EB8-D88A-E511-5A9E2B510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2172B2-8F61-7569-BDB6-E1FE833CC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34206-30D8-2A65-92A0-D6D369EBC45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2989662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1651F-B727-DD43-6374-C659CCD62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F61831-0F23-53EE-E8DC-A1F819AAC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C9CFB-0EA2-E909-6B23-8300FC16C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53CC4-39C9-058E-F91D-D80C4E59982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2060693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2E5C3-9A5B-56D6-3DC4-10B94EA38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5F1FE5-2200-F236-AE0A-EE765373B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C5676-01C8-D062-DA16-6DA1B51B69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C9D64-8512-B360-1A4C-394D16D39FE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5552899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14A88-8E49-16B0-395B-AC093A74A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C98E7A-C9F0-E5A2-C636-B7DEA934F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22C83-3584-BED5-72AB-24F611683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CA25F-ABC0-9DF1-DBBD-87D5C6D623A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3060262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77398-9A47-CCBD-6E01-DE8C4D16F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D837E0-D4C7-9902-EE80-6E224B6DE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F2D8BB-75B4-E5FF-2142-AB36FAD32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B4289-B389-12D9-79AD-E6D86363045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244949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14452-C53E-6B33-6CDA-844ACCA3B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889527-A7CD-56E7-C51B-11228D7359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357FB3-D877-CD01-46B6-AAEC6C473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E0143-B199-902F-263F-79C093FB844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5768373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E3E39-2DD1-E8DD-1332-F45F73E53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C104D7-667F-B7B3-F93A-FACD88B94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478B86-D9DD-F8F6-8491-B93674988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E2841-C75F-2E64-2E64-C62D1C09126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5223265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08288-BF15-2A6F-5C3A-E702991E3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17866-B316-3588-BC53-F3BCF036E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1AFD18-5CED-BDDB-6A57-8F49A6BAC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A8323-50AE-CA65-03E6-34405DAFBE0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7596989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062BB-7993-F4A6-E663-67D44A421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B87202-80D0-1B36-91F1-0FDA54EF3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B8D6B1-38DE-0FAF-C79B-2AB7B4E8B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07127-D566-13A4-8111-B3EA7EF6FC4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4053999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E37D3-1CA4-9148-F41F-FE617FA6C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56ADD-6B3E-EE6B-FCD8-11F9C9F9E9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7F79CC-1F0C-962B-1E98-8C2F5C949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D81DA-BB24-44E6-96DB-4ABC32409D9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6385440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D89B0-02EE-0224-754A-EEE4801DD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EB4AF-85EE-0C75-7BAF-287AF7130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AE3CB-1E07-660B-BF95-3FC597DCD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F60AB-B8EE-4E82-7F3B-87F56CA3374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6886540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EA2C3-0BC9-7024-DDD7-1071AF1EB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0A572E-FF64-EF3E-D789-A750A471E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4F410-BF43-BB09-9D69-812FB022A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95C4F-20A8-50F0-A8D1-11D72721677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49746142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67130-4050-E8AA-49F5-667331B05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FE7F6D-94D6-B3EA-6432-62C3768D6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A7685C-2352-34D8-7C29-B577E0546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8CEB0-F0FF-B7AC-7FA8-0CCF883F3F5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1557322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16D92-BD50-CFB6-4A85-BA4CB5EC0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ED562-86D0-EB8F-5B4D-0E65514E8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31FC68-CAB3-1E29-EB9C-E65A90FA0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4CDC6-03B9-8BE9-E098-5D6761807D0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535962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79FEB-2735-4C4B-DCB1-6C1871FB8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7E7DE-A78D-32CF-F15E-72C28FD34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61F12D-AC21-40AB-5B5C-46BB717EF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684BA-4ABE-3042-005C-FFD3B48A9B8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2456675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5B25B-F434-90D1-667D-3D83F3577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95AD7C-5B96-8CA4-92C0-A43925A65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25C298-4E5A-E6C3-921A-A493B098A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5D973-EEC5-5AC1-5DF6-1E57481D072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7030300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702FB-B90A-074F-32B3-BA2451F0A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9B5C2D-EB07-59D7-3107-AE5C204B0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5D50C5-7D80-DEAD-678B-1945FD9B9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5DB10-B5C2-9393-F5D3-BE4D57429FC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173130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12FB1-F267-ADBB-B200-B47812185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62A4D-D3E3-5310-E16B-49B569998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156E59-5164-8528-DA7B-94522E9B0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E1DCD-53F2-063B-982F-40CAD23FC32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9158534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E18AB-F240-575F-4339-36CC56F84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6A9FD0-63D7-021F-71C8-CC807B8A5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8DC66-E21E-7178-53E0-DC3EEF575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20B58-717B-1B98-71ED-8F657EF64E6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0166429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28DD-D6C5-5C18-74D2-E58046425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26A8EF-324E-B6CC-01F7-60ABFBEDB6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0E6C7-7B02-8EFB-1F50-B4161A11B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298DE-2966-4467-DA6B-81C3E357982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755493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8B020-A7F9-AB93-6F86-7DACC0E8A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14915E-BC6A-763F-B3B2-E493D6918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E2DC9E-2BBF-4538-ACCA-352C68A6A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BAC49-2B99-3B0D-CB92-D82607C4154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2649494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970EB-3E97-7CBF-7459-0D999D4E9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624D8F-052D-2661-30B2-95379FF3E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C322DF-B461-2293-038C-D197436DD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A80D0-4CC5-CE28-795F-AB5052022C1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6838737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A9645-6D01-93DB-76E6-73342A7E9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64A9EF-B0CE-6070-CC70-86F49C07A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D117CC-5D58-590D-8E48-DB993BF00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11BC7-0571-C554-C2D2-EF091B3D4CE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7252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>
            <a:extLst>
              <a:ext uri="{FF2B5EF4-FFF2-40B4-BE49-F238E27FC236}">
                <a16:creationId xmlns:a16="http://schemas.microsoft.com/office/drawing/2014/main" id="{CB0344F9-3DC1-44EC-8304-8BF6FC9C6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21" name="Slide Number">
            <a:extLst>
              <a:ext uri="{FF2B5EF4-FFF2-40B4-BE49-F238E27FC236}">
                <a16:creationId xmlns:a16="http://schemas.microsoft.com/office/drawing/2014/main" id="{E282023F-2D01-490E-BABB-73510BB62477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>
            <a:extLst>
              <a:ext uri="{FF2B5EF4-FFF2-40B4-BE49-F238E27FC236}">
                <a16:creationId xmlns:a16="http://schemas.microsoft.com/office/drawing/2014/main" id="{EB435097-E23C-464E-A392-54F109DDF5A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29" name="Body Level One…">
            <a:extLst>
              <a:ext uri="{FF2B5EF4-FFF2-40B4-BE49-F238E27FC236}">
                <a16:creationId xmlns:a16="http://schemas.microsoft.com/office/drawing/2014/main" id="{78973C3D-5C89-4632-9BC4-21BDF7F7F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30" name="Slide Number">
            <a:extLst>
              <a:ext uri="{FF2B5EF4-FFF2-40B4-BE49-F238E27FC236}">
                <a16:creationId xmlns:a16="http://schemas.microsoft.com/office/drawing/2014/main" id="{3EFC74F6-4444-44E4-8804-3CDA22953682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>
            <a:extLst>
              <a:ext uri="{FF2B5EF4-FFF2-40B4-BE49-F238E27FC236}">
                <a16:creationId xmlns:a16="http://schemas.microsoft.com/office/drawing/2014/main" id="{4AF1DEA1-38BB-4E94-81B7-6AD2EF16835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38" name="Slide Number">
            <a:extLst>
              <a:ext uri="{FF2B5EF4-FFF2-40B4-BE49-F238E27FC236}">
                <a16:creationId xmlns:a16="http://schemas.microsoft.com/office/drawing/2014/main" id="{7E957236-5560-4F10-9792-5C68FB99D2A2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">
            <a:extLst>
              <a:ext uri="{FF2B5EF4-FFF2-40B4-BE49-F238E27FC236}">
                <a16:creationId xmlns:a16="http://schemas.microsoft.com/office/drawing/2014/main" id="{4FF5FEFA-8F50-4C92-B3DC-A1E85A093EBB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Image">
            <a:extLst>
              <a:ext uri="{FF2B5EF4-FFF2-40B4-BE49-F238E27FC236}">
                <a16:creationId xmlns:a16="http://schemas.microsoft.com/office/drawing/2014/main" id="{5D239579-D984-4D4F-802F-458414EA83A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2919231" y="845025"/>
            <a:ext cx="18542001" cy="920750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3" name="Title Text">
            <a:extLst>
              <a:ext uri="{FF2B5EF4-FFF2-40B4-BE49-F238E27FC236}">
                <a16:creationId xmlns:a16="http://schemas.microsoft.com/office/drawing/2014/main" id="{8E319E0D-8727-46BC-A253-A18DF8AB3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0541950"/>
            <a:ext cx="23114000" cy="2006601"/>
          </a:xfrm>
          <a:prstGeom prst="rect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54" name="Slide Number">
            <a:extLst>
              <a:ext uri="{FF2B5EF4-FFF2-40B4-BE49-F238E27FC236}">
                <a16:creationId xmlns:a16="http://schemas.microsoft.com/office/drawing/2014/main" id="{D6DECC11-BB06-4BB5-A693-304A95636F42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Image">
            <a:extLst>
              <a:ext uri="{FF2B5EF4-FFF2-40B4-BE49-F238E27FC236}">
                <a16:creationId xmlns:a16="http://schemas.microsoft.com/office/drawing/2014/main" id="{3B0E409C-F564-402D-B182-6478E4917DC2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8016875" y="-63500"/>
            <a:ext cx="19831050" cy="132207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" name="Title Text">
            <a:extLst>
              <a:ext uri="{FF2B5EF4-FFF2-40B4-BE49-F238E27FC236}">
                <a16:creationId xmlns:a16="http://schemas.microsoft.com/office/drawing/2014/main" id="{36C6C490-CFAD-454C-ADAB-57B44536A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sz="8400"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63" name="Body Level One…">
            <a:extLst>
              <a:ext uri="{FF2B5EF4-FFF2-40B4-BE49-F238E27FC236}">
                <a16:creationId xmlns:a16="http://schemas.microsoft.com/office/drawing/2014/main" id="{1C2FEDC4-A2F1-4DDB-AAD9-EC9974BDB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64" name="Slide Number">
            <a:extLst>
              <a:ext uri="{FF2B5EF4-FFF2-40B4-BE49-F238E27FC236}">
                <a16:creationId xmlns:a16="http://schemas.microsoft.com/office/drawing/2014/main" id="{7410AF4D-2BE6-44C8-A71B-7E7A49DE0CC9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Image">
            <a:extLst>
              <a:ext uri="{FF2B5EF4-FFF2-40B4-BE49-F238E27FC236}">
                <a16:creationId xmlns:a16="http://schemas.microsoft.com/office/drawing/2014/main" id="{56A22250-1327-4F53-BC45-E7E147B97CBB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9972675" y="2125132"/>
            <a:ext cx="16402050" cy="109347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2" name="Title Text">
            <a:extLst>
              <a:ext uri="{FF2B5EF4-FFF2-40B4-BE49-F238E27FC236}">
                <a16:creationId xmlns:a16="http://schemas.microsoft.com/office/drawing/2014/main" id="{E9BF234F-6E6F-4122-BA11-E8589235CAC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73" name="Body Level One…">
            <a:extLst>
              <a:ext uri="{FF2B5EF4-FFF2-40B4-BE49-F238E27FC236}">
                <a16:creationId xmlns:a16="http://schemas.microsoft.com/office/drawing/2014/main" id="{EE5CF470-0D4C-4F14-8779-D4A5B81BA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buNone/>
              <a:defRPr/>
            </a:lvl1pPr>
            <a:lvl2pPr marL="1117600" indent="-558800">
              <a:buNone/>
              <a:defRPr/>
            </a:lvl2pPr>
            <a:lvl3pPr marL="1676400" indent="-558800">
              <a:buNone/>
              <a:defRPr/>
            </a:lvl3pPr>
            <a:lvl4pPr marL="2235200" indent="-558800">
              <a:buNone/>
              <a:defRPr/>
            </a:lvl4pPr>
            <a:lvl5pPr marL="2794000" indent="-558800">
              <a:buNone/>
              <a:defRPr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74" name="Slide Number">
            <a:extLst>
              <a:ext uri="{FF2B5EF4-FFF2-40B4-BE49-F238E27FC236}">
                <a16:creationId xmlns:a16="http://schemas.microsoft.com/office/drawing/2014/main" id="{D03FE709-2642-482F-8F0E-AC8DB87E3330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ody Level One…">
            <a:extLst>
              <a:ext uri="{FF2B5EF4-FFF2-40B4-BE49-F238E27FC236}">
                <a16:creationId xmlns:a16="http://schemas.microsoft.com/office/drawing/2014/main" id="{020B126E-15B7-4332-BC2D-8DE03494F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82" name="Slide Number">
            <a:extLst>
              <a:ext uri="{FF2B5EF4-FFF2-40B4-BE49-F238E27FC236}">
                <a16:creationId xmlns:a16="http://schemas.microsoft.com/office/drawing/2014/main" id="{CB1EF5B5-CC3A-4717-9E4B-68B05273D059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Image">
            <a:extLst>
              <a:ext uri="{FF2B5EF4-FFF2-40B4-BE49-F238E27FC236}">
                <a16:creationId xmlns:a16="http://schemas.microsoft.com/office/drawing/2014/main" id="{E6C6BA5B-CC54-4F67-81F8-82635F96436D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15290800" y="6870700"/>
            <a:ext cx="8343900" cy="5562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0" name="Image">
            <a:extLst>
              <a:ext uri="{FF2B5EF4-FFF2-40B4-BE49-F238E27FC236}">
                <a16:creationId xmlns:a16="http://schemas.microsoft.com/office/drawing/2014/main" id="{3F53BA84-250B-40F6-A488-A0F08C2CA289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15316200" y="952500"/>
            <a:ext cx="8305800" cy="5537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1" name="Image">
            <a:extLst>
              <a:ext uri="{FF2B5EF4-FFF2-40B4-BE49-F238E27FC236}">
                <a16:creationId xmlns:a16="http://schemas.microsoft.com/office/drawing/2014/main" id="{CB3DD4AB-31A3-4C6F-907C-18C1ED010C28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-1739900" y="-258233"/>
            <a:ext cx="20065999" cy="1337733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2" name="Slide Number">
            <a:extLst>
              <a:ext uri="{FF2B5EF4-FFF2-40B4-BE49-F238E27FC236}">
                <a16:creationId xmlns:a16="http://schemas.microsoft.com/office/drawing/2014/main" id="{CC8AA0CA-8F52-41DE-A56A-0FA586249A3A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–Johnny Appleseed">
            <a:extLst>
              <a:ext uri="{FF2B5EF4-FFF2-40B4-BE49-F238E27FC236}">
                <a16:creationId xmlns:a16="http://schemas.microsoft.com/office/drawing/2014/main" id="{74163B63-26A6-42A0-B29E-D8CE629E4276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2387600" y="8953500"/>
            <a:ext cx="19621500" cy="5842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pPr>
              <a:buNone/>
            </a:pPr>
            <a:r>
              <a:t>–Johnny Appleseed</a:t>
            </a:r>
          </a:p>
        </p:txBody>
      </p:sp>
      <p:sp>
        <p:nvSpPr>
          <p:cNvPr id="100" name="“Type a quote here.”">
            <a:extLst>
              <a:ext uri="{FF2B5EF4-FFF2-40B4-BE49-F238E27FC236}">
                <a16:creationId xmlns:a16="http://schemas.microsoft.com/office/drawing/2014/main" id="{49ACB135-4DC7-4F7C-940C-DF2DE0BC9695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2387600" y="6070599"/>
            <a:ext cx="19621500" cy="8382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/>
            </a:lvl1pPr>
          </a:lstStyle>
          <a:p>
            <a:pPr>
              <a:buNone/>
            </a:pPr>
            <a:r>
              <a:t>“Type a quote here.” </a:t>
            </a:r>
          </a:p>
        </p:txBody>
      </p:sp>
      <p:sp>
        <p:nvSpPr>
          <p:cNvPr id="101" name="Slide Number">
            <a:extLst>
              <a:ext uri="{FF2B5EF4-FFF2-40B4-BE49-F238E27FC236}">
                <a16:creationId xmlns:a16="http://schemas.microsoft.com/office/drawing/2014/main" id="{913D4615-68CD-4E74-9D27-C831CDD06677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Image">
            <a:extLst>
              <a:ext uri="{FF2B5EF4-FFF2-40B4-BE49-F238E27FC236}">
                <a16:creationId xmlns:a16="http://schemas.microsoft.com/office/drawing/2014/main" id="{BE272B15-44E1-43AB-B314-B505DB4EE54B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-1291579"/>
            <a:ext cx="29260800" cy="195072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09" name="Slide Number">
            <a:extLst>
              <a:ext uri="{FF2B5EF4-FFF2-40B4-BE49-F238E27FC236}">
                <a16:creationId xmlns:a16="http://schemas.microsoft.com/office/drawing/2014/main" id="{ADA245B7-7427-4485-9E29-3B909AC4FD0C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 Text">
            <a:extLst>
              <a:ext uri="{FF2B5EF4-FFF2-40B4-BE49-F238E27FC236}">
                <a16:creationId xmlns:a16="http://schemas.microsoft.com/office/drawing/2014/main" id="{383CFA3E-A2CA-4B54-9F38-44215F5BFAB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>
              <a:buNone/>
              <a:defRPr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117" name="Body Level One…">
            <a:extLst>
              <a:ext uri="{FF2B5EF4-FFF2-40B4-BE49-F238E27FC236}">
                <a16:creationId xmlns:a16="http://schemas.microsoft.com/office/drawing/2014/main" id="{4D758453-4889-462C-A73A-60908C60F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1pPr>
            <a:lvl2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2pPr>
            <a:lvl3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3pPr>
            <a:lvl4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4pPr>
            <a:lvl5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118" name="Slide Number">
            <a:extLst>
              <a:ext uri="{FF2B5EF4-FFF2-40B4-BE49-F238E27FC236}">
                <a16:creationId xmlns:a16="http://schemas.microsoft.com/office/drawing/2014/main" id="{3C3A51C8-EC88-4C42-8E1E-1B832F6D9C5C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>
            <a:extLst>
              <a:ext uri="{FF2B5EF4-FFF2-40B4-BE49-F238E27FC236}">
                <a16:creationId xmlns:a16="http://schemas.microsoft.com/office/drawing/2014/main" id="{9818C003-9D95-4CD5-9FB3-7803837BF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3" name="Body Level One…">
            <a:extLst>
              <a:ext uri="{FF2B5EF4-FFF2-40B4-BE49-F238E27FC236}">
                <a16:creationId xmlns:a16="http://schemas.microsoft.com/office/drawing/2014/main" id="{2235614D-E36E-47A7-8A30-A15ECECCB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2pPr marL="1270000" indent="-635000">
              <a:buNone/>
              <a:defRPr/>
            </a:lvl2pPr>
            <a:lvl3pPr marL="1905000" indent="-635000">
              <a:buNone/>
              <a:defRPr/>
            </a:lvl3pPr>
            <a:lvl4pPr marL="2540000" indent="-635000">
              <a:buNone/>
              <a:defRPr/>
            </a:lvl4pPr>
            <a:lvl5pPr marL="3175000" indent="-635000">
              <a:buNone/>
              <a:defRPr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4FCAAD1-41DB-475F-983B-6F9A3FEF0E73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xfrm>
            <a:off x="11959031" y="13081000"/>
            <a:ext cx="453238" cy="461366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>
            <a:lvl1pPr>
              <a:buNone/>
              <a:defRPr sz="2400" b="0"/>
            </a:lvl1pPr>
          </a:lstStyle>
          <a:p>
            <a:pPr>
              <a:buNone/>
            </a:pPr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1pPr>
      <a:lvl2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2pPr>
      <a:lvl3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3pPr>
      <a:lvl4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4pPr>
      <a:lvl5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5pPr>
      <a:lvl6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6pPr>
      <a:lvl7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7pPr>
      <a:lvl8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8pPr>
      <a:lvl9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9pPr>
    </p:titleStyle>
    <p:bodyStyle>
      <a:lvl1pPr marL="635000" marR="0" indent="-63500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1pPr>
      <a:lvl2pPr marL="142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2pPr>
      <a:lvl3pPr marL="206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3pPr>
      <a:lvl4pPr marL="269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4pPr>
      <a:lvl5pPr marL="333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5pPr>
      <a:lvl6pPr marL="396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6pPr>
      <a:lvl7pPr marL="460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7pPr>
      <a:lvl8pPr marL="523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8pPr>
      <a:lvl9pPr marL="587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9pPr>
    </p:bodyStyle>
    <p:otherStyle>
      <a:lvl1pPr marL="0" marR="0" indent="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marL="0" marR="0" indent="2286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marL="0" marR="0" indent="4572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marL="0" marR="0" indent="6858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marL="0" marR="0" indent="9144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marL="0" marR="0" indent="11430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marL="0" marR="0" indent="13716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marL="0" marR="0" indent="16002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marL="0" marR="0" indent="18288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1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1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Knowledge">
            <a:extLst>
              <a:ext uri="{FF2B5EF4-FFF2-40B4-BE49-F238E27FC236}">
                <a16:creationId xmlns:a16="http://schemas.microsoft.com/office/drawing/2014/main" id="{CB32892A-6255-4115-8295-B8393157832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Conhecimento</a:t>
            </a:r>
          </a:p>
        </p:txBody>
      </p:sp>
    </p:spTree>
    <p:extLst>
      <p:ext uri="{BB962C8B-B14F-4D97-AF65-F5344CB8AC3E}">
        <p14:creationId xmlns:p14="http://schemas.microsoft.com/office/powerpoint/2010/main" val="421175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knowledge-based agents">
            <a:extLst>
              <a:ext uri="{FF2B5EF4-FFF2-40B4-BE49-F238E27FC236}">
                <a16:creationId xmlns:a16="http://schemas.microsoft.com/office/drawing/2014/main" id="{2A2057C1-8203-4E6F-9870-13EEB892D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>
              <a:buNone/>
              <a:defRPr/>
            </a:lvl1pPr>
          </a:lstStyle>
          <a:p>
            <a:pPr>
              <a:buNone/>
            </a:pPr>
            <a:r>
              <a:rPr dirty="0" err="1"/>
              <a:t>agentes</a:t>
            </a:r>
            <a:r>
              <a:rPr dirty="0"/>
              <a:t> </a:t>
            </a:r>
            <a:r>
              <a:rPr dirty="0" err="1"/>
              <a:t>baseados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conhecimento</a:t>
            </a:r>
            <a:endParaRPr dirty="0"/>
          </a:p>
        </p:txBody>
      </p:sp>
      <p:sp>
        <p:nvSpPr>
          <p:cNvPr id="132" name="agents that reason by operating on…">
            <a:extLst>
              <a:ext uri="{FF2B5EF4-FFF2-40B4-BE49-F238E27FC236}">
                <a16:creationId xmlns:a16="http://schemas.microsoft.com/office/drawing/2014/main" id="{BAA2B1F5-6B81-4958-B431-7C11B2DBD6F7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16668262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 fontScale="92500"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endParaRPr lang="en-US" dirty="0"/>
          </a:p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rPr lang="en-US" dirty="0" err="1"/>
              <a:t>a</a:t>
            </a:r>
            <a:r>
              <a:rPr dirty="0" err="1"/>
              <a:t>gentes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lang="en-BR" dirty="0"/>
              <a:t>"</a:t>
            </a:r>
            <a:r>
              <a:rPr dirty="0" err="1"/>
              <a:t>raciocinam</a:t>
            </a:r>
            <a:r>
              <a:rPr lang="en-BR" dirty="0"/>
              <a:t>"</a:t>
            </a:r>
            <a:r>
              <a:rPr dirty="0"/>
              <a:t> </a:t>
            </a:r>
            <a:r>
              <a:rPr lang="pt-BR" dirty="0"/>
              <a:t>e agem com base</a:t>
            </a:r>
            <a:r>
              <a:rPr dirty="0"/>
              <a:t> </a:t>
            </a:r>
            <a:r>
              <a:rPr lang="pt-BR" dirty="0"/>
              <a:t>em </a:t>
            </a:r>
            <a:r>
              <a:rPr dirty="0" err="1"/>
              <a:t>representações</a:t>
            </a:r>
            <a:r>
              <a:rPr dirty="0"/>
              <a:t> d</a:t>
            </a:r>
            <a:r>
              <a:rPr lang="pt-BR" dirty="0"/>
              <a:t>e </a:t>
            </a:r>
            <a:r>
              <a:rPr dirty="0" err="1"/>
              <a:t>conhecimento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9636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If it didn't rain, Harry visited Hagrid today.">
            <a:extLst>
              <a:ext uri="{FF2B5EF4-FFF2-40B4-BE49-F238E27FC236}">
                <a16:creationId xmlns:a16="http://schemas.microsoft.com/office/drawing/2014/main" id="{742870CD-2EE4-4802-809D-CB47CC65F05B}"/>
              </a:ext>
            </a:extLst>
          </p:cNvPr>
          <p:cNvSpPr>
            <a:spLocks noGrp="1"/>
          </p:cNvSpPr>
          <p:nvPr/>
        </p:nvSpPr>
        <p:spPr>
          <a:xfrm>
            <a:off x="1258756" y="2085489"/>
            <a:ext cx="14344889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Se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chove</a:t>
            </a:r>
            <a:r>
              <a:rPr lang="pt-BR" dirty="0" err="1"/>
              <a:t>r</a:t>
            </a:r>
            <a:r>
              <a:rPr dirty="0"/>
              <a:t>, Harry </a:t>
            </a:r>
            <a:r>
              <a:rPr lang="pt-BR" dirty="0"/>
              <a:t>visitará</a:t>
            </a:r>
            <a:r>
              <a:rPr dirty="0"/>
              <a:t> Hagrid </a:t>
            </a:r>
            <a:r>
              <a:rPr dirty="0" err="1"/>
              <a:t>hoje</a:t>
            </a:r>
            <a:r>
              <a:rPr dirty="0"/>
              <a:t>.</a:t>
            </a:r>
          </a:p>
        </p:txBody>
      </p:sp>
      <p:sp>
        <p:nvSpPr>
          <p:cNvPr id="135" name="Harry visited Hagrid or Dumbledore today, but not both.">
            <a:extLst>
              <a:ext uri="{FF2B5EF4-FFF2-40B4-BE49-F238E27FC236}">
                <a16:creationId xmlns:a16="http://schemas.microsoft.com/office/drawing/2014/main" id="{DAA176E4-D987-4BEA-88F9-6739BBF09E6B}"/>
              </a:ext>
            </a:extLst>
          </p:cNvPr>
          <p:cNvSpPr>
            <a:spLocks noGrp="1"/>
          </p:cNvSpPr>
          <p:nvPr/>
        </p:nvSpPr>
        <p:spPr>
          <a:xfrm>
            <a:off x="1258756" y="3878587"/>
            <a:ext cx="18736420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Harry </a:t>
            </a:r>
            <a:r>
              <a:rPr dirty="0" err="1"/>
              <a:t>visitou</a:t>
            </a:r>
            <a:r>
              <a:rPr dirty="0"/>
              <a:t> Hagrid </a:t>
            </a:r>
            <a:r>
              <a:rPr dirty="0" err="1"/>
              <a:t>ou</a:t>
            </a:r>
            <a:r>
              <a:rPr dirty="0"/>
              <a:t> Dumbledore </a:t>
            </a:r>
            <a:r>
              <a:rPr dirty="0" err="1"/>
              <a:t>hoje</a:t>
            </a:r>
            <a:r>
              <a:rPr dirty="0"/>
              <a:t>, mas </a:t>
            </a:r>
            <a:r>
              <a:rPr dirty="0" err="1"/>
              <a:t>não</a:t>
            </a:r>
            <a:r>
              <a:rPr dirty="0"/>
              <a:t> ambos.</a:t>
            </a:r>
          </a:p>
        </p:txBody>
      </p:sp>
      <p:sp>
        <p:nvSpPr>
          <p:cNvPr id="136" name="Harry visited Dumbledore today.">
            <a:extLst>
              <a:ext uri="{FF2B5EF4-FFF2-40B4-BE49-F238E27FC236}">
                <a16:creationId xmlns:a16="http://schemas.microsoft.com/office/drawing/2014/main" id="{BA2A870D-3336-471E-8E61-12DB9ED38481}"/>
              </a:ext>
            </a:extLst>
          </p:cNvPr>
          <p:cNvSpPr>
            <a:spLocks noGrp="1"/>
          </p:cNvSpPr>
          <p:nvPr/>
        </p:nvSpPr>
        <p:spPr>
          <a:xfrm>
            <a:off x="1258756" y="5754653"/>
            <a:ext cx="10942292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Harry </a:t>
            </a:r>
            <a:r>
              <a:rPr dirty="0" err="1"/>
              <a:t>visitou</a:t>
            </a:r>
            <a:r>
              <a:rPr dirty="0"/>
              <a:t> Dumbledore </a:t>
            </a:r>
            <a:r>
              <a:rPr dirty="0" err="1"/>
              <a:t>hoje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5347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7B678-2DD2-2324-AF7F-1C19F07F2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rry did not visit Hagrid today.">
            <a:extLst>
              <a:ext uri="{FF2B5EF4-FFF2-40B4-BE49-F238E27FC236}">
                <a16:creationId xmlns:a16="http://schemas.microsoft.com/office/drawing/2014/main" id="{CB0EE1FD-5137-E164-B4BF-E8B03397C6D8}"/>
              </a:ext>
            </a:extLst>
          </p:cNvPr>
          <p:cNvSpPr>
            <a:spLocks noGrp="1"/>
          </p:cNvSpPr>
          <p:nvPr/>
        </p:nvSpPr>
        <p:spPr>
          <a:xfrm>
            <a:off x="1258756" y="8821522"/>
            <a:ext cx="1023998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>
                <a:solidFill>
                  <a:schemeClr val="accent4"/>
                </a:solidFill>
              </a:rPr>
              <a:t>Harry </a:t>
            </a:r>
            <a:r>
              <a:rPr dirty="0" err="1">
                <a:solidFill>
                  <a:schemeClr val="accent4"/>
                </a:solidFill>
              </a:rPr>
              <a:t>não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visitou</a:t>
            </a:r>
            <a:r>
              <a:rPr dirty="0">
                <a:solidFill>
                  <a:schemeClr val="accent4"/>
                </a:solidFill>
              </a:rPr>
              <a:t> Hagrid </a:t>
            </a:r>
            <a:r>
              <a:rPr dirty="0" err="1">
                <a:solidFill>
                  <a:schemeClr val="accent4"/>
                </a:solidFill>
              </a:rPr>
              <a:t>hoje</a:t>
            </a:r>
            <a:r>
              <a:rPr dirty="0">
                <a:solidFill>
                  <a:schemeClr val="accent4"/>
                </a:solidFill>
              </a:rPr>
              <a:t>.</a:t>
            </a:r>
          </a:p>
        </p:txBody>
      </p:sp>
      <p:sp>
        <p:nvSpPr>
          <p:cNvPr id="3" name="If it didn't rain, Harry visited Hagrid today.">
            <a:extLst>
              <a:ext uri="{FF2B5EF4-FFF2-40B4-BE49-F238E27FC236}">
                <a16:creationId xmlns:a16="http://schemas.microsoft.com/office/drawing/2014/main" id="{DBF83BC7-AFC1-B521-30B4-2B1B3B2AE0E5}"/>
              </a:ext>
            </a:extLst>
          </p:cNvPr>
          <p:cNvSpPr>
            <a:spLocks noGrp="1"/>
          </p:cNvSpPr>
          <p:nvPr/>
        </p:nvSpPr>
        <p:spPr>
          <a:xfrm>
            <a:off x="1258756" y="2085489"/>
            <a:ext cx="14344889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Se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chove</a:t>
            </a:r>
            <a:r>
              <a:rPr lang="pt-BR" dirty="0" err="1"/>
              <a:t>r</a:t>
            </a:r>
            <a:r>
              <a:rPr dirty="0"/>
              <a:t>, Harry </a:t>
            </a:r>
            <a:r>
              <a:rPr lang="pt-BR" dirty="0"/>
              <a:t>visitará</a:t>
            </a:r>
            <a:r>
              <a:rPr dirty="0"/>
              <a:t> Hagrid </a:t>
            </a:r>
            <a:r>
              <a:rPr dirty="0" err="1"/>
              <a:t>hoje</a:t>
            </a:r>
            <a:r>
              <a:rPr dirty="0"/>
              <a:t>.</a:t>
            </a:r>
          </a:p>
        </p:txBody>
      </p:sp>
      <p:sp>
        <p:nvSpPr>
          <p:cNvPr id="4" name="Harry visited Hagrid or Dumbledore today, but not both.">
            <a:extLst>
              <a:ext uri="{FF2B5EF4-FFF2-40B4-BE49-F238E27FC236}">
                <a16:creationId xmlns:a16="http://schemas.microsoft.com/office/drawing/2014/main" id="{3B3A88B7-FA0D-A306-35CB-B32590D0794E}"/>
              </a:ext>
            </a:extLst>
          </p:cNvPr>
          <p:cNvSpPr>
            <a:spLocks noGrp="1"/>
          </p:cNvSpPr>
          <p:nvPr/>
        </p:nvSpPr>
        <p:spPr>
          <a:xfrm>
            <a:off x="1258756" y="3878587"/>
            <a:ext cx="18736420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Harry </a:t>
            </a:r>
            <a:r>
              <a:rPr dirty="0" err="1"/>
              <a:t>visitou</a:t>
            </a:r>
            <a:r>
              <a:rPr dirty="0"/>
              <a:t> Hagrid </a:t>
            </a:r>
            <a:r>
              <a:rPr dirty="0" err="1"/>
              <a:t>ou</a:t>
            </a:r>
            <a:r>
              <a:rPr dirty="0"/>
              <a:t> Dumbledore </a:t>
            </a:r>
            <a:r>
              <a:rPr dirty="0" err="1"/>
              <a:t>hoje</a:t>
            </a:r>
            <a:r>
              <a:rPr dirty="0"/>
              <a:t>, mas </a:t>
            </a:r>
            <a:r>
              <a:rPr dirty="0" err="1"/>
              <a:t>não</a:t>
            </a:r>
            <a:r>
              <a:rPr dirty="0"/>
              <a:t> ambos.</a:t>
            </a:r>
          </a:p>
        </p:txBody>
      </p:sp>
      <p:sp>
        <p:nvSpPr>
          <p:cNvPr id="5" name="Harry visited Dumbledore today.">
            <a:extLst>
              <a:ext uri="{FF2B5EF4-FFF2-40B4-BE49-F238E27FC236}">
                <a16:creationId xmlns:a16="http://schemas.microsoft.com/office/drawing/2014/main" id="{44C701F8-55E1-7DFB-3298-196D4D694D8B}"/>
              </a:ext>
            </a:extLst>
          </p:cNvPr>
          <p:cNvSpPr>
            <a:spLocks noGrp="1"/>
          </p:cNvSpPr>
          <p:nvPr/>
        </p:nvSpPr>
        <p:spPr>
          <a:xfrm>
            <a:off x="1258756" y="5754653"/>
            <a:ext cx="10942292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Harry </a:t>
            </a:r>
            <a:r>
              <a:rPr dirty="0" err="1"/>
              <a:t>visitou</a:t>
            </a:r>
            <a:r>
              <a:rPr dirty="0"/>
              <a:t> Dumbledore </a:t>
            </a:r>
            <a:r>
              <a:rPr dirty="0" err="1"/>
              <a:t>hoje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9588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ED5A0-6781-7471-A6D3-B5756E343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rry did not visit Hagrid today.">
            <a:extLst>
              <a:ext uri="{FF2B5EF4-FFF2-40B4-BE49-F238E27FC236}">
                <a16:creationId xmlns:a16="http://schemas.microsoft.com/office/drawing/2014/main" id="{8C2AD069-06FA-1F86-19CB-43B46A7EE37A}"/>
              </a:ext>
            </a:extLst>
          </p:cNvPr>
          <p:cNvSpPr>
            <a:spLocks noGrp="1"/>
          </p:cNvSpPr>
          <p:nvPr/>
        </p:nvSpPr>
        <p:spPr>
          <a:xfrm>
            <a:off x="1258756" y="8821522"/>
            <a:ext cx="1023998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>
                <a:solidFill>
                  <a:schemeClr val="accent4"/>
                </a:solidFill>
              </a:rPr>
              <a:t>Harry </a:t>
            </a:r>
            <a:r>
              <a:rPr dirty="0" err="1">
                <a:solidFill>
                  <a:schemeClr val="accent4"/>
                </a:solidFill>
              </a:rPr>
              <a:t>não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visitou</a:t>
            </a:r>
            <a:r>
              <a:rPr dirty="0">
                <a:solidFill>
                  <a:schemeClr val="accent4"/>
                </a:solidFill>
              </a:rPr>
              <a:t> Hagrid </a:t>
            </a:r>
            <a:r>
              <a:rPr dirty="0" err="1">
                <a:solidFill>
                  <a:schemeClr val="accent4"/>
                </a:solidFill>
              </a:rPr>
              <a:t>hoje</a:t>
            </a:r>
            <a:r>
              <a:rPr dirty="0">
                <a:solidFill>
                  <a:schemeClr val="accent4"/>
                </a:solidFill>
              </a:rPr>
              <a:t>.</a:t>
            </a:r>
          </a:p>
        </p:txBody>
      </p:sp>
      <p:sp>
        <p:nvSpPr>
          <p:cNvPr id="3" name="It rained today.">
            <a:extLst>
              <a:ext uri="{FF2B5EF4-FFF2-40B4-BE49-F238E27FC236}">
                <a16:creationId xmlns:a16="http://schemas.microsoft.com/office/drawing/2014/main" id="{099DBDAC-E182-C55D-3DC3-75CD2630B0F6}"/>
              </a:ext>
            </a:extLst>
          </p:cNvPr>
          <p:cNvSpPr>
            <a:spLocks noGrp="1"/>
          </p:cNvSpPr>
          <p:nvPr/>
        </p:nvSpPr>
        <p:spPr>
          <a:xfrm>
            <a:off x="1258756" y="10521744"/>
            <a:ext cx="459420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lang="pt-BR" dirty="0">
                <a:solidFill>
                  <a:schemeClr val="accent4"/>
                </a:solidFill>
              </a:rPr>
              <a:t>Hoje choveu</a:t>
            </a:r>
            <a:r>
              <a:rPr dirty="0">
                <a:solidFill>
                  <a:schemeClr val="accent4"/>
                </a:solidFill>
              </a:rPr>
              <a:t>.</a:t>
            </a:r>
          </a:p>
        </p:txBody>
      </p:sp>
      <p:sp>
        <p:nvSpPr>
          <p:cNvPr id="4" name="If it didn't rain, Harry visited Hagrid today.">
            <a:extLst>
              <a:ext uri="{FF2B5EF4-FFF2-40B4-BE49-F238E27FC236}">
                <a16:creationId xmlns:a16="http://schemas.microsoft.com/office/drawing/2014/main" id="{E5737E15-0EFD-05BF-D361-C425E9029AA6}"/>
              </a:ext>
            </a:extLst>
          </p:cNvPr>
          <p:cNvSpPr>
            <a:spLocks noGrp="1"/>
          </p:cNvSpPr>
          <p:nvPr/>
        </p:nvSpPr>
        <p:spPr>
          <a:xfrm>
            <a:off x="1258756" y="2085489"/>
            <a:ext cx="14344889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Se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chove</a:t>
            </a:r>
            <a:r>
              <a:rPr lang="pt-BR" dirty="0" err="1"/>
              <a:t>r</a:t>
            </a:r>
            <a:r>
              <a:rPr dirty="0"/>
              <a:t>, Harry </a:t>
            </a:r>
            <a:r>
              <a:rPr lang="pt-BR" dirty="0"/>
              <a:t>visitará</a:t>
            </a:r>
            <a:r>
              <a:rPr dirty="0"/>
              <a:t> Hagrid </a:t>
            </a:r>
            <a:r>
              <a:rPr dirty="0" err="1"/>
              <a:t>hoje</a:t>
            </a:r>
            <a:r>
              <a:rPr dirty="0"/>
              <a:t>.</a:t>
            </a:r>
          </a:p>
        </p:txBody>
      </p:sp>
      <p:sp>
        <p:nvSpPr>
          <p:cNvPr id="5" name="Harry visited Hagrid or Dumbledore today, but not both.">
            <a:extLst>
              <a:ext uri="{FF2B5EF4-FFF2-40B4-BE49-F238E27FC236}">
                <a16:creationId xmlns:a16="http://schemas.microsoft.com/office/drawing/2014/main" id="{C2551964-F5B8-9223-32EB-EDDEC96BD9B2}"/>
              </a:ext>
            </a:extLst>
          </p:cNvPr>
          <p:cNvSpPr>
            <a:spLocks noGrp="1"/>
          </p:cNvSpPr>
          <p:nvPr/>
        </p:nvSpPr>
        <p:spPr>
          <a:xfrm>
            <a:off x="1258756" y="3878587"/>
            <a:ext cx="18736420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Harry </a:t>
            </a:r>
            <a:r>
              <a:rPr dirty="0" err="1"/>
              <a:t>visitou</a:t>
            </a:r>
            <a:r>
              <a:rPr dirty="0"/>
              <a:t> Hagrid </a:t>
            </a:r>
            <a:r>
              <a:rPr dirty="0" err="1"/>
              <a:t>ou</a:t>
            </a:r>
            <a:r>
              <a:rPr dirty="0"/>
              <a:t> Dumbledore </a:t>
            </a:r>
            <a:r>
              <a:rPr dirty="0" err="1"/>
              <a:t>hoje</a:t>
            </a:r>
            <a:r>
              <a:rPr dirty="0"/>
              <a:t>, mas </a:t>
            </a:r>
            <a:r>
              <a:rPr dirty="0" err="1"/>
              <a:t>não</a:t>
            </a:r>
            <a:r>
              <a:rPr dirty="0"/>
              <a:t> ambos.</a:t>
            </a:r>
          </a:p>
        </p:txBody>
      </p:sp>
      <p:sp>
        <p:nvSpPr>
          <p:cNvPr id="6" name="Harry visited Dumbledore today.">
            <a:extLst>
              <a:ext uri="{FF2B5EF4-FFF2-40B4-BE49-F238E27FC236}">
                <a16:creationId xmlns:a16="http://schemas.microsoft.com/office/drawing/2014/main" id="{2CB638B1-D607-9F4B-E682-C88071CEB857}"/>
              </a:ext>
            </a:extLst>
          </p:cNvPr>
          <p:cNvSpPr>
            <a:spLocks noGrp="1"/>
          </p:cNvSpPr>
          <p:nvPr/>
        </p:nvSpPr>
        <p:spPr>
          <a:xfrm>
            <a:off x="1258756" y="5754653"/>
            <a:ext cx="10942292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Harry </a:t>
            </a:r>
            <a:r>
              <a:rPr dirty="0" err="1"/>
              <a:t>visitou</a:t>
            </a:r>
            <a:r>
              <a:rPr dirty="0"/>
              <a:t> Dumbledore </a:t>
            </a:r>
            <a:r>
              <a:rPr dirty="0" err="1"/>
              <a:t>hoje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5070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Logic">
            <a:extLst>
              <a:ext uri="{FF2B5EF4-FFF2-40B4-BE49-F238E27FC236}">
                <a16:creationId xmlns:a16="http://schemas.microsoft.com/office/drawing/2014/main" id="{A19E7EFA-AFF5-4921-A94B-4844E800DFE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Lógica</a:t>
            </a:r>
          </a:p>
        </p:txBody>
      </p:sp>
    </p:spTree>
    <p:extLst>
      <p:ext uri="{BB962C8B-B14F-4D97-AF65-F5344CB8AC3E}">
        <p14:creationId xmlns:p14="http://schemas.microsoft.com/office/powerpoint/2010/main" val="1871974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ropositional Logic">
            <a:extLst>
              <a:ext uri="{FF2B5EF4-FFF2-40B4-BE49-F238E27FC236}">
                <a16:creationId xmlns:a16="http://schemas.microsoft.com/office/drawing/2014/main" id="{875524CB-ECF8-41E0-B264-CC4926C0C39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Lógica Proposicional</a:t>
            </a:r>
          </a:p>
        </p:txBody>
      </p:sp>
    </p:spTree>
    <p:extLst>
      <p:ext uri="{BB962C8B-B14F-4D97-AF65-F5344CB8AC3E}">
        <p14:creationId xmlns:p14="http://schemas.microsoft.com/office/powerpoint/2010/main" val="219130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entence">
            <a:extLst>
              <a:ext uri="{FF2B5EF4-FFF2-40B4-BE49-F238E27FC236}">
                <a16:creationId xmlns:a16="http://schemas.microsoft.com/office/drawing/2014/main" id="{3BC58778-17E2-47BB-9150-71FC535E4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rPr dirty="0" err="1"/>
              <a:t>sentença</a:t>
            </a:r>
            <a:endParaRPr dirty="0"/>
          </a:p>
        </p:txBody>
      </p:sp>
      <p:sp>
        <p:nvSpPr>
          <p:cNvPr id="143" name="an assertion about the world…">
            <a:extLst>
              <a:ext uri="{FF2B5EF4-FFF2-40B4-BE49-F238E27FC236}">
                <a16:creationId xmlns:a16="http://schemas.microsoft.com/office/drawing/2014/main" id="{3AB54319-B305-46F1-AA15-4ED7A803B23E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afirmação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o </a:t>
            </a:r>
            <a:r>
              <a:rPr dirty="0" err="1"/>
              <a:t>mundo</a:t>
            </a:r>
            <a:r>
              <a:rPr lang="pt-BR" dirty="0"/>
              <a:t> e</a:t>
            </a:r>
            <a:r>
              <a:rPr dirty="0"/>
              <a:t>m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linguagem</a:t>
            </a:r>
            <a:r>
              <a:rPr dirty="0"/>
              <a:t> </a:t>
            </a:r>
            <a:r>
              <a:rPr lang="pt-BR" dirty="0"/>
              <a:t>capaz de representar </a:t>
            </a:r>
            <a:r>
              <a:rPr dirty="0" err="1"/>
              <a:t>conhecimento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376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roposition Symbols">
            <a:extLst>
              <a:ext uri="{FF2B5EF4-FFF2-40B4-BE49-F238E27FC236}">
                <a16:creationId xmlns:a16="http://schemas.microsoft.com/office/drawing/2014/main" id="{3E8BE102-C974-431E-B541-5F1D962B4E9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Símbolos Proposicionais</a:t>
            </a:r>
          </a:p>
        </p:txBody>
      </p:sp>
      <p:sp>
        <p:nvSpPr>
          <p:cNvPr id="148" name="P">
            <a:extLst>
              <a:ext uri="{FF2B5EF4-FFF2-40B4-BE49-F238E27FC236}">
                <a16:creationId xmlns:a16="http://schemas.microsoft.com/office/drawing/2014/main" id="{39027194-2D45-4F77-B12E-E636F7360A8E}"/>
              </a:ext>
            </a:extLst>
          </p:cNvPr>
          <p:cNvSpPr>
            <a:spLocks noGrp="1"/>
          </p:cNvSpPr>
          <p:nvPr/>
        </p:nvSpPr>
        <p:spPr>
          <a:xfrm>
            <a:off x="5135896" y="7043725"/>
            <a:ext cx="890068" cy="150815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0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P</a:t>
            </a:r>
          </a:p>
        </p:txBody>
      </p:sp>
      <p:sp>
        <p:nvSpPr>
          <p:cNvPr id="149" name="Q">
            <a:extLst>
              <a:ext uri="{FF2B5EF4-FFF2-40B4-BE49-F238E27FC236}">
                <a16:creationId xmlns:a16="http://schemas.microsoft.com/office/drawing/2014/main" id="{48658220-2A6F-4E76-835F-87EBFBDAA93B}"/>
              </a:ext>
            </a:extLst>
          </p:cNvPr>
          <p:cNvSpPr>
            <a:spLocks noGrp="1"/>
          </p:cNvSpPr>
          <p:nvPr/>
        </p:nvSpPr>
        <p:spPr>
          <a:xfrm>
            <a:off x="11640926" y="7043725"/>
            <a:ext cx="1031454" cy="150815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0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Q</a:t>
            </a:r>
          </a:p>
        </p:txBody>
      </p:sp>
      <p:sp>
        <p:nvSpPr>
          <p:cNvPr id="150" name="R">
            <a:extLst>
              <a:ext uri="{FF2B5EF4-FFF2-40B4-BE49-F238E27FC236}">
                <a16:creationId xmlns:a16="http://schemas.microsoft.com/office/drawing/2014/main" id="{CC2979A3-3CAB-4E86-84DB-294E06E4C196}"/>
              </a:ext>
            </a:extLst>
          </p:cNvPr>
          <p:cNvSpPr>
            <a:spLocks noGrp="1"/>
          </p:cNvSpPr>
          <p:nvPr/>
        </p:nvSpPr>
        <p:spPr>
          <a:xfrm>
            <a:off x="18358037" y="7043725"/>
            <a:ext cx="890068" cy="150815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0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9662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Logical Connectives">
            <a:extLst>
              <a:ext uri="{FF2B5EF4-FFF2-40B4-BE49-F238E27FC236}">
                <a16:creationId xmlns:a16="http://schemas.microsoft.com/office/drawing/2014/main" id="{1C5DF97C-D4D1-4D7D-8829-338EEED2B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Conectivos Lógicos</a:t>
            </a:r>
          </a:p>
        </p:txBody>
      </p:sp>
      <p:sp>
        <p:nvSpPr>
          <p:cNvPr id="153" name="¬">
            <a:extLst>
              <a:ext uri="{FF2B5EF4-FFF2-40B4-BE49-F238E27FC236}">
                <a16:creationId xmlns:a16="http://schemas.microsoft.com/office/drawing/2014/main" id="{4621C1AC-F761-4988-B94C-73750E6C7D78}"/>
              </a:ext>
            </a:extLst>
          </p:cNvPr>
          <p:cNvSpPr>
            <a:spLocks noGrp="1"/>
          </p:cNvSpPr>
          <p:nvPr/>
        </p:nvSpPr>
        <p:spPr>
          <a:xfrm>
            <a:off x="6001705" y="4298686"/>
            <a:ext cx="830537" cy="150815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0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¬</a:t>
            </a:r>
          </a:p>
        </p:txBody>
      </p:sp>
      <p:sp>
        <p:nvSpPr>
          <p:cNvPr id="154" name="not">
            <a:extLst>
              <a:ext uri="{FF2B5EF4-FFF2-40B4-BE49-F238E27FC236}">
                <a16:creationId xmlns:a16="http://schemas.microsoft.com/office/drawing/2014/main" id="{69E148BA-32DF-48E6-9C5F-E18BE25EC940}"/>
              </a:ext>
            </a:extLst>
          </p:cNvPr>
          <p:cNvSpPr>
            <a:spLocks noGrp="1"/>
          </p:cNvSpPr>
          <p:nvPr/>
        </p:nvSpPr>
        <p:spPr>
          <a:xfrm>
            <a:off x="5570042" y="5855896"/>
            <a:ext cx="1693863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não</a:t>
            </a:r>
          </a:p>
        </p:txBody>
      </p:sp>
      <p:sp>
        <p:nvSpPr>
          <p:cNvPr id="155" name="∧">
            <a:extLst>
              <a:ext uri="{FF2B5EF4-FFF2-40B4-BE49-F238E27FC236}">
                <a16:creationId xmlns:a16="http://schemas.microsoft.com/office/drawing/2014/main" id="{2716AFF2-9A0D-4AF1-A7B9-AA0875042981}"/>
              </a:ext>
            </a:extLst>
          </p:cNvPr>
          <p:cNvSpPr>
            <a:spLocks noGrp="1"/>
          </p:cNvSpPr>
          <p:nvPr/>
        </p:nvSpPr>
        <p:spPr>
          <a:xfrm>
            <a:off x="11821815" y="4398508"/>
            <a:ext cx="868364" cy="126556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0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∧</a:t>
            </a:r>
          </a:p>
        </p:txBody>
      </p:sp>
      <p:sp>
        <p:nvSpPr>
          <p:cNvPr id="156" name="and">
            <a:extLst>
              <a:ext uri="{FF2B5EF4-FFF2-40B4-BE49-F238E27FC236}">
                <a16:creationId xmlns:a16="http://schemas.microsoft.com/office/drawing/2014/main" id="{80122258-26B4-453E-9274-2F00C8F3EB83}"/>
              </a:ext>
            </a:extLst>
          </p:cNvPr>
          <p:cNvSpPr>
            <a:spLocks noGrp="1"/>
          </p:cNvSpPr>
          <p:nvPr/>
        </p:nvSpPr>
        <p:spPr>
          <a:xfrm>
            <a:off x="11366048" y="5896251"/>
            <a:ext cx="1243930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lang="pt-BR" dirty="0"/>
              <a:t>  </a:t>
            </a:r>
            <a:r>
              <a:rPr dirty="0"/>
              <a:t>e</a:t>
            </a:r>
          </a:p>
        </p:txBody>
      </p:sp>
      <p:sp>
        <p:nvSpPr>
          <p:cNvPr id="157" name="∨">
            <a:extLst>
              <a:ext uri="{FF2B5EF4-FFF2-40B4-BE49-F238E27FC236}">
                <a16:creationId xmlns:a16="http://schemas.microsoft.com/office/drawing/2014/main" id="{BD280F35-C525-42BF-A6E4-C68FA9C37088}"/>
              </a:ext>
            </a:extLst>
          </p:cNvPr>
          <p:cNvSpPr>
            <a:spLocks noGrp="1"/>
          </p:cNvSpPr>
          <p:nvPr/>
        </p:nvSpPr>
        <p:spPr>
          <a:xfrm>
            <a:off x="17846281" y="4398508"/>
            <a:ext cx="868363" cy="126556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0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∨</a:t>
            </a:r>
          </a:p>
        </p:txBody>
      </p:sp>
      <p:sp>
        <p:nvSpPr>
          <p:cNvPr id="158" name="or">
            <a:extLst>
              <a:ext uri="{FF2B5EF4-FFF2-40B4-BE49-F238E27FC236}">
                <a16:creationId xmlns:a16="http://schemas.microsoft.com/office/drawing/2014/main" id="{1B962BE9-BAD5-40AE-9121-178488FCE32F}"/>
              </a:ext>
            </a:extLst>
          </p:cNvPr>
          <p:cNvSpPr>
            <a:spLocks noGrp="1"/>
          </p:cNvSpPr>
          <p:nvPr/>
        </p:nvSpPr>
        <p:spPr>
          <a:xfrm>
            <a:off x="17715312" y="5902699"/>
            <a:ext cx="1130301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ou</a:t>
            </a:r>
          </a:p>
        </p:txBody>
      </p:sp>
      <p:sp>
        <p:nvSpPr>
          <p:cNvPr id="159" name="→">
            <a:extLst>
              <a:ext uri="{FF2B5EF4-FFF2-40B4-BE49-F238E27FC236}">
                <a16:creationId xmlns:a16="http://schemas.microsoft.com/office/drawing/2014/main" id="{3F05062D-1D40-4D36-A890-5624EE61F552}"/>
              </a:ext>
            </a:extLst>
          </p:cNvPr>
          <p:cNvSpPr>
            <a:spLocks noGrp="1"/>
          </p:cNvSpPr>
          <p:nvPr/>
        </p:nvSpPr>
        <p:spPr>
          <a:xfrm>
            <a:off x="6709810" y="8719548"/>
            <a:ext cx="1384301" cy="150815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0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→</a:t>
            </a:r>
          </a:p>
        </p:txBody>
      </p:sp>
      <p:sp>
        <p:nvSpPr>
          <p:cNvPr id="160" name="implication">
            <a:extLst>
              <a:ext uri="{FF2B5EF4-FFF2-40B4-BE49-F238E27FC236}">
                <a16:creationId xmlns:a16="http://schemas.microsoft.com/office/drawing/2014/main" id="{1C2B621F-8FA7-443E-93D4-C6911E91B6C1}"/>
              </a:ext>
            </a:extLst>
          </p:cNvPr>
          <p:cNvSpPr>
            <a:spLocks noGrp="1"/>
          </p:cNvSpPr>
          <p:nvPr/>
        </p:nvSpPr>
        <p:spPr>
          <a:xfrm>
            <a:off x="4663423" y="10325921"/>
            <a:ext cx="5233805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lang="pt-BR" dirty="0"/>
              <a:t> </a:t>
            </a:r>
            <a:r>
              <a:rPr dirty="0" err="1"/>
              <a:t>implicação</a:t>
            </a:r>
            <a:endParaRPr dirty="0"/>
          </a:p>
        </p:txBody>
      </p:sp>
      <p:sp>
        <p:nvSpPr>
          <p:cNvPr id="161" name="↔">
            <a:extLst>
              <a:ext uri="{FF2B5EF4-FFF2-40B4-BE49-F238E27FC236}">
                <a16:creationId xmlns:a16="http://schemas.microsoft.com/office/drawing/2014/main" id="{8CFC7D82-F329-4DAB-9D92-50E02E819F9D}"/>
              </a:ext>
            </a:extLst>
          </p:cNvPr>
          <p:cNvSpPr>
            <a:spLocks noGrp="1"/>
          </p:cNvSpPr>
          <p:nvPr/>
        </p:nvSpPr>
        <p:spPr>
          <a:xfrm>
            <a:off x="16266487" y="8719548"/>
            <a:ext cx="1384301" cy="150815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0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↔</a:t>
            </a:r>
          </a:p>
        </p:txBody>
      </p:sp>
      <p:sp>
        <p:nvSpPr>
          <p:cNvPr id="162" name="biconditional">
            <a:extLst>
              <a:ext uri="{FF2B5EF4-FFF2-40B4-BE49-F238E27FC236}">
                <a16:creationId xmlns:a16="http://schemas.microsoft.com/office/drawing/2014/main" id="{A3964989-ACE9-404C-BC2D-988A9FF266F7}"/>
              </a:ext>
            </a:extLst>
          </p:cNvPr>
          <p:cNvSpPr>
            <a:spLocks noGrp="1"/>
          </p:cNvSpPr>
          <p:nvPr/>
        </p:nvSpPr>
        <p:spPr>
          <a:xfrm>
            <a:off x="13740874" y="10332369"/>
            <a:ext cx="6435528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lang="pt-BR" dirty="0"/>
              <a:t> </a:t>
            </a:r>
            <a:r>
              <a:rPr dirty="0" err="1"/>
              <a:t>bicondicional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5771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Not (¬)">
            <a:extLst>
              <a:ext uri="{FF2B5EF4-FFF2-40B4-BE49-F238E27FC236}">
                <a16:creationId xmlns:a16="http://schemas.microsoft.com/office/drawing/2014/main" id="{ADCF286C-930F-43E3-AC3D-81AF64C33F3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Não (¬)</a:t>
            </a:r>
          </a:p>
        </p:txBody>
      </p:sp>
      <p:graphicFrame>
        <p:nvGraphicFramePr>
          <p:cNvPr id="167" name="Table 1"/>
          <p:cNvGraphicFramePr/>
          <p:nvPr/>
        </p:nvGraphicFramePr>
        <p:xfrm>
          <a:off x="7435850" y="5269010"/>
          <a:ext cx="9512300" cy="505758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75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5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¬P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5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5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480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And (∧)">
            <a:extLst>
              <a:ext uri="{FF2B5EF4-FFF2-40B4-BE49-F238E27FC236}">
                <a16:creationId xmlns:a16="http://schemas.microsoft.com/office/drawing/2014/main" id="{454E03E9-4F6F-4C18-9C0E-5A757013A3A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 (∧)</a:t>
            </a:r>
          </a:p>
        </p:txBody>
      </p:sp>
      <p:graphicFrame>
        <p:nvGraphicFramePr>
          <p:cNvPr id="170" name="Table 1"/>
          <p:cNvGraphicFramePr/>
          <p:nvPr/>
        </p:nvGraphicFramePr>
        <p:xfrm>
          <a:off x="5283447" y="3669850"/>
          <a:ext cx="13817106" cy="825589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605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5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5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 ∧ Q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307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Or (∨)">
            <a:extLst>
              <a:ext uri="{FF2B5EF4-FFF2-40B4-BE49-F238E27FC236}">
                <a16:creationId xmlns:a16="http://schemas.microsoft.com/office/drawing/2014/main" id="{CC2D6B0E-70B9-4456-963A-F8A533CA94F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Ou (∨)</a:t>
            </a:r>
          </a:p>
        </p:txBody>
      </p:sp>
      <p:graphicFrame>
        <p:nvGraphicFramePr>
          <p:cNvPr id="173" name="Table 1"/>
          <p:cNvGraphicFramePr/>
          <p:nvPr/>
        </p:nvGraphicFramePr>
        <p:xfrm>
          <a:off x="5283447" y="3669850"/>
          <a:ext cx="13817106" cy="825589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605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5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5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 ∨ Q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331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03D66-2F34-E951-69AA-12C3209BA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Or (∨)">
            <a:extLst>
              <a:ext uri="{FF2B5EF4-FFF2-40B4-BE49-F238E27FC236}">
                <a16:creationId xmlns:a16="http://schemas.microsoft.com/office/drawing/2014/main" id="{1290CE33-95E5-6933-B269-2607ED0C13D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/>
              <a:t>Ou</a:t>
            </a:r>
            <a:r>
              <a:rPr lang="pt-BR" dirty="0"/>
              <a:t> exclusivo</a:t>
            </a:r>
            <a:r>
              <a:rPr dirty="0"/>
              <a:t> (∨)</a:t>
            </a:r>
          </a:p>
        </p:txBody>
      </p:sp>
      <p:graphicFrame>
        <p:nvGraphicFramePr>
          <p:cNvPr id="173" name="Table 1">
            <a:extLst>
              <a:ext uri="{FF2B5EF4-FFF2-40B4-BE49-F238E27FC236}">
                <a16:creationId xmlns:a16="http://schemas.microsoft.com/office/drawing/2014/main" id="{44B6E98C-7AC5-107C-696B-41B0BBB1D2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0009578"/>
              </p:ext>
            </p:extLst>
          </p:nvPr>
        </p:nvGraphicFramePr>
        <p:xfrm>
          <a:off x="5283447" y="3669850"/>
          <a:ext cx="13817106" cy="825589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605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5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5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 ∨ Q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 dirty="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6200" dirty="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  <a:endParaRPr sz="6200" dirty="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Or (∨)">
            <a:extLst>
              <a:ext uri="{FF2B5EF4-FFF2-40B4-BE49-F238E27FC236}">
                <a16:creationId xmlns:a16="http://schemas.microsoft.com/office/drawing/2014/main" id="{463D7518-5A94-8FB2-7140-857ADF4CE2EC}"/>
              </a:ext>
            </a:extLst>
          </p:cNvPr>
          <p:cNvSpPr txBox="1">
            <a:spLocks/>
          </p:cNvSpPr>
          <p:nvPr/>
        </p:nvSpPr>
        <p:spPr>
          <a:xfrm>
            <a:off x="10723443" y="355600"/>
            <a:ext cx="1569916" cy="22860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cap="none" spc="0" baseline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  <a:lvl2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cap="none" spc="0" baseline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2pPr>
            <a:lvl3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cap="none" spc="0" baseline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3pPr>
            <a:lvl4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cap="none" spc="0" baseline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4pPr>
            <a:lvl5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cap="none" spc="0" baseline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5pPr>
            <a:lvl6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cap="none" spc="0" baseline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6pPr>
            <a:lvl7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cap="none" spc="0" baseline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7pPr>
            <a:lvl8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cap="none" spc="0" baseline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8pPr>
            <a:lvl9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cap="none" spc="0" baseline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9pPr>
          </a:lstStyle>
          <a:p>
            <a:r>
              <a:rPr lang="en-US" kern="0" dirty="0"/>
              <a:t>_</a:t>
            </a:r>
          </a:p>
        </p:txBody>
      </p:sp>
      <p:sp>
        <p:nvSpPr>
          <p:cNvPr id="3" name="Or (∨)">
            <a:extLst>
              <a:ext uri="{FF2B5EF4-FFF2-40B4-BE49-F238E27FC236}">
                <a16:creationId xmlns:a16="http://schemas.microsoft.com/office/drawing/2014/main" id="{725B7642-DB38-0128-D170-C387F650B9B9}"/>
              </a:ext>
            </a:extLst>
          </p:cNvPr>
          <p:cNvSpPr txBox="1">
            <a:spLocks/>
          </p:cNvSpPr>
          <p:nvPr/>
        </p:nvSpPr>
        <p:spPr>
          <a:xfrm>
            <a:off x="16283866" y="3277325"/>
            <a:ext cx="1569916" cy="22860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cap="none" spc="0" baseline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  <a:lvl2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cap="none" spc="0" baseline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2pPr>
            <a:lvl3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cap="none" spc="0" baseline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3pPr>
            <a:lvl4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cap="none" spc="0" baseline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4pPr>
            <a:lvl5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cap="none" spc="0" baseline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5pPr>
            <a:lvl6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cap="none" spc="0" baseline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6pPr>
            <a:lvl7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cap="none" spc="0" baseline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7pPr>
            <a:lvl8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cap="none" spc="0" baseline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8pPr>
            <a:lvl9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cap="none" spc="0" baseline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9pPr>
          </a:lstStyle>
          <a:p>
            <a:r>
              <a:rPr lang="en-US" kern="0" dirty="0"/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819520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Implication (→)">
            <a:extLst>
              <a:ext uri="{FF2B5EF4-FFF2-40B4-BE49-F238E27FC236}">
                <a16:creationId xmlns:a16="http://schemas.microsoft.com/office/drawing/2014/main" id="{0E0D4441-5B9F-4C1F-9119-36330B59FDC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Implicação (→)</a:t>
            </a:r>
          </a:p>
        </p:txBody>
      </p:sp>
      <p:graphicFrame>
        <p:nvGraphicFramePr>
          <p:cNvPr id="176" name="Table 1"/>
          <p:cNvGraphicFramePr/>
          <p:nvPr/>
        </p:nvGraphicFramePr>
        <p:xfrm>
          <a:off x="5283447" y="3669850"/>
          <a:ext cx="13817106" cy="825589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605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5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5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 → Q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2168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Biconditional (↔)">
            <a:extLst>
              <a:ext uri="{FF2B5EF4-FFF2-40B4-BE49-F238E27FC236}">
                <a16:creationId xmlns:a16="http://schemas.microsoft.com/office/drawing/2014/main" id="{940121E1-2A64-4DF2-81EA-C83E3A2AC0F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Bicondicional</a:t>
            </a:r>
            <a:r>
              <a:rPr dirty="0"/>
              <a:t> (</a:t>
            </a:r>
            <a:r>
              <a:rPr lang="en-BR" sz="9600" i="1" dirty="0">
                <a:latin typeface="Times New Roman"/>
                <a:ea typeface="Times New Roman"/>
                <a:cs typeface="Times New Roman"/>
              </a:rPr>
              <a:t>↔</a:t>
            </a:r>
            <a:r>
              <a:rPr dirty="0"/>
              <a:t>)</a:t>
            </a:r>
          </a:p>
        </p:txBody>
      </p:sp>
      <p:graphicFrame>
        <p:nvGraphicFramePr>
          <p:cNvPr id="179" name="Table 1"/>
          <p:cNvGraphicFramePr/>
          <p:nvPr/>
        </p:nvGraphicFramePr>
        <p:xfrm>
          <a:off x="5283447" y="3669850"/>
          <a:ext cx="13817106" cy="825589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605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5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5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0" i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 ↔ Q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200" dirty="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4374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model">
            <a:extLst>
              <a:ext uri="{FF2B5EF4-FFF2-40B4-BE49-F238E27FC236}">
                <a16:creationId xmlns:a16="http://schemas.microsoft.com/office/drawing/2014/main" id="{9B8A8BD4-EF38-4EEE-87B1-C8B9A40A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modelo</a:t>
            </a:r>
          </a:p>
        </p:txBody>
      </p:sp>
      <p:sp>
        <p:nvSpPr>
          <p:cNvPr id="180" name="assignment of a truth value to every propositional symbol (a &quot;possible world&quot;)">
            <a:extLst>
              <a:ext uri="{FF2B5EF4-FFF2-40B4-BE49-F238E27FC236}">
                <a16:creationId xmlns:a16="http://schemas.microsoft.com/office/drawing/2014/main" id="{96BB2B26-BC9C-4C28-834B-DC94CC655DB7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 err="1"/>
              <a:t>atribuição</a:t>
            </a:r>
            <a:r>
              <a:rPr dirty="0"/>
              <a:t> de um valor </a:t>
            </a:r>
            <a:r>
              <a:rPr lang="pt-BR" dirty="0"/>
              <a:t>(verdadeiro ou falso) às</a:t>
            </a:r>
            <a:r>
              <a:rPr dirty="0"/>
              <a:t> </a:t>
            </a:r>
            <a:r>
              <a:rPr lang="pt-BR" dirty="0"/>
              <a:t>variáveis proposicionais </a:t>
            </a:r>
            <a:r>
              <a:rPr dirty="0"/>
              <a:t>(um "</a:t>
            </a:r>
            <a:r>
              <a:rPr dirty="0" err="1"/>
              <a:t>mundo</a:t>
            </a:r>
            <a:r>
              <a:rPr dirty="0"/>
              <a:t> </a:t>
            </a:r>
            <a:r>
              <a:rPr dirty="0" err="1"/>
              <a:t>possível</a:t>
            </a:r>
            <a:r>
              <a:rPr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426078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model">
            <a:extLst>
              <a:ext uri="{FF2B5EF4-FFF2-40B4-BE49-F238E27FC236}">
                <a16:creationId xmlns:a16="http://schemas.microsoft.com/office/drawing/2014/main" id="{4A76867C-F601-4047-9F25-FBD386B55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modelo</a:t>
            </a:r>
          </a:p>
        </p:txBody>
      </p:sp>
      <p:sp>
        <p:nvSpPr>
          <p:cNvPr id="183" name="P:  It is raining.">
            <a:extLst>
              <a:ext uri="{FF2B5EF4-FFF2-40B4-BE49-F238E27FC236}">
                <a16:creationId xmlns:a16="http://schemas.microsoft.com/office/drawing/2014/main" id="{A625D793-0208-4F10-9886-DF41B4446E72}"/>
              </a:ext>
            </a:extLst>
          </p:cNvPr>
          <p:cNvSpPr>
            <a:spLocks noGrp="1"/>
          </p:cNvSpPr>
          <p:nvPr/>
        </p:nvSpPr>
        <p:spPr>
          <a:xfrm>
            <a:off x="11700957" y="3618597"/>
            <a:ext cx="6720286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pPr>
            <a:r>
              <a:t>P:  Está chovendo.</a:t>
            </a:r>
          </a:p>
        </p:txBody>
      </p:sp>
      <p:sp>
        <p:nvSpPr>
          <p:cNvPr id="184" name="Q:  It is a Tuesday.">
            <a:extLst>
              <a:ext uri="{FF2B5EF4-FFF2-40B4-BE49-F238E27FC236}">
                <a16:creationId xmlns:a16="http://schemas.microsoft.com/office/drawing/2014/main" id="{F168E68D-DA45-4D46-9004-A312A5666E3A}"/>
              </a:ext>
            </a:extLst>
          </p:cNvPr>
          <p:cNvSpPr>
            <a:spLocks noGrp="1"/>
          </p:cNvSpPr>
          <p:nvPr/>
        </p:nvSpPr>
        <p:spPr>
          <a:xfrm>
            <a:off x="11700957" y="5256678"/>
            <a:ext cx="8397579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pPr>
            <a:r>
              <a:t>Q:  É terça-feira.</a:t>
            </a:r>
          </a:p>
        </p:txBody>
      </p:sp>
      <p:sp>
        <p:nvSpPr>
          <p:cNvPr id="185" name="{P = true, Q = false}">
            <a:extLst>
              <a:ext uri="{FF2B5EF4-FFF2-40B4-BE49-F238E27FC236}">
                <a16:creationId xmlns:a16="http://schemas.microsoft.com/office/drawing/2014/main" id="{7BE22095-A393-49C7-84E4-56945B1BA5E8}"/>
              </a:ext>
            </a:extLst>
          </p:cNvPr>
          <p:cNvSpPr>
            <a:spLocks noGrp="1"/>
          </p:cNvSpPr>
          <p:nvPr/>
        </p:nvSpPr>
        <p:spPr>
          <a:xfrm>
            <a:off x="7121326" y="9656095"/>
            <a:ext cx="9010750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Times New Roman"/>
                <a:ea typeface="Times New Roman"/>
                <a:cs typeface="Times New Roman"/>
              </a:defRPr>
            </a:pPr>
            <a:r>
              <a:t>{</a:t>
            </a:r>
            <a:r>
              <a:rPr i="1"/>
              <a:t>P</a:t>
            </a:r>
            <a:r>
              <a:t> = </a:t>
            </a:r>
            <a:r>
              <a:rPr>
                <a:latin typeface="Consolas"/>
                <a:ea typeface="Consolas"/>
                <a:cs typeface="Consolas"/>
              </a:rPr>
              <a:t>true</a:t>
            </a:r>
            <a:r>
              <a:t>, </a:t>
            </a:r>
            <a:r>
              <a:rPr i="1"/>
              <a:t>Q</a:t>
            </a:r>
            <a:r>
              <a:t> = </a:t>
            </a:r>
            <a:r>
              <a:rPr>
                <a:latin typeface="Consolas"/>
                <a:ea typeface="Consolas"/>
                <a:cs typeface="Consolas"/>
              </a:rPr>
              <a:t>false</a:t>
            </a: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54284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knowledge base">
            <a:extLst>
              <a:ext uri="{FF2B5EF4-FFF2-40B4-BE49-F238E27FC236}">
                <a16:creationId xmlns:a16="http://schemas.microsoft.com/office/drawing/2014/main" id="{29CFF713-D095-4BF7-9F3E-67CAE54C9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base de conhecimento</a:t>
            </a:r>
          </a:p>
        </p:txBody>
      </p:sp>
      <p:sp>
        <p:nvSpPr>
          <p:cNvPr id="188" name="a set of sentences known by a…">
            <a:extLst>
              <a:ext uri="{FF2B5EF4-FFF2-40B4-BE49-F238E27FC236}">
                <a16:creationId xmlns:a16="http://schemas.microsoft.com/office/drawing/2014/main" id="{E3E43056-9CD2-46C3-A914-C402AD4CB611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t>um conjunto de sentenças conhecidas por um</a:t>
            </a:r>
          </a:p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t>agente baseado em conhecimento</a:t>
            </a:r>
          </a:p>
        </p:txBody>
      </p:sp>
    </p:spTree>
    <p:extLst>
      <p:ext uri="{BB962C8B-B14F-4D97-AF65-F5344CB8AC3E}">
        <p14:creationId xmlns:p14="http://schemas.microsoft.com/office/powerpoint/2010/main" val="1251178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Entailment">
            <a:extLst>
              <a:ext uri="{FF2B5EF4-FFF2-40B4-BE49-F238E27FC236}">
                <a16:creationId xmlns:a16="http://schemas.microsoft.com/office/drawing/2014/main" id="{242F1E5A-5C67-4471-99C8-018B2BF86C6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BR" dirty="0"/>
              <a:t>Implicação lógica (</a:t>
            </a:r>
            <a:r>
              <a:rPr lang="pt-BR" i="1" dirty="0" err="1"/>
              <a:t>Entailment</a:t>
            </a:r>
            <a:r>
              <a:rPr lang="pt-BR" dirty="0"/>
              <a:t>) </a:t>
            </a:r>
            <a:endParaRPr dirty="0"/>
          </a:p>
        </p:txBody>
      </p:sp>
      <p:sp>
        <p:nvSpPr>
          <p:cNvPr id="191" name="α ⊨ β">
            <a:extLst>
              <a:ext uri="{FF2B5EF4-FFF2-40B4-BE49-F238E27FC236}">
                <a16:creationId xmlns:a16="http://schemas.microsoft.com/office/drawing/2014/main" id="{3BFF7D94-9E47-4185-8712-DD8084940670}"/>
              </a:ext>
            </a:extLst>
          </p:cNvPr>
          <p:cNvSpPr>
            <a:spLocks noGrp="1"/>
          </p:cNvSpPr>
          <p:nvPr/>
        </p:nvSpPr>
        <p:spPr>
          <a:xfrm>
            <a:off x="10771832" y="4894360"/>
            <a:ext cx="2978379" cy="164147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0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rPr dirty="0"/>
              <a:t>α </a:t>
            </a:r>
            <a:r>
              <a:rPr i="0" dirty="0"/>
              <a:t>⊨</a:t>
            </a:r>
            <a:r>
              <a:rPr dirty="0"/>
              <a:t> β</a:t>
            </a:r>
          </a:p>
        </p:txBody>
      </p:sp>
      <p:sp>
        <p:nvSpPr>
          <p:cNvPr id="192" name="In every model in which sentence α is true,…">
            <a:extLst>
              <a:ext uri="{FF2B5EF4-FFF2-40B4-BE49-F238E27FC236}">
                <a16:creationId xmlns:a16="http://schemas.microsoft.com/office/drawing/2014/main" id="{98542893-32FA-45A0-B8C9-DD3D0C586731}"/>
              </a:ext>
            </a:extLst>
          </p:cNvPr>
          <p:cNvSpPr>
            <a:spLocks noGrp="1"/>
          </p:cNvSpPr>
          <p:nvPr/>
        </p:nvSpPr>
        <p:spPr>
          <a:xfrm>
            <a:off x="1519758" y="7802461"/>
            <a:ext cx="18468197" cy="256480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/>
              <a:t>Em </a:t>
            </a:r>
            <a:r>
              <a:rPr dirty="0" err="1"/>
              <a:t>todo</a:t>
            </a:r>
            <a:r>
              <a:rPr dirty="0"/>
              <a:t>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i="1" dirty="0"/>
              <a:t>α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verdadeir</a:t>
            </a:r>
            <a:r>
              <a:rPr lang="pt-BR" dirty="0"/>
              <a:t>o</a:t>
            </a:r>
            <a:r>
              <a:rPr dirty="0"/>
              <a:t>,</a:t>
            </a:r>
          </a:p>
          <a:p>
            <a:pPr algn="l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i="1" dirty="0"/>
              <a:t>β</a:t>
            </a:r>
            <a:r>
              <a:rPr dirty="0"/>
              <a:t>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verdadeir</a:t>
            </a:r>
            <a:r>
              <a:rPr lang="pt-BR" dirty="0"/>
              <a:t>o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9695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66AB9-5A0C-D637-C0F8-E642ACA27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rry did not visit Hagrid today.">
            <a:extLst>
              <a:ext uri="{FF2B5EF4-FFF2-40B4-BE49-F238E27FC236}">
                <a16:creationId xmlns:a16="http://schemas.microsoft.com/office/drawing/2014/main" id="{81D917B2-557D-058D-BE83-222A088A4FBE}"/>
              </a:ext>
            </a:extLst>
          </p:cNvPr>
          <p:cNvSpPr>
            <a:spLocks noGrp="1"/>
          </p:cNvSpPr>
          <p:nvPr/>
        </p:nvSpPr>
        <p:spPr>
          <a:xfrm>
            <a:off x="1258756" y="8821522"/>
            <a:ext cx="1023998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>
                <a:solidFill>
                  <a:schemeClr val="accent4"/>
                </a:solidFill>
              </a:rPr>
              <a:t>Harry </a:t>
            </a:r>
            <a:r>
              <a:rPr dirty="0" err="1">
                <a:solidFill>
                  <a:schemeClr val="accent4"/>
                </a:solidFill>
              </a:rPr>
              <a:t>não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visitou</a:t>
            </a:r>
            <a:r>
              <a:rPr dirty="0">
                <a:solidFill>
                  <a:schemeClr val="accent4"/>
                </a:solidFill>
              </a:rPr>
              <a:t> Hagrid </a:t>
            </a:r>
            <a:r>
              <a:rPr dirty="0" err="1">
                <a:solidFill>
                  <a:schemeClr val="accent4"/>
                </a:solidFill>
              </a:rPr>
              <a:t>hoje</a:t>
            </a:r>
            <a:r>
              <a:rPr dirty="0">
                <a:solidFill>
                  <a:schemeClr val="accent4"/>
                </a:solidFill>
              </a:rPr>
              <a:t>.</a:t>
            </a:r>
          </a:p>
        </p:txBody>
      </p:sp>
      <p:sp>
        <p:nvSpPr>
          <p:cNvPr id="3" name="It rained today.">
            <a:extLst>
              <a:ext uri="{FF2B5EF4-FFF2-40B4-BE49-F238E27FC236}">
                <a16:creationId xmlns:a16="http://schemas.microsoft.com/office/drawing/2014/main" id="{BDC41A6F-0436-317C-2CD1-76FF117D4240}"/>
              </a:ext>
            </a:extLst>
          </p:cNvPr>
          <p:cNvSpPr>
            <a:spLocks noGrp="1"/>
          </p:cNvSpPr>
          <p:nvPr/>
        </p:nvSpPr>
        <p:spPr>
          <a:xfrm>
            <a:off x="1258756" y="10521744"/>
            <a:ext cx="459420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lang="pt-BR" dirty="0">
                <a:solidFill>
                  <a:schemeClr val="accent4"/>
                </a:solidFill>
              </a:rPr>
              <a:t>Hoje choveu</a:t>
            </a:r>
            <a:r>
              <a:rPr dirty="0">
                <a:solidFill>
                  <a:schemeClr val="accent4"/>
                </a:solidFill>
              </a:rPr>
              <a:t>.</a:t>
            </a:r>
          </a:p>
        </p:txBody>
      </p:sp>
      <p:sp>
        <p:nvSpPr>
          <p:cNvPr id="4" name="If it didn't rain, Harry visited Hagrid today.">
            <a:extLst>
              <a:ext uri="{FF2B5EF4-FFF2-40B4-BE49-F238E27FC236}">
                <a16:creationId xmlns:a16="http://schemas.microsoft.com/office/drawing/2014/main" id="{3146DCE1-3C03-32FF-DFC7-88CB33AB97E2}"/>
              </a:ext>
            </a:extLst>
          </p:cNvPr>
          <p:cNvSpPr>
            <a:spLocks noGrp="1"/>
          </p:cNvSpPr>
          <p:nvPr/>
        </p:nvSpPr>
        <p:spPr>
          <a:xfrm>
            <a:off x="1258756" y="2085489"/>
            <a:ext cx="14344889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Se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chove</a:t>
            </a:r>
            <a:r>
              <a:rPr lang="pt-BR" dirty="0" err="1"/>
              <a:t>r</a:t>
            </a:r>
            <a:r>
              <a:rPr dirty="0"/>
              <a:t>, Harry </a:t>
            </a:r>
            <a:r>
              <a:rPr lang="pt-BR" dirty="0"/>
              <a:t>visitará</a:t>
            </a:r>
            <a:r>
              <a:rPr dirty="0"/>
              <a:t> Hagrid </a:t>
            </a:r>
            <a:r>
              <a:rPr dirty="0" err="1"/>
              <a:t>hoje</a:t>
            </a:r>
            <a:r>
              <a:rPr dirty="0"/>
              <a:t>.</a:t>
            </a:r>
          </a:p>
        </p:txBody>
      </p:sp>
      <p:sp>
        <p:nvSpPr>
          <p:cNvPr id="5" name="Harry visited Hagrid or Dumbledore today, but not both.">
            <a:extLst>
              <a:ext uri="{FF2B5EF4-FFF2-40B4-BE49-F238E27FC236}">
                <a16:creationId xmlns:a16="http://schemas.microsoft.com/office/drawing/2014/main" id="{1E299720-639E-1DD5-37C0-388135BF809C}"/>
              </a:ext>
            </a:extLst>
          </p:cNvPr>
          <p:cNvSpPr>
            <a:spLocks noGrp="1"/>
          </p:cNvSpPr>
          <p:nvPr/>
        </p:nvSpPr>
        <p:spPr>
          <a:xfrm>
            <a:off x="1258756" y="3878587"/>
            <a:ext cx="18736420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Harry </a:t>
            </a:r>
            <a:r>
              <a:rPr dirty="0" err="1"/>
              <a:t>visitou</a:t>
            </a:r>
            <a:r>
              <a:rPr dirty="0"/>
              <a:t> Hagrid </a:t>
            </a:r>
            <a:r>
              <a:rPr dirty="0" err="1"/>
              <a:t>ou</a:t>
            </a:r>
            <a:r>
              <a:rPr dirty="0"/>
              <a:t> Dumbledore </a:t>
            </a:r>
            <a:r>
              <a:rPr dirty="0" err="1"/>
              <a:t>hoje</a:t>
            </a:r>
            <a:r>
              <a:rPr dirty="0"/>
              <a:t>, mas </a:t>
            </a:r>
            <a:r>
              <a:rPr dirty="0" err="1"/>
              <a:t>não</a:t>
            </a:r>
            <a:r>
              <a:rPr dirty="0"/>
              <a:t> ambos.</a:t>
            </a:r>
          </a:p>
        </p:txBody>
      </p:sp>
      <p:sp>
        <p:nvSpPr>
          <p:cNvPr id="6" name="Harry visited Dumbledore today.">
            <a:extLst>
              <a:ext uri="{FF2B5EF4-FFF2-40B4-BE49-F238E27FC236}">
                <a16:creationId xmlns:a16="http://schemas.microsoft.com/office/drawing/2014/main" id="{6BEAF122-313B-49CA-81B0-1E0C81333513}"/>
              </a:ext>
            </a:extLst>
          </p:cNvPr>
          <p:cNvSpPr>
            <a:spLocks noGrp="1"/>
          </p:cNvSpPr>
          <p:nvPr/>
        </p:nvSpPr>
        <p:spPr>
          <a:xfrm>
            <a:off x="1258756" y="5754653"/>
            <a:ext cx="10942292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Harry </a:t>
            </a:r>
            <a:r>
              <a:rPr dirty="0" err="1"/>
              <a:t>visitou</a:t>
            </a:r>
            <a:r>
              <a:rPr dirty="0"/>
              <a:t> Dumbledore </a:t>
            </a:r>
            <a:r>
              <a:rPr dirty="0" err="1"/>
              <a:t>hoje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5814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inference">
            <a:extLst>
              <a:ext uri="{FF2B5EF4-FFF2-40B4-BE49-F238E27FC236}">
                <a16:creationId xmlns:a16="http://schemas.microsoft.com/office/drawing/2014/main" id="{4BBED1C0-48A3-43A9-B0CA-0A54C92E1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inferência</a:t>
            </a:r>
          </a:p>
        </p:txBody>
      </p:sp>
      <p:sp>
        <p:nvSpPr>
          <p:cNvPr id="201" name="the process of deriving new sentences…">
            <a:extLst>
              <a:ext uri="{FF2B5EF4-FFF2-40B4-BE49-F238E27FC236}">
                <a16:creationId xmlns:a16="http://schemas.microsoft.com/office/drawing/2014/main" id="{E2DCC307-7E03-4694-9841-F2FF0049ABCE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t>o processo de derivar novas sentenças</a:t>
            </a:r>
          </a:p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t>a partir de sentenças anteriores</a:t>
            </a:r>
          </a:p>
        </p:txBody>
      </p:sp>
    </p:spTree>
    <p:extLst>
      <p:ext uri="{BB962C8B-B14F-4D97-AF65-F5344CB8AC3E}">
        <p14:creationId xmlns:p14="http://schemas.microsoft.com/office/powerpoint/2010/main" val="1493233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:  It is a Tuesday.">
            <a:extLst>
              <a:ext uri="{FF2B5EF4-FFF2-40B4-BE49-F238E27FC236}">
                <a16:creationId xmlns:a16="http://schemas.microsoft.com/office/drawing/2014/main" id="{B7370D7D-C2D3-4679-A18C-304E4F7E985A}"/>
              </a:ext>
            </a:extLst>
          </p:cNvPr>
          <p:cNvSpPr>
            <a:spLocks noGrp="1"/>
          </p:cNvSpPr>
          <p:nvPr/>
        </p:nvSpPr>
        <p:spPr>
          <a:xfrm>
            <a:off x="1357648" y="1459243"/>
            <a:ext cx="7224735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P: 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terça-feira</a:t>
            </a:r>
            <a:r>
              <a:rPr dirty="0"/>
              <a:t>.</a:t>
            </a:r>
          </a:p>
        </p:txBody>
      </p:sp>
      <p:sp>
        <p:nvSpPr>
          <p:cNvPr id="204" name="Q:  It is raining.">
            <a:extLst>
              <a:ext uri="{FF2B5EF4-FFF2-40B4-BE49-F238E27FC236}">
                <a16:creationId xmlns:a16="http://schemas.microsoft.com/office/drawing/2014/main" id="{645842CB-4F30-4A80-A183-CA9276B21699}"/>
              </a:ext>
            </a:extLst>
          </p:cNvPr>
          <p:cNvSpPr>
            <a:spLocks noGrp="1"/>
          </p:cNvSpPr>
          <p:nvPr/>
        </p:nvSpPr>
        <p:spPr>
          <a:xfrm>
            <a:off x="1357648" y="3167527"/>
            <a:ext cx="7965322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Q: 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chovendo</a:t>
            </a:r>
            <a:r>
              <a:rPr dirty="0"/>
              <a:t>.</a:t>
            </a:r>
          </a:p>
        </p:txBody>
      </p:sp>
      <p:sp>
        <p:nvSpPr>
          <p:cNvPr id="205" name="R:  Harry will go for a run.">
            <a:extLst>
              <a:ext uri="{FF2B5EF4-FFF2-40B4-BE49-F238E27FC236}">
                <a16:creationId xmlns:a16="http://schemas.microsoft.com/office/drawing/2014/main" id="{8E24924C-580F-417C-8C0B-22E1A9ED9336}"/>
              </a:ext>
            </a:extLst>
          </p:cNvPr>
          <p:cNvSpPr>
            <a:spLocks noGrp="1"/>
          </p:cNvSpPr>
          <p:nvPr/>
        </p:nvSpPr>
        <p:spPr>
          <a:xfrm>
            <a:off x="1357648" y="4875811"/>
            <a:ext cx="8582991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R:  Harry </a:t>
            </a:r>
            <a:r>
              <a:rPr lang="pt-BR" dirty="0"/>
              <a:t>vai </a:t>
            </a:r>
            <a:r>
              <a:rPr dirty="0" err="1"/>
              <a:t>correr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77719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5D740-963C-7973-BC3C-F3B768E63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:  It is a Tuesday.">
            <a:extLst>
              <a:ext uri="{FF2B5EF4-FFF2-40B4-BE49-F238E27FC236}">
                <a16:creationId xmlns:a16="http://schemas.microsoft.com/office/drawing/2014/main" id="{036C7F9C-E63B-8558-D9D2-F819A00C8259}"/>
              </a:ext>
            </a:extLst>
          </p:cNvPr>
          <p:cNvSpPr>
            <a:spLocks noGrp="1"/>
          </p:cNvSpPr>
          <p:nvPr/>
        </p:nvSpPr>
        <p:spPr>
          <a:xfrm>
            <a:off x="1357648" y="1459243"/>
            <a:ext cx="7224735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P: 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terça-feira</a:t>
            </a:r>
            <a:r>
              <a:rPr dirty="0"/>
              <a:t>.</a:t>
            </a:r>
          </a:p>
        </p:txBody>
      </p:sp>
      <p:sp>
        <p:nvSpPr>
          <p:cNvPr id="204" name="Q:  It is raining.">
            <a:extLst>
              <a:ext uri="{FF2B5EF4-FFF2-40B4-BE49-F238E27FC236}">
                <a16:creationId xmlns:a16="http://schemas.microsoft.com/office/drawing/2014/main" id="{96E72822-52F2-59EA-FE65-D974AE176CC5}"/>
              </a:ext>
            </a:extLst>
          </p:cNvPr>
          <p:cNvSpPr>
            <a:spLocks noGrp="1"/>
          </p:cNvSpPr>
          <p:nvPr/>
        </p:nvSpPr>
        <p:spPr>
          <a:xfrm>
            <a:off x="1357648" y="3167527"/>
            <a:ext cx="7965322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Q: 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chovendo</a:t>
            </a:r>
            <a:r>
              <a:rPr dirty="0"/>
              <a:t>.</a:t>
            </a:r>
          </a:p>
        </p:txBody>
      </p:sp>
      <p:sp>
        <p:nvSpPr>
          <p:cNvPr id="205" name="R:  Harry will go for a run.">
            <a:extLst>
              <a:ext uri="{FF2B5EF4-FFF2-40B4-BE49-F238E27FC236}">
                <a16:creationId xmlns:a16="http://schemas.microsoft.com/office/drawing/2014/main" id="{EABA1F50-A9B5-3330-7C01-347B4EDE5DB1}"/>
              </a:ext>
            </a:extLst>
          </p:cNvPr>
          <p:cNvSpPr>
            <a:spLocks noGrp="1"/>
          </p:cNvSpPr>
          <p:nvPr/>
        </p:nvSpPr>
        <p:spPr>
          <a:xfrm>
            <a:off x="1357648" y="4875811"/>
            <a:ext cx="8582991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R:  Harry </a:t>
            </a:r>
            <a:r>
              <a:rPr lang="pt-BR" dirty="0"/>
              <a:t>vai </a:t>
            </a:r>
            <a:r>
              <a:rPr dirty="0" err="1"/>
              <a:t>correr</a:t>
            </a:r>
            <a:r>
              <a:rPr dirty="0"/>
              <a:t>.</a:t>
            </a:r>
          </a:p>
        </p:txBody>
      </p:sp>
      <p:sp>
        <p:nvSpPr>
          <p:cNvPr id="2" name="KB:">
            <a:extLst>
              <a:ext uri="{FF2B5EF4-FFF2-40B4-BE49-F238E27FC236}">
                <a16:creationId xmlns:a16="http://schemas.microsoft.com/office/drawing/2014/main" id="{93BD9712-B100-B184-9A2A-ACC1C83ABFBB}"/>
              </a:ext>
            </a:extLst>
          </p:cNvPr>
          <p:cNvSpPr>
            <a:spLocks noGrp="1"/>
          </p:cNvSpPr>
          <p:nvPr/>
        </p:nvSpPr>
        <p:spPr>
          <a:xfrm>
            <a:off x="1498055" y="7566311"/>
            <a:ext cx="180796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rPr dirty="0"/>
              <a:t>KB:</a:t>
            </a:r>
          </a:p>
        </p:txBody>
      </p:sp>
    </p:spTree>
    <p:extLst>
      <p:ext uri="{BB962C8B-B14F-4D97-AF65-F5344CB8AC3E}">
        <p14:creationId xmlns:p14="http://schemas.microsoft.com/office/powerpoint/2010/main" val="3846420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0CA0C-E73A-D8FF-4E14-7F3A768E8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:  It is a Tuesday.">
            <a:extLst>
              <a:ext uri="{FF2B5EF4-FFF2-40B4-BE49-F238E27FC236}">
                <a16:creationId xmlns:a16="http://schemas.microsoft.com/office/drawing/2014/main" id="{B91DE600-3A6F-0016-EFE6-14118B72CA1A}"/>
              </a:ext>
            </a:extLst>
          </p:cNvPr>
          <p:cNvSpPr>
            <a:spLocks noGrp="1"/>
          </p:cNvSpPr>
          <p:nvPr/>
        </p:nvSpPr>
        <p:spPr>
          <a:xfrm>
            <a:off x="1357648" y="1459243"/>
            <a:ext cx="7224735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P: 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terça-feira</a:t>
            </a:r>
            <a:r>
              <a:rPr dirty="0"/>
              <a:t>.</a:t>
            </a:r>
          </a:p>
        </p:txBody>
      </p:sp>
      <p:sp>
        <p:nvSpPr>
          <p:cNvPr id="204" name="Q:  It is raining.">
            <a:extLst>
              <a:ext uri="{FF2B5EF4-FFF2-40B4-BE49-F238E27FC236}">
                <a16:creationId xmlns:a16="http://schemas.microsoft.com/office/drawing/2014/main" id="{37D12217-A129-4AD2-8C6D-11D1544566AD}"/>
              </a:ext>
            </a:extLst>
          </p:cNvPr>
          <p:cNvSpPr>
            <a:spLocks noGrp="1"/>
          </p:cNvSpPr>
          <p:nvPr/>
        </p:nvSpPr>
        <p:spPr>
          <a:xfrm>
            <a:off x="1357648" y="3167527"/>
            <a:ext cx="7965322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Q: 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chovendo</a:t>
            </a:r>
            <a:r>
              <a:rPr dirty="0"/>
              <a:t>.</a:t>
            </a:r>
          </a:p>
        </p:txBody>
      </p:sp>
      <p:sp>
        <p:nvSpPr>
          <p:cNvPr id="205" name="R:  Harry will go for a run.">
            <a:extLst>
              <a:ext uri="{FF2B5EF4-FFF2-40B4-BE49-F238E27FC236}">
                <a16:creationId xmlns:a16="http://schemas.microsoft.com/office/drawing/2014/main" id="{0993F67E-D789-3663-FE35-C9FA663D9F75}"/>
              </a:ext>
            </a:extLst>
          </p:cNvPr>
          <p:cNvSpPr>
            <a:spLocks noGrp="1"/>
          </p:cNvSpPr>
          <p:nvPr/>
        </p:nvSpPr>
        <p:spPr>
          <a:xfrm>
            <a:off x="1357648" y="4875811"/>
            <a:ext cx="8582991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R:  Harry </a:t>
            </a:r>
            <a:r>
              <a:rPr lang="pt-BR" dirty="0"/>
              <a:t>vai </a:t>
            </a:r>
            <a:r>
              <a:rPr dirty="0" err="1"/>
              <a:t>correr</a:t>
            </a:r>
            <a:r>
              <a:rPr dirty="0"/>
              <a:t>.</a:t>
            </a:r>
          </a:p>
        </p:txBody>
      </p:sp>
      <p:sp>
        <p:nvSpPr>
          <p:cNvPr id="2" name="KB:">
            <a:extLst>
              <a:ext uri="{FF2B5EF4-FFF2-40B4-BE49-F238E27FC236}">
                <a16:creationId xmlns:a16="http://schemas.microsoft.com/office/drawing/2014/main" id="{B33F98C1-7F8F-CC10-2C91-138B329A309C}"/>
              </a:ext>
            </a:extLst>
          </p:cNvPr>
          <p:cNvSpPr>
            <a:spLocks noGrp="1"/>
          </p:cNvSpPr>
          <p:nvPr/>
        </p:nvSpPr>
        <p:spPr>
          <a:xfrm>
            <a:off x="1498055" y="7566311"/>
            <a:ext cx="180796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rPr dirty="0"/>
              <a:t>KB:</a:t>
            </a:r>
          </a:p>
        </p:txBody>
      </p:sp>
      <p:sp>
        <p:nvSpPr>
          <p:cNvPr id="3" name="(P ∧ ¬Q) → R">
            <a:extLst>
              <a:ext uri="{FF2B5EF4-FFF2-40B4-BE49-F238E27FC236}">
                <a16:creationId xmlns:a16="http://schemas.microsoft.com/office/drawing/2014/main" id="{937AEF53-004E-C876-FF54-89BB69B62D56}"/>
              </a:ext>
            </a:extLst>
          </p:cNvPr>
          <p:cNvSpPr>
            <a:spLocks noGrp="1"/>
          </p:cNvSpPr>
          <p:nvPr/>
        </p:nvSpPr>
        <p:spPr>
          <a:xfrm>
            <a:off x="4814426" y="7549195"/>
            <a:ext cx="5955805" cy="124837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P </a:t>
            </a:r>
            <a:r>
              <a:t>∧ ¬</a:t>
            </a:r>
            <a:r>
              <a:rPr i="1"/>
              <a:t>Q</a:t>
            </a:r>
            <a:r>
              <a:t>) → </a:t>
            </a:r>
            <a:r>
              <a:rPr i="1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9474568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229E0-19FD-DE07-47D6-8B67BBAF6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:  It is a Tuesday.">
            <a:extLst>
              <a:ext uri="{FF2B5EF4-FFF2-40B4-BE49-F238E27FC236}">
                <a16:creationId xmlns:a16="http://schemas.microsoft.com/office/drawing/2014/main" id="{FEFCA386-BEC5-4B6C-1206-FAEED7EBA46F}"/>
              </a:ext>
            </a:extLst>
          </p:cNvPr>
          <p:cNvSpPr>
            <a:spLocks noGrp="1"/>
          </p:cNvSpPr>
          <p:nvPr/>
        </p:nvSpPr>
        <p:spPr>
          <a:xfrm>
            <a:off x="1357648" y="1459243"/>
            <a:ext cx="7224735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P: 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terça-feira</a:t>
            </a:r>
            <a:r>
              <a:rPr dirty="0"/>
              <a:t>.</a:t>
            </a:r>
          </a:p>
        </p:txBody>
      </p:sp>
      <p:sp>
        <p:nvSpPr>
          <p:cNvPr id="204" name="Q:  It is raining.">
            <a:extLst>
              <a:ext uri="{FF2B5EF4-FFF2-40B4-BE49-F238E27FC236}">
                <a16:creationId xmlns:a16="http://schemas.microsoft.com/office/drawing/2014/main" id="{4335592C-6561-D656-5957-60A54E0A541D}"/>
              </a:ext>
            </a:extLst>
          </p:cNvPr>
          <p:cNvSpPr>
            <a:spLocks noGrp="1"/>
          </p:cNvSpPr>
          <p:nvPr/>
        </p:nvSpPr>
        <p:spPr>
          <a:xfrm>
            <a:off x="1357648" y="3167527"/>
            <a:ext cx="7965322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Q: 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chovendo</a:t>
            </a:r>
            <a:r>
              <a:rPr dirty="0"/>
              <a:t>.</a:t>
            </a:r>
          </a:p>
        </p:txBody>
      </p:sp>
      <p:sp>
        <p:nvSpPr>
          <p:cNvPr id="205" name="R:  Harry will go for a run.">
            <a:extLst>
              <a:ext uri="{FF2B5EF4-FFF2-40B4-BE49-F238E27FC236}">
                <a16:creationId xmlns:a16="http://schemas.microsoft.com/office/drawing/2014/main" id="{BDC562AB-3BCC-45D2-9446-D04293E0A356}"/>
              </a:ext>
            </a:extLst>
          </p:cNvPr>
          <p:cNvSpPr>
            <a:spLocks noGrp="1"/>
          </p:cNvSpPr>
          <p:nvPr/>
        </p:nvSpPr>
        <p:spPr>
          <a:xfrm>
            <a:off x="1357648" y="4875811"/>
            <a:ext cx="8582991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R:  Harry </a:t>
            </a:r>
            <a:r>
              <a:rPr lang="pt-BR" dirty="0"/>
              <a:t>vai </a:t>
            </a:r>
            <a:r>
              <a:rPr dirty="0" err="1"/>
              <a:t>correr</a:t>
            </a:r>
            <a:r>
              <a:rPr dirty="0"/>
              <a:t>.</a:t>
            </a:r>
          </a:p>
        </p:txBody>
      </p:sp>
      <p:sp>
        <p:nvSpPr>
          <p:cNvPr id="2" name="KB:">
            <a:extLst>
              <a:ext uri="{FF2B5EF4-FFF2-40B4-BE49-F238E27FC236}">
                <a16:creationId xmlns:a16="http://schemas.microsoft.com/office/drawing/2014/main" id="{2CB8C72F-5713-7004-395E-1E850DE7DAF9}"/>
              </a:ext>
            </a:extLst>
          </p:cNvPr>
          <p:cNvSpPr>
            <a:spLocks noGrp="1"/>
          </p:cNvSpPr>
          <p:nvPr/>
        </p:nvSpPr>
        <p:spPr>
          <a:xfrm>
            <a:off x="1498055" y="7566311"/>
            <a:ext cx="180796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rPr dirty="0"/>
              <a:t>KB:</a:t>
            </a:r>
          </a:p>
        </p:txBody>
      </p:sp>
      <p:sp>
        <p:nvSpPr>
          <p:cNvPr id="3" name="(P ∧ ¬Q) → R">
            <a:extLst>
              <a:ext uri="{FF2B5EF4-FFF2-40B4-BE49-F238E27FC236}">
                <a16:creationId xmlns:a16="http://schemas.microsoft.com/office/drawing/2014/main" id="{0C15A840-B810-F899-D2F3-71E162548143}"/>
              </a:ext>
            </a:extLst>
          </p:cNvPr>
          <p:cNvSpPr>
            <a:spLocks noGrp="1"/>
          </p:cNvSpPr>
          <p:nvPr/>
        </p:nvSpPr>
        <p:spPr>
          <a:xfrm>
            <a:off x="4814426" y="7549195"/>
            <a:ext cx="5955805" cy="124837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P </a:t>
            </a:r>
            <a:r>
              <a:t>∧ ¬</a:t>
            </a:r>
            <a:r>
              <a:rPr i="1"/>
              <a:t>Q</a:t>
            </a:r>
            <a:r>
              <a:t>) → </a:t>
            </a:r>
            <a:r>
              <a:rPr i="1"/>
              <a:t>R</a:t>
            </a:r>
          </a:p>
        </p:txBody>
      </p:sp>
      <p:sp>
        <p:nvSpPr>
          <p:cNvPr id="4" name="P">
            <a:extLst>
              <a:ext uri="{FF2B5EF4-FFF2-40B4-BE49-F238E27FC236}">
                <a16:creationId xmlns:a16="http://schemas.microsoft.com/office/drawing/2014/main" id="{1C31C72B-1C0D-A656-922B-5537B824D54B}"/>
              </a:ext>
            </a:extLst>
          </p:cNvPr>
          <p:cNvSpPr>
            <a:spLocks noGrp="1"/>
          </p:cNvSpPr>
          <p:nvPr/>
        </p:nvSpPr>
        <p:spPr>
          <a:xfrm>
            <a:off x="14268491" y="7566311"/>
            <a:ext cx="73491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542506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0AE4B-4BAD-E295-62A1-0760C8030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:  It is a Tuesday.">
            <a:extLst>
              <a:ext uri="{FF2B5EF4-FFF2-40B4-BE49-F238E27FC236}">
                <a16:creationId xmlns:a16="http://schemas.microsoft.com/office/drawing/2014/main" id="{EB5CA484-5799-C52B-B814-724187308F22}"/>
              </a:ext>
            </a:extLst>
          </p:cNvPr>
          <p:cNvSpPr>
            <a:spLocks noGrp="1"/>
          </p:cNvSpPr>
          <p:nvPr/>
        </p:nvSpPr>
        <p:spPr>
          <a:xfrm>
            <a:off x="1357648" y="1459243"/>
            <a:ext cx="7224735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P: 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terça-feira</a:t>
            </a:r>
            <a:r>
              <a:rPr dirty="0"/>
              <a:t>.</a:t>
            </a:r>
          </a:p>
        </p:txBody>
      </p:sp>
      <p:sp>
        <p:nvSpPr>
          <p:cNvPr id="204" name="Q:  It is raining.">
            <a:extLst>
              <a:ext uri="{FF2B5EF4-FFF2-40B4-BE49-F238E27FC236}">
                <a16:creationId xmlns:a16="http://schemas.microsoft.com/office/drawing/2014/main" id="{D73110AD-0552-F117-E959-6F3E561F73C4}"/>
              </a:ext>
            </a:extLst>
          </p:cNvPr>
          <p:cNvSpPr>
            <a:spLocks noGrp="1"/>
          </p:cNvSpPr>
          <p:nvPr/>
        </p:nvSpPr>
        <p:spPr>
          <a:xfrm>
            <a:off x="1357648" y="3167527"/>
            <a:ext cx="7965322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Q: 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chovendo</a:t>
            </a:r>
            <a:r>
              <a:rPr dirty="0"/>
              <a:t>.</a:t>
            </a:r>
          </a:p>
        </p:txBody>
      </p:sp>
      <p:sp>
        <p:nvSpPr>
          <p:cNvPr id="205" name="R:  Harry will go for a run.">
            <a:extLst>
              <a:ext uri="{FF2B5EF4-FFF2-40B4-BE49-F238E27FC236}">
                <a16:creationId xmlns:a16="http://schemas.microsoft.com/office/drawing/2014/main" id="{C6A158D9-27F7-0BB5-1AEE-C9FC3AC591C8}"/>
              </a:ext>
            </a:extLst>
          </p:cNvPr>
          <p:cNvSpPr>
            <a:spLocks noGrp="1"/>
          </p:cNvSpPr>
          <p:nvPr/>
        </p:nvSpPr>
        <p:spPr>
          <a:xfrm>
            <a:off x="1357648" y="4875811"/>
            <a:ext cx="8582991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R:  Harry </a:t>
            </a:r>
            <a:r>
              <a:rPr lang="pt-BR" dirty="0"/>
              <a:t>vai </a:t>
            </a:r>
            <a:r>
              <a:rPr dirty="0" err="1"/>
              <a:t>correr</a:t>
            </a:r>
            <a:r>
              <a:rPr dirty="0"/>
              <a:t>.</a:t>
            </a:r>
          </a:p>
        </p:txBody>
      </p:sp>
      <p:sp>
        <p:nvSpPr>
          <p:cNvPr id="2" name="KB:">
            <a:extLst>
              <a:ext uri="{FF2B5EF4-FFF2-40B4-BE49-F238E27FC236}">
                <a16:creationId xmlns:a16="http://schemas.microsoft.com/office/drawing/2014/main" id="{2EF492A7-0862-E36B-47FA-6B6CE4798CFD}"/>
              </a:ext>
            </a:extLst>
          </p:cNvPr>
          <p:cNvSpPr>
            <a:spLocks noGrp="1"/>
          </p:cNvSpPr>
          <p:nvPr/>
        </p:nvSpPr>
        <p:spPr>
          <a:xfrm>
            <a:off x="1498055" y="7566311"/>
            <a:ext cx="180796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rPr dirty="0"/>
              <a:t>KB:</a:t>
            </a:r>
          </a:p>
        </p:txBody>
      </p:sp>
      <p:sp>
        <p:nvSpPr>
          <p:cNvPr id="3" name="(P ∧ ¬Q) → R">
            <a:extLst>
              <a:ext uri="{FF2B5EF4-FFF2-40B4-BE49-F238E27FC236}">
                <a16:creationId xmlns:a16="http://schemas.microsoft.com/office/drawing/2014/main" id="{1C11C400-D640-E4B3-915E-37A8169D3F22}"/>
              </a:ext>
            </a:extLst>
          </p:cNvPr>
          <p:cNvSpPr>
            <a:spLocks noGrp="1"/>
          </p:cNvSpPr>
          <p:nvPr/>
        </p:nvSpPr>
        <p:spPr>
          <a:xfrm>
            <a:off x="4814426" y="7549195"/>
            <a:ext cx="5955805" cy="124837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P </a:t>
            </a:r>
            <a:r>
              <a:t>∧ ¬</a:t>
            </a:r>
            <a:r>
              <a:rPr i="1"/>
              <a:t>Q</a:t>
            </a:r>
            <a:r>
              <a:t>) → </a:t>
            </a:r>
            <a:r>
              <a:rPr i="1"/>
              <a:t>R</a:t>
            </a:r>
          </a:p>
        </p:txBody>
      </p:sp>
      <p:sp>
        <p:nvSpPr>
          <p:cNvPr id="4" name="P">
            <a:extLst>
              <a:ext uri="{FF2B5EF4-FFF2-40B4-BE49-F238E27FC236}">
                <a16:creationId xmlns:a16="http://schemas.microsoft.com/office/drawing/2014/main" id="{62305546-D79A-A980-77DC-62E26D927C5D}"/>
              </a:ext>
            </a:extLst>
          </p:cNvPr>
          <p:cNvSpPr>
            <a:spLocks noGrp="1"/>
          </p:cNvSpPr>
          <p:nvPr/>
        </p:nvSpPr>
        <p:spPr>
          <a:xfrm>
            <a:off x="14268491" y="7566311"/>
            <a:ext cx="73491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P</a:t>
            </a:r>
          </a:p>
        </p:txBody>
      </p:sp>
      <p:sp>
        <p:nvSpPr>
          <p:cNvPr id="5" name="¬Q">
            <a:extLst>
              <a:ext uri="{FF2B5EF4-FFF2-40B4-BE49-F238E27FC236}">
                <a16:creationId xmlns:a16="http://schemas.microsoft.com/office/drawing/2014/main" id="{0858452B-63DA-1C60-E6B4-FB5F7BD1FBF6}"/>
              </a:ext>
            </a:extLst>
          </p:cNvPr>
          <p:cNvSpPr>
            <a:spLocks noGrp="1"/>
          </p:cNvSpPr>
          <p:nvPr/>
        </p:nvSpPr>
        <p:spPr>
          <a:xfrm>
            <a:off x="18492240" y="7566311"/>
            <a:ext cx="153362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¬Q</a:t>
            </a:r>
          </a:p>
        </p:txBody>
      </p:sp>
    </p:spTree>
    <p:extLst>
      <p:ext uri="{BB962C8B-B14F-4D97-AF65-F5344CB8AC3E}">
        <p14:creationId xmlns:p14="http://schemas.microsoft.com/office/powerpoint/2010/main" val="13799473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6D0CA-796A-C0CF-91B1-0517AEB9A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:  It is a Tuesday.">
            <a:extLst>
              <a:ext uri="{FF2B5EF4-FFF2-40B4-BE49-F238E27FC236}">
                <a16:creationId xmlns:a16="http://schemas.microsoft.com/office/drawing/2014/main" id="{E456151A-87E6-F7B1-FCF8-A86C6499D605}"/>
              </a:ext>
            </a:extLst>
          </p:cNvPr>
          <p:cNvSpPr>
            <a:spLocks noGrp="1"/>
          </p:cNvSpPr>
          <p:nvPr/>
        </p:nvSpPr>
        <p:spPr>
          <a:xfrm>
            <a:off x="1357648" y="1459243"/>
            <a:ext cx="7224735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P: 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terça-feira</a:t>
            </a:r>
            <a:r>
              <a:rPr dirty="0"/>
              <a:t>.</a:t>
            </a:r>
          </a:p>
        </p:txBody>
      </p:sp>
      <p:sp>
        <p:nvSpPr>
          <p:cNvPr id="204" name="Q:  It is raining.">
            <a:extLst>
              <a:ext uri="{FF2B5EF4-FFF2-40B4-BE49-F238E27FC236}">
                <a16:creationId xmlns:a16="http://schemas.microsoft.com/office/drawing/2014/main" id="{EC3AFE54-A455-DDE4-98FE-AF7D8997435E}"/>
              </a:ext>
            </a:extLst>
          </p:cNvPr>
          <p:cNvSpPr>
            <a:spLocks noGrp="1"/>
          </p:cNvSpPr>
          <p:nvPr/>
        </p:nvSpPr>
        <p:spPr>
          <a:xfrm>
            <a:off x="1357648" y="3167527"/>
            <a:ext cx="7965322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Q: 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chovendo</a:t>
            </a:r>
            <a:r>
              <a:rPr dirty="0"/>
              <a:t>.</a:t>
            </a:r>
          </a:p>
        </p:txBody>
      </p:sp>
      <p:sp>
        <p:nvSpPr>
          <p:cNvPr id="205" name="R:  Harry will go for a run.">
            <a:extLst>
              <a:ext uri="{FF2B5EF4-FFF2-40B4-BE49-F238E27FC236}">
                <a16:creationId xmlns:a16="http://schemas.microsoft.com/office/drawing/2014/main" id="{E9ABB8B5-36C7-5D8A-FA31-D99A631FB8C5}"/>
              </a:ext>
            </a:extLst>
          </p:cNvPr>
          <p:cNvSpPr>
            <a:spLocks noGrp="1"/>
          </p:cNvSpPr>
          <p:nvPr/>
        </p:nvSpPr>
        <p:spPr>
          <a:xfrm>
            <a:off x="1357648" y="4875811"/>
            <a:ext cx="8582991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R:  Harry </a:t>
            </a:r>
            <a:r>
              <a:rPr lang="pt-BR" dirty="0"/>
              <a:t>vai </a:t>
            </a:r>
            <a:r>
              <a:rPr dirty="0" err="1"/>
              <a:t>correr</a:t>
            </a:r>
            <a:r>
              <a:rPr dirty="0"/>
              <a:t>.</a:t>
            </a:r>
          </a:p>
        </p:txBody>
      </p:sp>
      <p:sp>
        <p:nvSpPr>
          <p:cNvPr id="2" name="KB:">
            <a:extLst>
              <a:ext uri="{FF2B5EF4-FFF2-40B4-BE49-F238E27FC236}">
                <a16:creationId xmlns:a16="http://schemas.microsoft.com/office/drawing/2014/main" id="{9E2C552B-17B2-8609-D63F-53482AEA19BE}"/>
              </a:ext>
            </a:extLst>
          </p:cNvPr>
          <p:cNvSpPr>
            <a:spLocks noGrp="1"/>
          </p:cNvSpPr>
          <p:nvPr/>
        </p:nvSpPr>
        <p:spPr>
          <a:xfrm>
            <a:off x="1498055" y="7566311"/>
            <a:ext cx="180796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rPr dirty="0"/>
              <a:t>KB:</a:t>
            </a:r>
          </a:p>
        </p:txBody>
      </p:sp>
      <p:sp>
        <p:nvSpPr>
          <p:cNvPr id="3" name="(P ∧ ¬Q) → R">
            <a:extLst>
              <a:ext uri="{FF2B5EF4-FFF2-40B4-BE49-F238E27FC236}">
                <a16:creationId xmlns:a16="http://schemas.microsoft.com/office/drawing/2014/main" id="{3222B8AE-09A0-D64E-AF98-ACDC806ED22B}"/>
              </a:ext>
            </a:extLst>
          </p:cNvPr>
          <p:cNvSpPr>
            <a:spLocks noGrp="1"/>
          </p:cNvSpPr>
          <p:nvPr/>
        </p:nvSpPr>
        <p:spPr>
          <a:xfrm>
            <a:off x="4814426" y="7549195"/>
            <a:ext cx="5955805" cy="124837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P </a:t>
            </a:r>
            <a:r>
              <a:t>∧ ¬</a:t>
            </a:r>
            <a:r>
              <a:rPr i="1"/>
              <a:t>Q</a:t>
            </a:r>
            <a:r>
              <a:t>) → </a:t>
            </a:r>
            <a:r>
              <a:rPr i="1"/>
              <a:t>R</a:t>
            </a:r>
          </a:p>
        </p:txBody>
      </p:sp>
      <p:sp>
        <p:nvSpPr>
          <p:cNvPr id="4" name="P">
            <a:extLst>
              <a:ext uri="{FF2B5EF4-FFF2-40B4-BE49-F238E27FC236}">
                <a16:creationId xmlns:a16="http://schemas.microsoft.com/office/drawing/2014/main" id="{21FCF671-7179-BF86-0564-18AFE147253C}"/>
              </a:ext>
            </a:extLst>
          </p:cNvPr>
          <p:cNvSpPr>
            <a:spLocks noGrp="1"/>
          </p:cNvSpPr>
          <p:nvPr/>
        </p:nvSpPr>
        <p:spPr>
          <a:xfrm>
            <a:off x="14268491" y="7566311"/>
            <a:ext cx="73491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P</a:t>
            </a:r>
          </a:p>
        </p:txBody>
      </p:sp>
      <p:sp>
        <p:nvSpPr>
          <p:cNvPr id="5" name="¬Q">
            <a:extLst>
              <a:ext uri="{FF2B5EF4-FFF2-40B4-BE49-F238E27FC236}">
                <a16:creationId xmlns:a16="http://schemas.microsoft.com/office/drawing/2014/main" id="{F553D191-C606-275D-090D-FC899A48E7D5}"/>
              </a:ext>
            </a:extLst>
          </p:cNvPr>
          <p:cNvSpPr>
            <a:spLocks noGrp="1"/>
          </p:cNvSpPr>
          <p:nvPr/>
        </p:nvSpPr>
        <p:spPr>
          <a:xfrm>
            <a:off x="18492240" y="7566311"/>
            <a:ext cx="153362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¬Q</a:t>
            </a:r>
          </a:p>
        </p:txBody>
      </p:sp>
      <p:sp>
        <p:nvSpPr>
          <p:cNvPr id="6" name="Inference:">
            <a:extLst>
              <a:ext uri="{FF2B5EF4-FFF2-40B4-BE49-F238E27FC236}">
                <a16:creationId xmlns:a16="http://schemas.microsoft.com/office/drawing/2014/main" id="{F9CBCA49-9135-C48A-20A0-5F4FC2322D20}"/>
              </a:ext>
            </a:extLst>
          </p:cNvPr>
          <p:cNvSpPr>
            <a:spLocks noGrp="1"/>
          </p:cNvSpPr>
          <p:nvPr/>
        </p:nvSpPr>
        <p:spPr>
          <a:xfrm>
            <a:off x="1498055" y="10130094"/>
            <a:ext cx="4632723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Inferência:</a:t>
            </a:r>
          </a:p>
        </p:txBody>
      </p:sp>
    </p:spTree>
    <p:extLst>
      <p:ext uri="{BB962C8B-B14F-4D97-AF65-F5344CB8AC3E}">
        <p14:creationId xmlns:p14="http://schemas.microsoft.com/office/powerpoint/2010/main" val="2226734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18336-871C-42C3-CC49-0540E870F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:  It is a Tuesday.">
            <a:extLst>
              <a:ext uri="{FF2B5EF4-FFF2-40B4-BE49-F238E27FC236}">
                <a16:creationId xmlns:a16="http://schemas.microsoft.com/office/drawing/2014/main" id="{964DD2F5-BF3A-FDF0-D283-4E6C36A84C33}"/>
              </a:ext>
            </a:extLst>
          </p:cNvPr>
          <p:cNvSpPr>
            <a:spLocks noGrp="1"/>
          </p:cNvSpPr>
          <p:nvPr/>
        </p:nvSpPr>
        <p:spPr>
          <a:xfrm>
            <a:off x="1357648" y="1459243"/>
            <a:ext cx="7224735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P: 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terça-feira</a:t>
            </a:r>
            <a:r>
              <a:rPr dirty="0"/>
              <a:t>.</a:t>
            </a:r>
          </a:p>
        </p:txBody>
      </p:sp>
      <p:sp>
        <p:nvSpPr>
          <p:cNvPr id="204" name="Q:  It is raining.">
            <a:extLst>
              <a:ext uri="{FF2B5EF4-FFF2-40B4-BE49-F238E27FC236}">
                <a16:creationId xmlns:a16="http://schemas.microsoft.com/office/drawing/2014/main" id="{640F10B8-A32E-E226-82A6-0ACB88DB3B2B}"/>
              </a:ext>
            </a:extLst>
          </p:cNvPr>
          <p:cNvSpPr>
            <a:spLocks noGrp="1"/>
          </p:cNvSpPr>
          <p:nvPr/>
        </p:nvSpPr>
        <p:spPr>
          <a:xfrm>
            <a:off x="1357648" y="3167527"/>
            <a:ext cx="7965322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Q: 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chovendo</a:t>
            </a:r>
            <a:r>
              <a:rPr dirty="0"/>
              <a:t>.</a:t>
            </a:r>
          </a:p>
        </p:txBody>
      </p:sp>
      <p:sp>
        <p:nvSpPr>
          <p:cNvPr id="205" name="R:  Harry will go for a run.">
            <a:extLst>
              <a:ext uri="{FF2B5EF4-FFF2-40B4-BE49-F238E27FC236}">
                <a16:creationId xmlns:a16="http://schemas.microsoft.com/office/drawing/2014/main" id="{4AD06090-657A-817E-AC5A-B06F3DD4BE1F}"/>
              </a:ext>
            </a:extLst>
          </p:cNvPr>
          <p:cNvSpPr>
            <a:spLocks noGrp="1"/>
          </p:cNvSpPr>
          <p:nvPr/>
        </p:nvSpPr>
        <p:spPr>
          <a:xfrm>
            <a:off x="1357648" y="4875811"/>
            <a:ext cx="8582991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R:  Harry </a:t>
            </a:r>
            <a:r>
              <a:rPr lang="pt-BR" dirty="0"/>
              <a:t>vai </a:t>
            </a:r>
            <a:r>
              <a:rPr dirty="0" err="1"/>
              <a:t>correr</a:t>
            </a:r>
            <a:r>
              <a:rPr dirty="0"/>
              <a:t>.</a:t>
            </a:r>
          </a:p>
        </p:txBody>
      </p:sp>
      <p:sp>
        <p:nvSpPr>
          <p:cNvPr id="2" name="KB:">
            <a:extLst>
              <a:ext uri="{FF2B5EF4-FFF2-40B4-BE49-F238E27FC236}">
                <a16:creationId xmlns:a16="http://schemas.microsoft.com/office/drawing/2014/main" id="{1C8A8D0D-6F86-3FE6-5BE6-9A5125264683}"/>
              </a:ext>
            </a:extLst>
          </p:cNvPr>
          <p:cNvSpPr>
            <a:spLocks noGrp="1"/>
          </p:cNvSpPr>
          <p:nvPr/>
        </p:nvSpPr>
        <p:spPr>
          <a:xfrm>
            <a:off x="1498055" y="7566311"/>
            <a:ext cx="180796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rPr dirty="0"/>
              <a:t>KB:</a:t>
            </a:r>
          </a:p>
        </p:txBody>
      </p:sp>
      <p:sp>
        <p:nvSpPr>
          <p:cNvPr id="3" name="(P ∧ ¬Q) → R">
            <a:extLst>
              <a:ext uri="{FF2B5EF4-FFF2-40B4-BE49-F238E27FC236}">
                <a16:creationId xmlns:a16="http://schemas.microsoft.com/office/drawing/2014/main" id="{F0999A25-9F38-7373-55DE-B9BCF7054395}"/>
              </a:ext>
            </a:extLst>
          </p:cNvPr>
          <p:cNvSpPr>
            <a:spLocks noGrp="1"/>
          </p:cNvSpPr>
          <p:nvPr/>
        </p:nvSpPr>
        <p:spPr>
          <a:xfrm>
            <a:off x="4814426" y="7549195"/>
            <a:ext cx="5955805" cy="124837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P </a:t>
            </a:r>
            <a:r>
              <a:t>∧ ¬</a:t>
            </a:r>
            <a:r>
              <a:rPr i="1"/>
              <a:t>Q</a:t>
            </a:r>
            <a:r>
              <a:t>) → </a:t>
            </a:r>
            <a:r>
              <a:rPr i="1"/>
              <a:t>R</a:t>
            </a:r>
          </a:p>
        </p:txBody>
      </p:sp>
      <p:sp>
        <p:nvSpPr>
          <p:cNvPr id="4" name="P">
            <a:extLst>
              <a:ext uri="{FF2B5EF4-FFF2-40B4-BE49-F238E27FC236}">
                <a16:creationId xmlns:a16="http://schemas.microsoft.com/office/drawing/2014/main" id="{53B26E36-7D82-4AA7-BAC9-E5E5AC2A5713}"/>
              </a:ext>
            </a:extLst>
          </p:cNvPr>
          <p:cNvSpPr>
            <a:spLocks noGrp="1"/>
          </p:cNvSpPr>
          <p:nvPr/>
        </p:nvSpPr>
        <p:spPr>
          <a:xfrm>
            <a:off x="14268491" y="7566311"/>
            <a:ext cx="73491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P</a:t>
            </a:r>
          </a:p>
        </p:txBody>
      </p:sp>
      <p:sp>
        <p:nvSpPr>
          <p:cNvPr id="5" name="¬Q">
            <a:extLst>
              <a:ext uri="{FF2B5EF4-FFF2-40B4-BE49-F238E27FC236}">
                <a16:creationId xmlns:a16="http://schemas.microsoft.com/office/drawing/2014/main" id="{F8F1323A-DB73-6CA6-2BF3-1ABBD205B213}"/>
              </a:ext>
            </a:extLst>
          </p:cNvPr>
          <p:cNvSpPr>
            <a:spLocks noGrp="1"/>
          </p:cNvSpPr>
          <p:nvPr/>
        </p:nvSpPr>
        <p:spPr>
          <a:xfrm>
            <a:off x="18492240" y="7566311"/>
            <a:ext cx="153362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¬Q</a:t>
            </a:r>
          </a:p>
        </p:txBody>
      </p:sp>
      <p:sp>
        <p:nvSpPr>
          <p:cNvPr id="6" name="Inference:">
            <a:extLst>
              <a:ext uri="{FF2B5EF4-FFF2-40B4-BE49-F238E27FC236}">
                <a16:creationId xmlns:a16="http://schemas.microsoft.com/office/drawing/2014/main" id="{84B89AE5-0662-46E7-3206-8D550A457B95}"/>
              </a:ext>
            </a:extLst>
          </p:cNvPr>
          <p:cNvSpPr>
            <a:spLocks noGrp="1"/>
          </p:cNvSpPr>
          <p:nvPr/>
        </p:nvSpPr>
        <p:spPr>
          <a:xfrm>
            <a:off x="1498055" y="10130094"/>
            <a:ext cx="4632723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Inferência:</a:t>
            </a:r>
          </a:p>
        </p:txBody>
      </p:sp>
      <p:sp>
        <p:nvSpPr>
          <p:cNvPr id="7" name="R">
            <a:extLst>
              <a:ext uri="{FF2B5EF4-FFF2-40B4-BE49-F238E27FC236}">
                <a16:creationId xmlns:a16="http://schemas.microsoft.com/office/drawing/2014/main" id="{A3A8527D-2566-ADC7-7E59-460513F1C3F7}"/>
              </a:ext>
            </a:extLst>
          </p:cNvPr>
          <p:cNvSpPr>
            <a:spLocks noGrp="1"/>
          </p:cNvSpPr>
          <p:nvPr/>
        </p:nvSpPr>
        <p:spPr>
          <a:xfrm>
            <a:off x="7739570" y="10123645"/>
            <a:ext cx="729367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rPr dirty="0">
                <a:solidFill>
                  <a:schemeClr val="accent4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39551660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Inference Algorithms">
            <a:extLst>
              <a:ext uri="{FF2B5EF4-FFF2-40B4-BE49-F238E27FC236}">
                <a16:creationId xmlns:a16="http://schemas.microsoft.com/office/drawing/2014/main" id="{34FEEE38-6877-4772-A634-6AEED8EDA03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Algoritmos de Inferência</a:t>
            </a:r>
          </a:p>
        </p:txBody>
      </p:sp>
    </p:spTree>
    <p:extLst>
      <p:ext uri="{BB962C8B-B14F-4D97-AF65-F5344CB8AC3E}">
        <p14:creationId xmlns:p14="http://schemas.microsoft.com/office/powerpoint/2010/main" val="13860308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Does">
            <a:extLst>
              <a:ext uri="{FF2B5EF4-FFF2-40B4-BE49-F238E27FC236}">
                <a16:creationId xmlns:a16="http://schemas.microsoft.com/office/drawing/2014/main" id="{9FFD9E89-AFC6-4861-855D-7A60594483A2}"/>
              </a:ext>
            </a:extLst>
          </p:cNvPr>
          <p:cNvSpPr>
            <a:spLocks noGrp="1"/>
          </p:cNvSpPr>
          <p:nvPr/>
        </p:nvSpPr>
        <p:spPr>
          <a:xfrm>
            <a:off x="1778000" y="1127263"/>
            <a:ext cx="20828000" cy="46482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>
              <a:buNone/>
              <a:defRPr sz="9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/>
              <a:t>Será</a:t>
            </a:r>
            <a:r>
              <a:rPr dirty="0"/>
              <a:t> </a:t>
            </a:r>
            <a:r>
              <a:rPr dirty="0" err="1"/>
              <a:t>que</a:t>
            </a:r>
            <a:endParaRPr dirty="0"/>
          </a:p>
        </p:txBody>
      </p:sp>
      <p:sp>
        <p:nvSpPr>
          <p:cNvPr id="216" name="?">
            <a:extLst>
              <a:ext uri="{FF2B5EF4-FFF2-40B4-BE49-F238E27FC236}">
                <a16:creationId xmlns:a16="http://schemas.microsoft.com/office/drawing/2014/main" id="{DE95E5B0-3BEB-4C3F-A47D-FBB2118A2909}"/>
              </a:ext>
            </a:extLst>
          </p:cNvPr>
          <p:cNvSpPr>
            <a:spLocks noGrp="1"/>
          </p:cNvSpPr>
          <p:nvPr/>
        </p:nvSpPr>
        <p:spPr>
          <a:xfrm>
            <a:off x="1778000" y="8068552"/>
            <a:ext cx="20828000" cy="46482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>
              <a:buNone/>
              <a:defRPr sz="9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?</a:t>
            </a:r>
          </a:p>
        </p:txBody>
      </p:sp>
      <p:sp>
        <p:nvSpPr>
          <p:cNvPr id="217" name="KB ⊨ α">
            <a:extLst>
              <a:ext uri="{FF2B5EF4-FFF2-40B4-BE49-F238E27FC236}">
                <a16:creationId xmlns:a16="http://schemas.microsoft.com/office/drawing/2014/main" id="{675551BB-3B9D-4643-8720-895F8904AF7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dirty="0"/>
              <a:t>KB ⊨ </a:t>
            </a:r>
            <a:r>
              <a:rPr i="1" dirty="0"/>
              <a:t>α</a:t>
            </a:r>
          </a:p>
        </p:txBody>
      </p:sp>
    </p:spTree>
    <p:extLst>
      <p:ext uri="{BB962C8B-B14F-4D97-AF65-F5344CB8AC3E}">
        <p14:creationId xmlns:p14="http://schemas.microsoft.com/office/powerpoint/2010/main" val="404356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Model Checking">
            <a:extLst>
              <a:ext uri="{FF2B5EF4-FFF2-40B4-BE49-F238E27FC236}">
                <a16:creationId xmlns:a16="http://schemas.microsoft.com/office/drawing/2014/main" id="{E61B9FBA-186B-446C-95F5-3219C866BDB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Verificação de Modelos</a:t>
            </a:r>
          </a:p>
        </p:txBody>
      </p:sp>
    </p:spTree>
    <p:extLst>
      <p:ext uri="{BB962C8B-B14F-4D97-AF65-F5344CB8AC3E}">
        <p14:creationId xmlns:p14="http://schemas.microsoft.com/office/powerpoint/2010/main" val="5304255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Model Checking">
            <a:extLst>
              <a:ext uri="{FF2B5EF4-FFF2-40B4-BE49-F238E27FC236}">
                <a16:creationId xmlns:a16="http://schemas.microsoft.com/office/drawing/2014/main" id="{7E0D27E8-00A3-483B-B0B1-C182267F015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Verificação de Modelos</a:t>
            </a:r>
          </a:p>
        </p:txBody>
      </p:sp>
    </p:spTree>
    <p:extLst>
      <p:ext uri="{BB962C8B-B14F-4D97-AF65-F5344CB8AC3E}">
        <p14:creationId xmlns:p14="http://schemas.microsoft.com/office/powerpoint/2010/main" val="10145808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71BFB-B33A-6977-5D50-0667D9DE2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Model Checking">
            <a:extLst>
              <a:ext uri="{FF2B5EF4-FFF2-40B4-BE49-F238E27FC236}">
                <a16:creationId xmlns:a16="http://schemas.microsoft.com/office/drawing/2014/main" id="{E4F3B73C-0B56-5A80-25C9-E8BA1FAB30C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Verificação de Modelos</a:t>
            </a:r>
          </a:p>
        </p:txBody>
      </p:sp>
      <p:sp>
        <p:nvSpPr>
          <p:cNvPr id="222" name="To determine if KB ⊨ α:…">
            <a:extLst>
              <a:ext uri="{FF2B5EF4-FFF2-40B4-BE49-F238E27FC236}">
                <a16:creationId xmlns:a16="http://schemas.microsoft.com/office/drawing/2014/main" id="{92903071-F8DE-34E9-FB6D-5D733F68C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890476"/>
            <a:ext cx="21005800" cy="9296400"/>
          </a:xfrm>
          <a:prstGeom prst="rect">
            <a:avLst/>
          </a:prstGeom>
        </p:spPr>
        <p:txBody>
          <a:bodyPr anchor="t" anchorCtr="0"/>
          <a:lstStyle/>
          <a:p>
            <a:r>
              <a:rPr dirty="0"/>
              <a:t>Para </a:t>
            </a:r>
            <a:r>
              <a:rPr dirty="0" err="1"/>
              <a:t>determinar</a:t>
            </a:r>
            <a:r>
              <a:rPr dirty="0"/>
              <a:t> se </a:t>
            </a:r>
            <a:r>
              <a:rPr i="1" dirty="0"/>
              <a:t>KB</a:t>
            </a:r>
            <a:r>
              <a:rPr dirty="0"/>
              <a:t> ⊨ </a:t>
            </a:r>
            <a:r>
              <a:rPr i="1" dirty="0"/>
              <a:t>α</a:t>
            </a:r>
            <a:r>
              <a:rPr dirty="0"/>
              <a:t>:</a:t>
            </a:r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32814713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96478-64B1-B97D-6FF8-01E4F56BE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Model Checking">
            <a:extLst>
              <a:ext uri="{FF2B5EF4-FFF2-40B4-BE49-F238E27FC236}">
                <a16:creationId xmlns:a16="http://schemas.microsoft.com/office/drawing/2014/main" id="{CF74F3D9-B888-A23B-EBA3-FEF9C7878ED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Verificação de Modelos</a:t>
            </a:r>
          </a:p>
        </p:txBody>
      </p:sp>
      <p:sp>
        <p:nvSpPr>
          <p:cNvPr id="222" name="To determine if KB ⊨ α:…">
            <a:extLst>
              <a:ext uri="{FF2B5EF4-FFF2-40B4-BE49-F238E27FC236}">
                <a16:creationId xmlns:a16="http://schemas.microsoft.com/office/drawing/2014/main" id="{99A88B9F-EA1B-B3E2-6E97-72E6DAF18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890476"/>
            <a:ext cx="21005800" cy="9296400"/>
          </a:xfrm>
          <a:prstGeom prst="rect">
            <a:avLst/>
          </a:prstGeom>
        </p:spPr>
        <p:txBody>
          <a:bodyPr anchor="t" anchorCtr="0"/>
          <a:lstStyle/>
          <a:p>
            <a:r>
              <a:rPr dirty="0"/>
              <a:t>Para </a:t>
            </a:r>
            <a:r>
              <a:rPr dirty="0" err="1"/>
              <a:t>determinar</a:t>
            </a:r>
            <a:r>
              <a:rPr dirty="0"/>
              <a:t> se </a:t>
            </a:r>
            <a:r>
              <a:rPr i="1" dirty="0"/>
              <a:t>KB</a:t>
            </a:r>
            <a:r>
              <a:rPr dirty="0"/>
              <a:t> ⊨ </a:t>
            </a:r>
            <a:r>
              <a:rPr i="1" dirty="0"/>
              <a:t>α</a:t>
            </a:r>
            <a:r>
              <a:rPr dirty="0"/>
              <a:t>:</a:t>
            </a:r>
            <a:endParaRPr lang="en-BR" dirty="0"/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 err="1"/>
              <a:t>Enumere</a:t>
            </a:r>
            <a:r>
              <a:rPr lang="en-US" dirty="0"/>
              <a:t>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possíveis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51929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AA7CD-A355-D2CC-725C-5977270B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Model Checking">
            <a:extLst>
              <a:ext uri="{FF2B5EF4-FFF2-40B4-BE49-F238E27FC236}">
                <a16:creationId xmlns:a16="http://schemas.microsoft.com/office/drawing/2014/main" id="{F2759345-702A-560E-0E96-A28BF8ECF7E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Verificação de Modelos</a:t>
            </a:r>
          </a:p>
        </p:txBody>
      </p:sp>
      <p:sp>
        <p:nvSpPr>
          <p:cNvPr id="222" name="To determine if KB ⊨ α:…">
            <a:extLst>
              <a:ext uri="{FF2B5EF4-FFF2-40B4-BE49-F238E27FC236}">
                <a16:creationId xmlns:a16="http://schemas.microsoft.com/office/drawing/2014/main" id="{E3AECC71-E46D-0F33-4BED-A570DE1D5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890476"/>
            <a:ext cx="21005800" cy="9296400"/>
          </a:xfrm>
          <a:prstGeom prst="rect">
            <a:avLst/>
          </a:prstGeom>
        </p:spPr>
        <p:txBody>
          <a:bodyPr anchor="t" anchorCtr="0"/>
          <a:lstStyle/>
          <a:p>
            <a:r>
              <a:rPr dirty="0"/>
              <a:t>Para </a:t>
            </a:r>
            <a:r>
              <a:rPr dirty="0" err="1"/>
              <a:t>determinar</a:t>
            </a:r>
            <a:r>
              <a:rPr dirty="0"/>
              <a:t> se </a:t>
            </a:r>
            <a:r>
              <a:rPr i="1" dirty="0"/>
              <a:t>KB</a:t>
            </a:r>
            <a:r>
              <a:rPr dirty="0"/>
              <a:t> ⊨ </a:t>
            </a:r>
            <a:r>
              <a:rPr i="1" dirty="0"/>
              <a:t>α</a:t>
            </a:r>
            <a:r>
              <a:rPr dirty="0"/>
              <a:t>:</a:t>
            </a:r>
            <a:endParaRPr lang="en-BR" dirty="0"/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 err="1"/>
              <a:t>Enumere</a:t>
            </a:r>
            <a:r>
              <a:rPr lang="en-US" dirty="0"/>
              <a:t>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possíveis</a:t>
            </a:r>
            <a:r>
              <a:rPr lang="en-US" dirty="0"/>
              <a:t>.</a:t>
            </a:r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/>
              <a:t>Se,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i="1" dirty="0"/>
              <a:t>KB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verdadeiro</a:t>
            </a:r>
            <a:r>
              <a:rPr lang="en-US" dirty="0"/>
              <a:t>, </a:t>
            </a:r>
            <a:r>
              <a:rPr lang="el-GR" i="1" dirty="0"/>
              <a:t>α</a:t>
            </a:r>
            <a:r>
              <a:rPr lang="el-GR" dirty="0"/>
              <a:t> </a:t>
            </a:r>
            <a:r>
              <a:rPr lang="en-US" dirty="0"/>
              <a:t>for </a:t>
            </a:r>
            <a:r>
              <a:rPr lang="en-US" dirty="0" err="1"/>
              <a:t>verdadeiro</a:t>
            </a:r>
            <a:r>
              <a:rPr lang="en-US" dirty="0"/>
              <a:t>, </a:t>
            </a:r>
            <a:r>
              <a:rPr lang="en-US" dirty="0" err="1"/>
              <a:t>então</a:t>
            </a:r>
            <a:r>
              <a:rPr lang="en-US" dirty="0"/>
              <a:t> </a:t>
            </a:r>
            <a:r>
              <a:rPr lang="en-US" i="1" dirty="0"/>
              <a:t>KB</a:t>
            </a:r>
            <a:r>
              <a:rPr lang="en-US" dirty="0"/>
              <a:t> </a:t>
            </a:r>
            <a:r>
              <a:rPr lang="en-US" dirty="0" err="1"/>
              <a:t>implica</a:t>
            </a:r>
            <a:r>
              <a:rPr lang="en-US" dirty="0"/>
              <a:t> </a:t>
            </a:r>
            <a:r>
              <a:rPr lang="en-US" dirty="0" err="1"/>
              <a:t>logicamente</a:t>
            </a:r>
            <a:r>
              <a:rPr lang="en-US" dirty="0"/>
              <a:t> </a:t>
            </a:r>
            <a:r>
              <a:rPr lang="el-GR" i="1" dirty="0"/>
              <a:t>α</a:t>
            </a:r>
            <a:r>
              <a:rPr lang="el-G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76211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B7AD3-2BF3-6DA6-A094-5D53D2592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Model Checking">
            <a:extLst>
              <a:ext uri="{FF2B5EF4-FFF2-40B4-BE49-F238E27FC236}">
                <a16:creationId xmlns:a16="http://schemas.microsoft.com/office/drawing/2014/main" id="{877107E4-6828-4DB2-AB21-F41A6653BB8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Verificação de Modelos</a:t>
            </a:r>
          </a:p>
        </p:txBody>
      </p:sp>
      <p:sp>
        <p:nvSpPr>
          <p:cNvPr id="222" name="To determine if KB ⊨ α:…">
            <a:extLst>
              <a:ext uri="{FF2B5EF4-FFF2-40B4-BE49-F238E27FC236}">
                <a16:creationId xmlns:a16="http://schemas.microsoft.com/office/drawing/2014/main" id="{A2927F29-884B-035D-D307-E07A467AD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890476"/>
            <a:ext cx="21005800" cy="9296400"/>
          </a:xfrm>
          <a:prstGeom prst="rect">
            <a:avLst/>
          </a:prstGeom>
        </p:spPr>
        <p:txBody>
          <a:bodyPr anchor="t" anchorCtr="0"/>
          <a:lstStyle/>
          <a:p>
            <a:r>
              <a:rPr dirty="0"/>
              <a:t>Para </a:t>
            </a:r>
            <a:r>
              <a:rPr dirty="0" err="1"/>
              <a:t>determinar</a:t>
            </a:r>
            <a:r>
              <a:rPr dirty="0"/>
              <a:t> se </a:t>
            </a:r>
            <a:r>
              <a:rPr i="1" dirty="0"/>
              <a:t>KB</a:t>
            </a:r>
            <a:r>
              <a:rPr dirty="0"/>
              <a:t> ⊨ </a:t>
            </a:r>
            <a:r>
              <a:rPr i="1" dirty="0"/>
              <a:t>α</a:t>
            </a:r>
            <a:r>
              <a:rPr dirty="0"/>
              <a:t>:</a:t>
            </a:r>
            <a:endParaRPr lang="en-BR" dirty="0"/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 err="1"/>
              <a:t>Enumere</a:t>
            </a:r>
            <a:r>
              <a:rPr lang="en-US" dirty="0"/>
              <a:t>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possíveis</a:t>
            </a:r>
            <a:r>
              <a:rPr lang="en-US" dirty="0"/>
              <a:t>.</a:t>
            </a:r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/>
              <a:t>Se,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i="1" dirty="0"/>
              <a:t>KB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verdadeiro</a:t>
            </a:r>
            <a:r>
              <a:rPr lang="en-US" dirty="0"/>
              <a:t>, </a:t>
            </a:r>
            <a:r>
              <a:rPr lang="el-GR" i="1" dirty="0"/>
              <a:t>α</a:t>
            </a:r>
            <a:r>
              <a:rPr lang="el-GR" dirty="0"/>
              <a:t> </a:t>
            </a:r>
            <a:r>
              <a:rPr lang="en-US" dirty="0"/>
              <a:t>for </a:t>
            </a:r>
            <a:r>
              <a:rPr lang="en-US" dirty="0" err="1"/>
              <a:t>verdadeiro</a:t>
            </a:r>
            <a:r>
              <a:rPr lang="en-US" dirty="0"/>
              <a:t>, </a:t>
            </a:r>
            <a:r>
              <a:rPr lang="en-US" dirty="0" err="1"/>
              <a:t>então</a:t>
            </a:r>
            <a:r>
              <a:rPr lang="en-US" dirty="0"/>
              <a:t> </a:t>
            </a:r>
            <a:r>
              <a:rPr lang="en-US" i="1" dirty="0"/>
              <a:t>KB</a:t>
            </a:r>
            <a:r>
              <a:rPr lang="en-US" dirty="0"/>
              <a:t> </a:t>
            </a:r>
            <a:r>
              <a:rPr lang="en-US" dirty="0" err="1"/>
              <a:t>implica</a:t>
            </a:r>
            <a:r>
              <a:rPr lang="en-US" dirty="0"/>
              <a:t> </a:t>
            </a:r>
            <a:r>
              <a:rPr lang="en-US" dirty="0" err="1"/>
              <a:t>logicamente</a:t>
            </a:r>
            <a:r>
              <a:rPr lang="en-US" dirty="0"/>
              <a:t> </a:t>
            </a:r>
            <a:r>
              <a:rPr lang="el-GR" i="1" dirty="0"/>
              <a:t>α</a:t>
            </a:r>
            <a:r>
              <a:rPr lang="el-GR" dirty="0"/>
              <a:t>.</a:t>
            </a:r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/>
              <a:t>Caso </a:t>
            </a:r>
            <a:r>
              <a:rPr lang="en-US" dirty="0" err="1"/>
              <a:t>contrário</a:t>
            </a:r>
            <a:r>
              <a:rPr lang="en-US" dirty="0"/>
              <a:t>, </a:t>
            </a:r>
            <a:r>
              <a:rPr lang="en-US" i="1" dirty="0"/>
              <a:t>KB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implica</a:t>
            </a:r>
            <a:r>
              <a:rPr lang="en-US" dirty="0"/>
              <a:t> </a:t>
            </a:r>
            <a:r>
              <a:rPr lang="en-US" dirty="0" err="1"/>
              <a:t>logicamente</a:t>
            </a:r>
            <a:r>
              <a:rPr lang="en-US" dirty="0"/>
              <a:t> </a:t>
            </a:r>
            <a:r>
              <a:rPr lang="el-GR" i="1" dirty="0"/>
              <a:t>α</a:t>
            </a:r>
            <a:r>
              <a:rPr lang="el-G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12494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:  It is a Tuesday.">
            <a:extLst>
              <a:ext uri="{FF2B5EF4-FFF2-40B4-BE49-F238E27FC236}">
                <a16:creationId xmlns:a16="http://schemas.microsoft.com/office/drawing/2014/main" id="{46A4D17B-DA76-4C55-BCFD-B36F1E147A44}"/>
              </a:ext>
            </a:extLst>
          </p:cNvPr>
          <p:cNvSpPr>
            <a:spLocks noGrp="1"/>
          </p:cNvSpPr>
          <p:nvPr/>
        </p:nvSpPr>
        <p:spPr>
          <a:xfrm>
            <a:off x="1157994" y="863717"/>
            <a:ext cx="5731292" cy="939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t>P:  É terça-feira.</a:t>
            </a:r>
          </a:p>
        </p:txBody>
      </p:sp>
      <p:sp>
        <p:nvSpPr>
          <p:cNvPr id="225" name="Q:  It is raining.">
            <a:extLst>
              <a:ext uri="{FF2B5EF4-FFF2-40B4-BE49-F238E27FC236}">
                <a16:creationId xmlns:a16="http://schemas.microsoft.com/office/drawing/2014/main" id="{A073DB92-198A-43AA-BAA9-DDC72F96CB82}"/>
              </a:ext>
            </a:extLst>
          </p:cNvPr>
          <p:cNvSpPr>
            <a:spLocks noGrp="1"/>
          </p:cNvSpPr>
          <p:nvPr/>
        </p:nvSpPr>
        <p:spPr>
          <a:xfrm>
            <a:off x="8280730" y="863717"/>
            <a:ext cx="4733678" cy="939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t>Q:  Está chovendo.</a:t>
            </a:r>
          </a:p>
        </p:txBody>
      </p:sp>
      <p:sp>
        <p:nvSpPr>
          <p:cNvPr id="226" name="R:  Harry will go for a run.">
            <a:extLst>
              <a:ext uri="{FF2B5EF4-FFF2-40B4-BE49-F238E27FC236}">
                <a16:creationId xmlns:a16="http://schemas.microsoft.com/office/drawing/2014/main" id="{A15D40CF-0C57-4CF3-9E9F-043E487F9909}"/>
              </a:ext>
            </a:extLst>
          </p:cNvPr>
          <p:cNvSpPr>
            <a:spLocks noGrp="1"/>
          </p:cNvSpPr>
          <p:nvPr/>
        </p:nvSpPr>
        <p:spPr>
          <a:xfrm>
            <a:off x="14433478" y="859129"/>
            <a:ext cx="5930983" cy="94897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R:  Harry </a:t>
            </a:r>
            <a:r>
              <a:rPr lang="pt-BR" dirty="0"/>
              <a:t>vai </a:t>
            </a:r>
            <a:r>
              <a:rPr dirty="0" err="1"/>
              <a:t>correr</a:t>
            </a:r>
            <a:r>
              <a:rPr dirty="0"/>
              <a:t>.</a:t>
            </a:r>
          </a:p>
        </p:txBody>
      </p:sp>
      <p:sp>
        <p:nvSpPr>
          <p:cNvPr id="227" name="KB:">
            <a:extLst>
              <a:ext uri="{FF2B5EF4-FFF2-40B4-BE49-F238E27FC236}">
                <a16:creationId xmlns:a16="http://schemas.microsoft.com/office/drawing/2014/main" id="{8384AC84-4800-4883-87E5-7A7154AD5D3E}"/>
              </a:ext>
            </a:extLst>
          </p:cNvPr>
          <p:cNvSpPr>
            <a:spLocks noGrp="1"/>
          </p:cNvSpPr>
          <p:nvPr/>
        </p:nvSpPr>
        <p:spPr>
          <a:xfrm>
            <a:off x="1101818" y="1915259"/>
            <a:ext cx="180796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KB:</a:t>
            </a:r>
          </a:p>
        </p:txBody>
      </p:sp>
      <p:sp>
        <p:nvSpPr>
          <p:cNvPr id="228" name="(P ∧ ¬Q) → R">
            <a:extLst>
              <a:ext uri="{FF2B5EF4-FFF2-40B4-BE49-F238E27FC236}">
                <a16:creationId xmlns:a16="http://schemas.microsoft.com/office/drawing/2014/main" id="{86D65CEF-2D6A-48C3-BE5F-DB0C170A01E1}"/>
              </a:ext>
            </a:extLst>
          </p:cNvPr>
          <p:cNvSpPr>
            <a:spLocks noGrp="1"/>
          </p:cNvSpPr>
          <p:nvPr/>
        </p:nvSpPr>
        <p:spPr>
          <a:xfrm>
            <a:off x="3691754" y="1898143"/>
            <a:ext cx="5955805" cy="124837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P </a:t>
            </a:r>
            <a:r>
              <a:t>∧ ¬</a:t>
            </a:r>
            <a:r>
              <a:rPr i="1"/>
              <a:t>Q</a:t>
            </a:r>
            <a:r>
              <a:t>) → </a:t>
            </a:r>
            <a:r>
              <a:rPr i="1"/>
              <a:t>R</a:t>
            </a:r>
          </a:p>
        </p:txBody>
      </p:sp>
      <p:sp>
        <p:nvSpPr>
          <p:cNvPr id="229" name="P">
            <a:extLst>
              <a:ext uri="{FF2B5EF4-FFF2-40B4-BE49-F238E27FC236}">
                <a16:creationId xmlns:a16="http://schemas.microsoft.com/office/drawing/2014/main" id="{3590B374-B7A8-4FD2-8D50-4E1EFA88BEC6}"/>
              </a:ext>
            </a:extLst>
          </p:cNvPr>
          <p:cNvSpPr>
            <a:spLocks noGrp="1"/>
          </p:cNvSpPr>
          <p:nvPr/>
        </p:nvSpPr>
        <p:spPr>
          <a:xfrm>
            <a:off x="12646708" y="1915259"/>
            <a:ext cx="734914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P</a:t>
            </a:r>
          </a:p>
        </p:txBody>
      </p:sp>
      <p:sp>
        <p:nvSpPr>
          <p:cNvPr id="230" name="¬Q">
            <a:extLst>
              <a:ext uri="{FF2B5EF4-FFF2-40B4-BE49-F238E27FC236}">
                <a16:creationId xmlns:a16="http://schemas.microsoft.com/office/drawing/2014/main" id="{4A44BD73-BF44-406A-B1CD-62688728D3FD}"/>
              </a:ext>
            </a:extLst>
          </p:cNvPr>
          <p:cNvSpPr>
            <a:spLocks noGrp="1"/>
          </p:cNvSpPr>
          <p:nvPr/>
        </p:nvSpPr>
        <p:spPr>
          <a:xfrm>
            <a:off x="16371346" y="1915259"/>
            <a:ext cx="153362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¬Q</a:t>
            </a:r>
          </a:p>
        </p:txBody>
      </p:sp>
      <p:sp>
        <p:nvSpPr>
          <p:cNvPr id="231" name="Query:">
            <a:extLst>
              <a:ext uri="{FF2B5EF4-FFF2-40B4-BE49-F238E27FC236}">
                <a16:creationId xmlns:a16="http://schemas.microsoft.com/office/drawing/2014/main" id="{C107E38C-6F81-4112-A5FB-481E8E42AAAC}"/>
              </a:ext>
            </a:extLst>
          </p:cNvPr>
          <p:cNvSpPr>
            <a:spLocks noGrp="1"/>
          </p:cNvSpPr>
          <p:nvPr/>
        </p:nvSpPr>
        <p:spPr>
          <a:xfrm>
            <a:off x="1002759" y="3090348"/>
            <a:ext cx="3163293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Consulta:</a:t>
            </a:r>
          </a:p>
        </p:txBody>
      </p:sp>
      <p:sp>
        <p:nvSpPr>
          <p:cNvPr id="232" name="R">
            <a:extLst>
              <a:ext uri="{FF2B5EF4-FFF2-40B4-BE49-F238E27FC236}">
                <a16:creationId xmlns:a16="http://schemas.microsoft.com/office/drawing/2014/main" id="{CB33A8D8-A0D8-4437-93B4-3A662D6B4358}"/>
              </a:ext>
            </a:extLst>
          </p:cNvPr>
          <p:cNvSpPr>
            <a:spLocks noGrp="1"/>
          </p:cNvSpPr>
          <p:nvPr/>
        </p:nvSpPr>
        <p:spPr>
          <a:xfrm>
            <a:off x="5692344" y="3143678"/>
            <a:ext cx="734914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4742466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48387-3D41-C9A8-8152-D77A49312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:  It is a Tuesday.">
            <a:extLst>
              <a:ext uri="{FF2B5EF4-FFF2-40B4-BE49-F238E27FC236}">
                <a16:creationId xmlns:a16="http://schemas.microsoft.com/office/drawing/2014/main" id="{A12C3202-DB9B-63CF-94E3-D1853761E561}"/>
              </a:ext>
            </a:extLst>
          </p:cNvPr>
          <p:cNvSpPr>
            <a:spLocks noGrp="1"/>
          </p:cNvSpPr>
          <p:nvPr/>
        </p:nvSpPr>
        <p:spPr>
          <a:xfrm>
            <a:off x="1157994" y="863717"/>
            <a:ext cx="5731292" cy="939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t>P:  É terça-feira.</a:t>
            </a:r>
          </a:p>
        </p:txBody>
      </p:sp>
      <p:sp>
        <p:nvSpPr>
          <p:cNvPr id="225" name="Q:  It is raining.">
            <a:extLst>
              <a:ext uri="{FF2B5EF4-FFF2-40B4-BE49-F238E27FC236}">
                <a16:creationId xmlns:a16="http://schemas.microsoft.com/office/drawing/2014/main" id="{0824BCE3-513D-0129-DB72-88419D60D3CB}"/>
              </a:ext>
            </a:extLst>
          </p:cNvPr>
          <p:cNvSpPr>
            <a:spLocks noGrp="1"/>
          </p:cNvSpPr>
          <p:nvPr/>
        </p:nvSpPr>
        <p:spPr>
          <a:xfrm>
            <a:off x="8280730" y="863717"/>
            <a:ext cx="4733678" cy="939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t>Q:  Está chovendo.</a:t>
            </a:r>
          </a:p>
        </p:txBody>
      </p:sp>
      <p:sp>
        <p:nvSpPr>
          <p:cNvPr id="226" name="R:  Harry will go for a run.">
            <a:extLst>
              <a:ext uri="{FF2B5EF4-FFF2-40B4-BE49-F238E27FC236}">
                <a16:creationId xmlns:a16="http://schemas.microsoft.com/office/drawing/2014/main" id="{797614AB-D6A4-8E66-5AE5-7BF982353935}"/>
              </a:ext>
            </a:extLst>
          </p:cNvPr>
          <p:cNvSpPr>
            <a:spLocks noGrp="1"/>
          </p:cNvSpPr>
          <p:nvPr/>
        </p:nvSpPr>
        <p:spPr>
          <a:xfrm>
            <a:off x="14433478" y="859129"/>
            <a:ext cx="5930983" cy="94897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R:  Harry </a:t>
            </a:r>
            <a:r>
              <a:rPr lang="pt-BR" dirty="0"/>
              <a:t>vai </a:t>
            </a:r>
            <a:r>
              <a:rPr dirty="0" err="1"/>
              <a:t>correr</a:t>
            </a:r>
            <a:r>
              <a:rPr dirty="0"/>
              <a:t>.</a:t>
            </a:r>
          </a:p>
        </p:txBody>
      </p:sp>
      <p:sp>
        <p:nvSpPr>
          <p:cNvPr id="227" name="KB:">
            <a:extLst>
              <a:ext uri="{FF2B5EF4-FFF2-40B4-BE49-F238E27FC236}">
                <a16:creationId xmlns:a16="http://schemas.microsoft.com/office/drawing/2014/main" id="{CE7646BA-29E4-B2BB-EA80-C1779D7410D2}"/>
              </a:ext>
            </a:extLst>
          </p:cNvPr>
          <p:cNvSpPr>
            <a:spLocks noGrp="1"/>
          </p:cNvSpPr>
          <p:nvPr/>
        </p:nvSpPr>
        <p:spPr>
          <a:xfrm>
            <a:off x="1101818" y="1915259"/>
            <a:ext cx="180796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KB:</a:t>
            </a:r>
          </a:p>
        </p:txBody>
      </p:sp>
      <p:sp>
        <p:nvSpPr>
          <p:cNvPr id="228" name="(P ∧ ¬Q) → R">
            <a:extLst>
              <a:ext uri="{FF2B5EF4-FFF2-40B4-BE49-F238E27FC236}">
                <a16:creationId xmlns:a16="http://schemas.microsoft.com/office/drawing/2014/main" id="{853114B6-5A74-1EF9-9018-281375368BF5}"/>
              </a:ext>
            </a:extLst>
          </p:cNvPr>
          <p:cNvSpPr>
            <a:spLocks noGrp="1"/>
          </p:cNvSpPr>
          <p:nvPr/>
        </p:nvSpPr>
        <p:spPr>
          <a:xfrm>
            <a:off x="3691754" y="1898143"/>
            <a:ext cx="5955805" cy="124837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P </a:t>
            </a:r>
            <a:r>
              <a:t>∧ ¬</a:t>
            </a:r>
            <a:r>
              <a:rPr i="1"/>
              <a:t>Q</a:t>
            </a:r>
            <a:r>
              <a:t>) → </a:t>
            </a:r>
            <a:r>
              <a:rPr i="1"/>
              <a:t>R</a:t>
            </a:r>
          </a:p>
        </p:txBody>
      </p:sp>
      <p:sp>
        <p:nvSpPr>
          <p:cNvPr id="229" name="P">
            <a:extLst>
              <a:ext uri="{FF2B5EF4-FFF2-40B4-BE49-F238E27FC236}">
                <a16:creationId xmlns:a16="http://schemas.microsoft.com/office/drawing/2014/main" id="{8280D6E0-C446-1E75-65F2-471568E57911}"/>
              </a:ext>
            </a:extLst>
          </p:cNvPr>
          <p:cNvSpPr>
            <a:spLocks noGrp="1"/>
          </p:cNvSpPr>
          <p:nvPr/>
        </p:nvSpPr>
        <p:spPr>
          <a:xfrm>
            <a:off x="12646708" y="1915259"/>
            <a:ext cx="734914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P</a:t>
            </a:r>
          </a:p>
        </p:txBody>
      </p:sp>
      <p:sp>
        <p:nvSpPr>
          <p:cNvPr id="230" name="¬Q">
            <a:extLst>
              <a:ext uri="{FF2B5EF4-FFF2-40B4-BE49-F238E27FC236}">
                <a16:creationId xmlns:a16="http://schemas.microsoft.com/office/drawing/2014/main" id="{A850D26E-4265-AE34-DF4B-88B12F7FF2A1}"/>
              </a:ext>
            </a:extLst>
          </p:cNvPr>
          <p:cNvSpPr>
            <a:spLocks noGrp="1"/>
          </p:cNvSpPr>
          <p:nvPr/>
        </p:nvSpPr>
        <p:spPr>
          <a:xfrm>
            <a:off x="16371346" y="1915259"/>
            <a:ext cx="153362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¬Q</a:t>
            </a:r>
          </a:p>
        </p:txBody>
      </p:sp>
      <p:sp>
        <p:nvSpPr>
          <p:cNvPr id="231" name="Query:">
            <a:extLst>
              <a:ext uri="{FF2B5EF4-FFF2-40B4-BE49-F238E27FC236}">
                <a16:creationId xmlns:a16="http://schemas.microsoft.com/office/drawing/2014/main" id="{32D9F400-E2EC-B45B-46DD-BCEF83C808CB}"/>
              </a:ext>
            </a:extLst>
          </p:cNvPr>
          <p:cNvSpPr>
            <a:spLocks noGrp="1"/>
          </p:cNvSpPr>
          <p:nvPr/>
        </p:nvSpPr>
        <p:spPr>
          <a:xfrm>
            <a:off x="1002759" y="3090348"/>
            <a:ext cx="3163293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Consulta:</a:t>
            </a:r>
          </a:p>
        </p:txBody>
      </p:sp>
      <p:sp>
        <p:nvSpPr>
          <p:cNvPr id="232" name="R">
            <a:extLst>
              <a:ext uri="{FF2B5EF4-FFF2-40B4-BE49-F238E27FC236}">
                <a16:creationId xmlns:a16="http://schemas.microsoft.com/office/drawing/2014/main" id="{E251D5C4-DE38-6260-BAC6-A51E912938FB}"/>
              </a:ext>
            </a:extLst>
          </p:cNvPr>
          <p:cNvSpPr>
            <a:spLocks noGrp="1"/>
          </p:cNvSpPr>
          <p:nvPr/>
        </p:nvSpPr>
        <p:spPr>
          <a:xfrm>
            <a:off x="5692344" y="3143678"/>
            <a:ext cx="734914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</a:t>
            </a:r>
          </a:p>
        </p:txBody>
      </p:sp>
      <p:graphicFrame>
        <p:nvGraphicFramePr>
          <p:cNvPr id="243" name="Table 1">
            <a:extLst>
              <a:ext uri="{FF2B5EF4-FFF2-40B4-BE49-F238E27FC236}">
                <a16:creationId xmlns:a16="http://schemas.microsoft.com/office/drawing/2014/main" id="{09622104-37F0-7985-246F-C08B66D0A38F}"/>
              </a:ext>
            </a:extLst>
          </p:cNvPr>
          <p:cNvGraphicFramePr/>
          <p:nvPr/>
        </p:nvGraphicFramePr>
        <p:xfrm>
          <a:off x="1238943" y="4462325"/>
          <a:ext cx="21906112" cy="890016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5476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65491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00AF5-F5DF-B799-9EE3-69DF28B0E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:  It is a Tuesday.">
            <a:extLst>
              <a:ext uri="{FF2B5EF4-FFF2-40B4-BE49-F238E27FC236}">
                <a16:creationId xmlns:a16="http://schemas.microsoft.com/office/drawing/2014/main" id="{6BFB721F-404F-9421-F772-C52BC1312E7C}"/>
              </a:ext>
            </a:extLst>
          </p:cNvPr>
          <p:cNvSpPr>
            <a:spLocks noGrp="1"/>
          </p:cNvSpPr>
          <p:nvPr/>
        </p:nvSpPr>
        <p:spPr>
          <a:xfrm>
            <a:off x="1157994" y="863717"/>
            <a:ext cx="5731292" cy="939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t>P:  É terça-feira.</a:t>
            </a:r>
          </a:p>
        </p:txBody>
      </p:sp>
      <p:sp>
        <p:nvSpPr>
          <p:cNvPr id="225" name="Q:  It is raining.">
            <a:extLst>
              <a:ext uri="{FF2B5EF4-FFF2-40B4-BE49-F238E27FC236}">
                <a16:creationId xmlns:a16="http://schemas.microsoft.com/office/drawing/2014/main" id="{456473FE-1C02-2550-E3EC-285F1446C358}"/>
              </a:ext>
            </a:extLst>
          </p:cNvPr>
          <p:cNvSpPr>
            <a:spLocks noGrp="1"/>
          </p:cNvSpPr>
          <p:nvPr/>
        </p:nvSpPr>
        <p:spPr>
          <a:xfrm>
            <a:off x="8280730" y="863717"/>
            <a:ext cx="4733678" cy="939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t>Q:  Está chovendo.</a:t>
            </a:r>
          </a:p>
        </p:txBody>
      </p:sp>
      <p:sp>
        <p:nvSpPr>
          <p:cNvPr id="226" name="R:  Harry will go for a run.">
            <a:extLst>
              <a:ext uri="{FF2B5EF4-FFF2-40B4-BE49-F238E27FC236}">
                <a16:creationId xmlns:a16="http://schemas.microsoft.com/office/drawing/2014/main" id="{5B6ADC55-F575-02DA-6140-21C09645B430}"/>
              </a:ext>
            </a:extLst>
          </p:cNvPr>
          <p:cNvSpPr>
            <a:spLocks noGrp="1"/>
          </p:cNvSpPr>
          <p:nvPr/>
        </p:nvSpPr>
        <p:spPr>
          <a:xfrm>
            <a:off x="14433478" y="859129"/>
            <a:ext cx="5930983" cy="94897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R:  Harry </a:t>
            </a:r>
            <a:r>
              <a:rPr lang="pt-BR" dirty="0"/>
              <a:t>vai </a:t>
            </a:r>
            <a:r>
              <a:rPr dirty="0" err="1"/>
              <a:t>correr</a:t>
            </a:r>
            <a:r>
              <a:rPr dirty="0"/>
              <a:t>.</a:t>
            </a:r>
          </a:p>
        </p:txBody>
      </p:sp>
      <p:sp>
        <p:nvSpPr>
          <p:cNvPr id="227" name="KB:">
            <a:extLst>
              <a:ext uri="{FF2B5EF4-FFF2-40B4-BE49-F238E27FC236}">
                <a16:creationId xmlns:a16="http://schemas.microsoft.com/office/drawing/2014/main" id="{30AFBBF2-DCF1-AF2B-F957-30B453DDBFC0}"/>
              </a:ext>
            </a:extLst>
          </p:cNvPr>
          <p:cNvSpPr>
            <a:spLocks noGrp="1"/>
          </p:cNvSpPr>
          <p:nvPr/>
        </p:nvSpPr>
        <p:spPr>
          <a:xfrm>
            <a:off x="1101818" y="1915259"/>
            <a:ext cx="180796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KB:</a:t>
            </a:r>
          </a:p>
        </p:txBody>
      </p:sp>
      <p:sp>
        <p:nvSpPr>
          <p:cNvPr id="228" name="(P ∧ ¬Q) → R">
            <a:extLst>
              <a:ext uri="{FF2B5EF4-FFF2-40B4-BE49-F238E27FC236}">
                <a16:creationId xmlns:a16="http://schemas.microsoft.com/office/drawing/2014/main" id="{2A0D8B11-6E2F-1CE2-AC3A-1AE160579CB4}"/>
              </a:ext>
            </a:extLst>
          </p:cNvPr>
          <p:cNvSpPr>
            <a:spLocks noGrp="1"/>
          </p:cNvSpPr>
          <p:nvPr/>
        </p:nvSpPr>
        <p:spPr>
          <a:xfrm>
            <a:off x="3691754" y="1898143"/>
            <a:ext cx="5955805" cy="124837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P </a:t>
            </a:r>
            <a:r>
              <a:t>∧ ¬</a:t>
            </a:r>
            <a:r>
              <a:rPr i="1"/>
              <a:t>Q</a:t>
            </a:r>
            <a:r>
              <a:t>) → </a:t>
            </a:r>
            <a:r>
              <a:rPr i="1"/>
              <a:t>R</a:t>
            </a:r>
          </a:p>
        </p:txBody>
      </p:sp>
      <p:sp>
        <p:nvSpPr>
          <p:cNvPr id="229" name="P">
            <a:extLst>
              <a:ext uri="{FF2B5EF4-FFF2-40B4-BE49-F238E27FC236}">
                <a16:creationId xmlns:a16="http://schemas.microsoft.com/office/drawing/2014/main" id="{7D788EEA-BDFE-973A-E328-C787F9D341BE}"/>
              </a:ext>
            </a:extLst>
          </p:cNvPr>
          <p:cNvSpPr>
            <a:spLocks noGrp="1"/>
          </p:cNvSpPr>
          <p:nvPr/>
        </p:nvSpPr>
        <p:spPr>
          <a:xfrm>
            <a:off x="12646708" y="1915259"/>
            <a:ext cx="734914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P</a:t>
            </a:r>
          </a:p>
        </p:txBody>
      </p:sp>
      <p:sp>
        <p:nvSpPr>
          <p:cNvPr id="230" name="¬Q">
            <a:extLst>
              <a:ext uri="{FF2B5EF4-FFF2-40B4-BE49-F238E27FC236}">
                <a16:creationId xmlns:a16="http://schemas.microsoft.com/office/drawing/2014/main" id="{A711EA1A-B161-50A8-A961-21586E563160}"/>
              </a:ext>
            </a:extLst>
          </p:cNvPr>
          <p:cNvSpPr>
            <a:spLocks noGrp="1"/>
          </p:cNvSpPr>
          <p:nvPr/>
        </p:nvSpPr>
        <p:spPr>
          <a:xfrm>
            <a:off x="16371346" y="1915259"/>
            <a:ext cx="153362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¬Q</a:t>
            </a:r>
          </a:p>
        </p:txBody>
      </p:sp>
      <p:sp>
        <p:nvSpPr>
          <p:cNvPr id="231" name="Query:">
            <a:extLst>
              <a:ext uri="{FF2B5EF4-FFF2-40B4-BE49-F238E27FC236}">
                <a16:creationId xmlns:a16="http://schemas.microsoft.com/office/drawing/2014/main" id="{E2C578B1-E886-5520-21C8-8BBFAB4C2536}"/>
              </a:ext>
            </a:extLst>
          </p:cNvPr>
          <p:cNvSpPr>
            <a:spLocks noGrp="1"/>
          </p:cNvSpPr>
          <p:nvPr/>
        </p:nvSpPr>
        <p:spPr>
          <a:xfrm>
            <a:off x="1002759" y="3090348"/>
            <a:ext cx="3163293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Consulta:</a:t>
            </a:r>
          </a:p>
        </p:txBody>
      </p:sp>
      <p:sp>
        <p:nvSpPr>
          <p:cNvPr id="232" name="R">
            <a:extLst>
              <a:ext uri="{FF2B5EF4-FFF2-40B4-BE49-F238E27FC236}">
                <a16:creationId xmlns:a16="http://schemas.microsoft.com/office/drawing/2014/main" id="{3BF32E0F-AD00-69DA-3713-FBA81A37698D}"/>
              </a:ext>
            </a:extLst>
          </p:cNvPr>
          <p:cNvSpPr>
            <a:spLocks noGrp="1"/>
          </p:cNvSpPr>
          <p:nvPr/>
        </p:nvSpPr>
        <p:spPr>
          <a:xfrm>
            <a:off x="5692344" y="3143678"/>
            <a:ext cx="734914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</a:t>
            </a:r>
          </a:p>
        </p:txBody>
      </p:sp>
      <p:graphicFrame>
        <p:nvGraphicFramePr>
          <p:cNvPr id="243" name="Table 1">
            <a:extLst>
              <a:ext uri="{FF2B5EF4-FFF2-40B4-BE49-F238E27FC236}">
                <a16:creationId xmlns:a16="http://schemas.microsoft.com/office/drawing/2014/main" id="{CDE9B1FD-464E-093B-0FE3-CF12BC5954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6208586"/>
              </p:ext>
            </p:extLst>
          </p:nvPr>
        </p:nvGraphicFramePr>
        <p:xfrm>
          <a:off x="1238943" y="4462325"/>
          <a:ext cx="21906112" cy="890016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5476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dirty="0"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43659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7C94C-DF9D-B0B3-085E-754BC6D5A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:  It is a Tuesday.">
            <a:extLst>
              <a:ext uri="{FF2B5EF4-FFF2-40B4-BE49-F238E27FC236}">
                <a16:creationId xmlns:a16="http://schemas.microsoft.com/office/drawing/2014/main" id="{4F4B081A-F160-388F-2329-3A9EE37B014D}"/>
              </a:ext>
            </a:extLst>
          </p:cNvPr>
          <p:cNvSpPr>
            <a:spLocks noGrp="1"/>
          </p:cNvSpPr>
          <p:nvPr/>
        </p:nvSpPr>
        <p:spPr>
          <a:xfrm>
            <a:off x="1157994" y="863717"/>
            <a:ext cx="5731292" cy="939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t>P:  É terça-feira.</a:t>
            </a:r>
          </a:p>
        </p:txBody>
      </p:sp>
      <p:sp>
        <p:nvSpPr>
          <p:cNvPr id="225" name="Q:  It is raining.">
            <a:extLst>
              <a:ext uri="{FF2B5EF4-FFF2-40B4-BE49-F238E27FC236}">
                <a16:creationId xmlns:a16="http://schemas.microsoft.com/office/drawing/2014/main" id="{110C0967-0B37-7860-5768-2FC65D5F9674}"/>
              </a:ext>
            </a:extLst>
          </p:cNvPr>
          <p:cNvSpPr>
            <a:spLocks noGrp="1"/>
          </p:cNvSpPr>
          <p:nvPr/>
        </p:nvSpPr>
        <p:spPr>
          <a:xfrm>
            <a:off x="8280730" y="863717"/>
            <a:ext cx="4733678" cy="939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t>Q:  Está chovendo.</a:t>
            </a:r>
          </a:p>
        </p:txBody>
      </p:sp>
      <p:sp>
        <p:nvSpPr>
          <p:cNvPr id="226" name="R:  Harry will go for a run.">
            <a:extLst>
              <a:ext uri="{FF2B5EF4-FFF2-40B4-BE49-F238E27FC236}">
                <a16:creationId xmlns:a16="http://schemas.microsoft.com/office/drawing/2014/main" id="{8494F173-5CAC-A744-8FB9-21B8ADB0F557}"/>
              </a:ext>
            </a:extLst>
          </p:cNvPr>
          <p:cNvSpPr>
            <a:spLocks noGrp="1"/>
          </p:cNvSpPr>
          <p:nvPr/>
        </p:nvSpPr>
        <p:spPr>
          <a:xfrm>
            <a:off x="14433478" y="859129"/>
            <a:ext cx="5930983" cy="94897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R:  Harry </a:t>
            </a:r>
            <a:r>
              <a:rPr lang="pt-BR" dirty="0"/>
              <a:t>vai </a:t>
            </a:r>
            <a:r>
              <a:rPr dirty="0" err="1"/>
              <a:t>correr</a:t>
            </a:r>
            <a:r>
              <a:rPr dirty="0"/>
              <a:t>.</a:t>
            </a:r>
          </a:p>
        </p:txBody>
      </p:sp>
      <p:sp>
        <p:nvSpPr>
          <p:cNvPr id="227" name="KB:">
            <a:extLst>
              <a:ext uri="{FF2B5EF4-FFF2-40B4-BE49-F238E27FC236}">
                <a16:creationId xmlns:a16="http://schemas.microsoft.com/office/drawing/2014/main" id="{867F55B7-6420-CD45-A8E3-7669623FD300}"/>
              </a:ext>
            </a:extLst>
          </p:cNvPr>
          <p:cNvSpPr>
            <a:spLocks noGrp="1"/>
          </p:cNvSpPr>
          <p:nvPr/>
        </p:nvSpPr>
        <p:spPr>
          <a:xfrm>
            <a:off x="1101818" y="1915259"/>
            <a:ext cx="180796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KB:</a:t>
            </a:r>
          </a:p>
        </p:txBody>
      </p:sp>
      <p:sp>
        <p:nvSpPr>
          <p:cNvPr id="228" name="(P ∧ ¬Q) → R">
            <a:extLst>
              <a:ext uri="{FF2B5EF4-FFF2-40B4-BE49-F238E27FC236}">
                <a16:creationId xmlns:a16="http://schemas.microsoft.com/office/drawing/2014/main" id="{20E9A4B9-E6A4-EA8F-7C63-91DA12A09296}"/>
              </a:ext>
            </a:extLst>
          </p:cNvPr>
          <p:cNvSpPr>
            <a:spLocks noGrp="1"/>
          </p:cNvSpPr>
          <p:nvPr/>
        </p:nvSpPr>
        <p:spPr>
          <a:xfrm>
            <a:off x="3691754" y="1898143"/>
            <a:ext cx="5955805" cy="124837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P </a:t>
            </a:r>
            <a:r>
              <a:t>∧ ¬</a:t>
            </a:r>
            <a:r>
              <a:rPr i="1"/>
              <a:t>Q</a:t>
            </a:r>
            <a:r>
              <a:t>) → </a:t>
            </a:r>
            <a:r>
              <a:rPr i="1"/>
              <a:t>R</a:t>
            </a:r>
          </a:p>
        </p:txBody>
      </p:sp>
      <p:sp>
        <p:nvSpPr>
          <p:cNvPr id="229" name="P">
            <a:extLst>
              <a:ext uri="{FF2B5EF4-FFF2-40B4-BE49-F238E27FC236}">
                <a16:creationId xmlns:a16="http://schemas.microsoft.com/office/drawing/2014/main" id="{475B8CB2-B942-1502-053E-402F095984E3}"/>
              </a:ext>
            </a:extLst>
          </p:cNvPr>
          <p:cNvSpPr>
            <a:spLocks noGrp="1"/>
          </p:cNvSpPr>
          <p:nvPr/>
        </p:nvSpPr>
        <p:spPr>
          <a:xfrm>
            <a:off x="12646708" y="1915259"/>
            <a:ext cx="734914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P</a:t>
            </a:r>
          </a:p>
        </p:txBody>
      </p:sp>
      <p:sp>
        <p:nvSpPr>
          <p:cNvPr id="230" name="¬Q">
            <a:extLst>
              <a:ext uri="{FF2B5EF4-FFF2-40B4-BE49-F238E27FC236}">
                <a16:creationId xmlns:a16="http://schemas.microsoft.com/office/drawing/2014/main" id="{08E9BBF0-FAB9-CEB8-C9C2-21D853988961}"/>
              </a:ext>
            </a:extLst>
          </p:cNvPr>
          <p:cNvSpPr>
            <a:spLocks noGrp="1"/>
          </p:cNvSpPr>
          <p:nvPr/>
        </p:nvSpPr>
        <p:spPr>
          <a:xfrm>
            <a:off x="16371346" y="1915259"/>
            <a:ext cx="153362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¬Q</a:t>
            </a:r>
          </a:p>
        </p:txBody>
      </p:sp>
      <p:sp>
        <p:nvSpPr>
          <p:cNvPr id="231" name="Query:">
            <a:extLst>
              <a:ext uri="{FF2B5EF4-FFF2-40B4-BE49-F238E27FC236}">
                <a16:creationId xmlns:a16="http://schemas.microsoft.com/office/drawing/2014/main" id="{76B3A309-FE31-A59D-CF19-94DA0C3D7B05}"/>
              </a:ext>
            </a:extLst>
          </p:cNvPr>
          <p:cNvSpPr>
            <a:spLocks noGrp="1"/>
          </p:cNvSpPr>
          <p:nvPr/>
        </p:nvSpPr>
        <p:spPr>
          <a:xfrm>
            <a:off x="1002759" y="3090348"/>
            <a:ext cx="3163293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Consulta:</a:t>
            </a:r>
          </a:p>
        </p:txBody>
      </p:sp>
      <p:sp>
        <p:nvSpPr>
          <p:cNvPr id="232" name="R">
            <a:extLst>
              <a:ext uri="{FF2B5EF4-FFF2-40B4-BE49-F238E27FC236}">
                <a16:creationId xmlns:a16="http://schemas.microsoft.com/office/drawing/2014/main" id="{642D81DA-EEC0-2D1A-2B02-AF6B53BA64C7}"/>
              </a:ext>
            </a:extLst>
          </p:cNvPr>
          <p:cNvSpPr>
            <a:spLocks noGrp="1"/>
          </p:cNvSpPr>
          <p:nvPr/>
        </p:nvSpPr>
        <p:spPr>
          <a:xfrm>
            <a:off x="5692344" y="3143678"/>
            <a:ext cx="734914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</a:t>
            </a:r>
          </a:p>
        </p:txBody>
      </p:sp>
      <p:graphicFrame>
        <p:nvGraphicFramePr>
          <p:cNvPr id="243" name="Table 1">
            <a:extLst>
              <a:ext uri="{FF2B5EF4-FFF2-40B4-BE49-F238E27FC236}">
                <a16:creationId xmlns:a16="http://schemas.microsoft.com/office/drawing/2014/main" id="{FB7E492A-CC2E-C7C1-FB82-C093C05A21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0848975"/>
              </p:ext>
            </p:extLst>
          </p:nvPr>
        </p:nvGraphicFramePr>
        <p:xfrm>
          <a:off x="1238943" y="4462325"/>
          <a:ext cx="21906112" cy="890016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5476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dirty="0"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918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31559-1B14-3C25-6027-A1519795E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:  It is a Tuesday.">
            <a:extLst>
              <a:ext uri="{FF2B5EF4-FFF2-40B4-BE49-F238E27FC236}">
                <a16:creationId xmlns:a16="http://schemas.microsoft.com/office/drawing/2014/main" id="{65BE712D-6F64-CC34-7540-FD6ADE771D35}"/>
              </a:ext>
            </a:extLst>
          </p:cNvPr>
          <p:cNvSpPr>
            <a:spLocks noGrp="1"/>
          </p:cNvSpPr>
          <p:nvPr/>
        </p:nvSpPr>
        <p:spPr>
          <a:xfrm>
            <a:off x="1157994" y="863717"/>
            <a:ext cx="5731292" cy="939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t>P:  É terça-feira.</a:t>
            </a:r>
          </a:p>
        </p:txBody>
      </p:sp>
      <p:sp>
        <p:nvSpPr>
          <p:cNvPr id="225" name="Q:  It is raining.">
            <a:extLst>
              <a:ext uri="{FF2B5EF4-FFF2-40B4-BE49-F238E27FC236}">
                <a16:creationId xmlns:a16="http://schemas.microsoft.com/office/drawing/2014/main" id="{A13632A3-32A8-FD8C-E7F8-A725CE2DA38F}"/>
              </a:ext>
            </a:extLst>
          </p:cNvPr>
          <p:cNvSpPr>
            <a:spLocks noGrp="1"/>
          </p:cNvSpPr>
          <p:nvPr/>
        </p:nvSpPr>
        <p:spPr>
          <a:xfrm>
            <a:off x="8280730" y="863717"/>
            <a:ext cx="4733678" cy="939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t>Q:  Está chovendo.</a:t>
            </a:r>
          </a:p>
        </p:txBody>
      </p:sp>
      <p:sp>
        <p:nvSpPr>
          <p:cNvPr id="226" name="R:  Harry will go for a run.">
            <a:extLst>
              <a:ext uri="{FF2B5EF4-FFF2-40B4-BE49-F238E27FC236}">
                <a16:creationId xmlns:a16="http://schemas.microsoft.com/office/drawing/2014/main" id="{DA238B81-C48F-508E-13C1-A3DFA0EE2BB5}"/>
              </a:ext>
            </a:extLst>
          </p:cNvPr>
          <p:cNvSpPr>
            <a:spLocks noGrp="1"/>
          </p:cNvSpPr>
          <p:nvPr/>
        </p:nvSpPr>
        <p:spPr>
          <a:xfrm>
            <a:off x="14433478" y="859129"/>
            <a:ext cx="5930983" cy="94897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R:  Harry </a:t>
            </a:r>
            <a:r>
              <a:rPr lang="pt-BR" dirty="0"/>
              <a:t>vai </a:t>
            </a:r>
            <a:r>
              <a:rPr dirty="0" err="1"/>
              <a:t>correr</a:t>
            </a:r>
            <a:r>
              <a:rPr dirty="0"/>
              <a:t>.</a:t>
            </a:r>
          </a:p>
        </p:txBody>
      </p:sp>
      <p:sp>
        <p:nvSpPr>
          <p:cNvPr id="227" name="KB:">
            <a:extLst>
              <a:ext uri="{FF2B5EF4-FFF2-40B4-BE49-F238E27FC236}">
                <a16:creationId xmlns:a16="http://schemas.microsoft.com/office/drawing/2014/main" id="{FDDF55DA-DFB7-66D1-58FB-A9746CA808AC}"/>
              </a:ext>
            </a:extLst>
          </p:cNvPr>
          <p:cNvSpPr>
            <a:spLocks noGrp="1"/>
          </p:cNvSpPr>
          <p:nvPr/>
        </p:nvSpPr>
        <p:spPr>
          <a:xfrm>
            <a:off x="1101818" y="1915259"/>
            <a:ext cx="180796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KB:</a:t>
            </a:r>
          </a:p>
        </p:txBody>
      </p:sp>
      <p:sp>
        <p:nvSpPr>
          <p:cNvPr id="228" name="(P ∧ ¬Q) → R">
            <a:extLst>
              <a:ext uri="{FF2B5EF4-FFF2-40B4-BE49-F238E27FC236}">
                <a16:creationId xmlns:a16="http://schemas.microsoft.com/office/drawing/2014/main" id="{EDA736FC-09D8-DE32-E197-39B56CFF799D}"/>
              </a:ext>
            </a:extLst>
          </p:cNvPr>
          <p:cNvSpPr>
            <a:spLocks noGrp="1"/>
          </p:cNvSpPr>
          <p:nvPr/>
        </p:nvSpPr>
        <p:spPr>
          <a:xfrm>
            <a:off x="3691754" y="1898143"/>
            <a:ext cx="5955805" cy="124837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P </a:t>
            </a:r>
            <a:r>
              <a:t>∧ ¬</a:t>
            </a:r>
            <a:r>
              <a:rPr i="1"/>
              <a:t>Q</a:t>
            </a:r>
            <a:r>
              <a:t>) → </a:t>
            </a:r>
            <a:r>
              <a:rPr i="1"/>
              <a:t>R</a:t>
            </a:r>
          </a:p>
        </p:txBody>
      </p:sp>
      <p:sp>
        <p:nvSpPr>
          <p:cNvPr id="229" name="P">
            <a:extLst>
              <a:ext uri="{FF2B5EF4-FFF2-40B4-BE49-F238E27FC236}">
                <a16:creationId xmlns:a16="http://schemas.microsoft.com/office/drawing/2014/main" id="{CD48EADE-69BE-F3B6-2D44-D66E0D1A4934}"/>
              </a:ext>
            </a:extLst>
          </p:cNvPr>
          <p:cNvSpPr>
            <a:spLocks noGrp="1"/>
          </p:cNvSpPr>
          <p:nvPr/>
        </p:nvSpPr>
        <p:spPr>
          <a:xfrm>
            <a:off x="12646708" y="1915259"/>
            <a:ext cx="734914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P</a:t>
            </a:r>
          </a:p>
        </p:txBody>
      </p:sp>
      <p:sp>
        <p:nvSpPr>
          <p:cNvPr id="230" name="¬Q">
            <a:extLst>
              <a:ext uri="{FF2B5EF4-FFF2-40B4-BE49-F238E27FC236}">
                <a16:creationId xmlns:a16="http://schemas.microsoft.com/office/drawing/2014/main" id="{CFC4CA7B-9BE8-784C-3C7F-ED5E6DA76BB1}"/>
              </a:ext>
            </a:extLst>
          </p:cNvPr>
          <p:cNvSpPr>
            <a:spLocks noGrp="1"/>
          </p:cNvSpPr>
          <p:nvPr/>
        </p:nvSpPr>
        <p:spPr>
          <a:xfrm>
            <a:off x="16371346" y="1915259"/>
            <a:ext cx="153362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¬Q</a:t>
            </a:r>
          </a:p>
        </p:txBody>
      </p:sp>
      <p:sp>
        <p:nvSpPr>
          <p:cNvPr id="231" name="Query:">
            <a:extLst>
              <a:ext uri="{FF2B5EF4-FFF2-40B4-BE49-F238E27FC236}">
                <a16:creationId xmlns:a16="http://schemas.microsoft.com/office/drawing/2014/main" id="{9BB20F4D-2B3A-E311-6504-D82E1E45FD3D}"/>
              </a:ext>
            </a:extLst>
          </p:cNvPr>
          <p:cNvSpPr>
            <a:spLocks noGrp="1"/>
          </p:cNvSpPr>
          <p:nvPr/>
        </p:nvSpPr>
        <p:spPr>
          <a:xfrm>
            <a:off x="1002759" y="3090348"/>
            <a:ext cx="3163293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Consulta:</a:t>
            </a:r>
          </a:p>
        </p:txBody>
      </p:sp>
      <p:sp>
        <p:nvSpPr>
          <p:cNvPr id="232" name="R">
            <a:extLst>
              <a:ext uri="{FF2B5EF4-FFF2-40B4-BE49-F238E27FC236}">
                <a16:creationId xmlns:a16="http://schemas.microsoft.com/office/drawing/2014/main" id="{0AB7B211-76F4-5C09-0925-CBB71CD6F626}"/>
              </a:ext>
            </a:extLst>
          </p:cNvPr>
          <p:cNvSpPr>
            <a:spLocks noGrp="1"/>
          </p:cNvSpPr>
          <p:nvPr/>
        </p:nvSpPr>
        <p:spPr>
          <a:xfrm>
            <a:off x="5692344" y="3143678"/>
            <a:ext cx="734914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</a:t>
            </a:r>
          </a:p>
        </p:txBody>
      </p:sp>
      <p:graphicFrame>
        <p:nvGraphicFramePr>
          <p:cNvPr id="243" name="Table 1">
            <a:extLst>
              <a:ext uri="{FF2B5EF4-FFF2-40B4-BE49-F238E27FC236}">
                <a16:creationId xmlns:a16="http://schemas.microsoft.com/office/drawing/2014/main" id="{75A7B2E5-FBE2-0FF2-3AD7-10D6167F46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1781742"/>
              </p:ext>
            </p:extLst>
          </p:nvPr>
        </p:nvGraphicFramePr>
        <p:xfrm>
          <a:off x="1238943" y="4462325"/>
          <a:ext cx="21906112" cy="890016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5476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dirty="0"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4833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93428-62BA-7DB9-29F6-B3C8F496D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:  It is a Tuesday.">
            <a:extLst>
              <a:ext uri="{FF2B5EF4-FFF2-40B4-BE49-F238E27FC236}">
                <a16:creationId xmlns:a16="http://schemas.microsoft.com/office/drawing/2014/main" id="{9AB355FB-CA0D-AC06-5B60-7C5B9141C188}"/>
              </a:ext>
            </a:extLst>
          </p:cNvPr>
          <p:cNvSpPr>
            <a:spLocks noGrp="1"/>
          </p:cNvSpPr>
          <p:nvPr/>
        </p:nvSpPr>
        <p:spPr>
          <a:xfrm>
            <a:off x="1157994" y="863717"/>
            <a:ext cx="5731292" cy="939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t>P:  É terça-feira.</a:t>
            </a:r>
          </a:p>
        </p:txBody>
      </p:sp>
      <p:sp>
        <p:nvSpPr>
          <p:cNvPr id="225" name="Q:  It is raining.">
            <a:extLst>
              <a:ext uri="{FF2B5EF4-FFF2-40B4-BE49-F238E27FC236}">
                <a16:creationId xmlns:a16="http://schemas.microsoft.com/office/drawing/2014/main" id="{844CD111-3F5D-D603-6A0F-EA466AF4AAEB}"/>
              </a:ext>
            </a:extLst>
          </p:cNvPr>
          <p:cNvSpPr>
            <a:spLocks noGrp="1"/>
          </p:cNvSpPr>
          <p:nvPr/>
        </p:nvSpPr>
        <p:spPr>
          <a:xfrm>
            <a:off x="8280730" y="863717"/>
            <a:ext cx="4733678" cy="939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t>Q:  Está chovendo.</a:t>
            </a:r>
          </a:p>
        </p:txBody>
      </p:sp>
      <p:sp>
        <p:nvSpPr>
          <p:cNvPr id="226" name="R:  Harry will go for a run.">
            <a:extLst>
              <a:ext uri="{FF2B5EF4-FFF2-40B4-BE49-F238E27FC236}">
                <a16:creationId xmlns:a16="http://schemas.microsoft.com/office/drawing/2014/main" id="{0618643D-0957-9709-014A-1D86AC2D4605}"/>
              </a:ext>
            </a:extLst>
          </p:cNvPr>
          <p:cNvSpPr>
            <a:spLocks noGrp="1"/>
          </p:cNvSpPr>
          <p:nvPr/>
        </p:nvSpPr>
        <p:spPr>
          <a:xfrm>
            <a:off x="14433478" y="859129"/>
            <a:ext cx="5930983" cy="94897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R:  Harry </a:t>
            </a:r>
            <a:r>
              <a:rPr lang="pt-BR" dirty="0"/>
              <a:t>vai </a:t>
            </a:r>
            <a:r>
              <a:rPr dirty="0" err="1"/>
              <a:t>correr</a:t>
            </a:r>
            <a:r>
              <a:rPr dirty="0"/>
              <a:t>.</a:t>
            </a:r>
          </a:p>
        </p:txBody>
      </p:sp>
      <p:sp>
        <p:nvSpPr>
          <p:cNvPr id="227" name="KB:">
            <a:extLst>
              <a:ext uri="{FF2B5EF4-FFF2-40B4-BE49-F238E27FC236}">
                <a16:creationId xmlns:a16="http://schemas.microsoft.com/office/drawing/2014/main" id="{DE7B5058-1200-132C-D9D8-6185AE6C012E}"/>
              </a:ext>
            </a:extLst>
          </p:cNvPr>
          <p:cNvSpPr>
            <a:spLocks noGrp="1"/>
          </p:cNvSpPr>
          <p:nvPr/>
        </p:nvSpPr>
        <p:spPr>
          <a:xfrm>
            <a:off x="1101818" y="1915259"/>
            <a:ext cx="180796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KB:</a:t>
            </a:r>
          </a:p>
        </p:txBody>
      </p:sp>
      <p:sp>
        <p:nvSpPr>
          <p:cNvPr id="228" name="(P ∧ ¬Q) → R">
            <a:extLst>
              <a:ext uri="{FF2B5EF4-FFF2-40B4-BE49-F238E27FC236}">
                <a16:creationId xmlns:a16="http://schemas.microsoft.com/office/drawing/2014/main" id="{D7981B07-1BDE-FC3C-9BF6-B61976CDEBE1}"/>
              </a:ext>
            </a:extLst>
          </p:cNvPr>
          <p:cNvSpPr>
            <a:spLocks noGrp="1"/>
          </p:cNvSpPr>
          <p:nvPr/>
        </p:nvSpPr>
        <p:spPr>
          <a:xfrm>
            <a:off x="3691754" y="1898143"/>
            <a:ext cx="5955805" cy="124837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P </a:t>
            </a:r>
            <a:r>
              <a:t>∧ ¬</a:t>
            </a:r>
            <a:r>
              <a:rPr i="1"/>
              <a:t>Q</a:t>
            </a:r>
            <a:r>
              <a:t>) → </a:t>
            </a:r>
            <a:r>
              <a:rPr i="1"/>
              <a:t>R</a:t>
            </a:r>
          </a:p>
        </p:txBody>
      </p:sp>
      <p:sp>
        <p:nvSpPr>
          <p:cNvPr id="229" name="P">
            <a:extLst>
              <a:ext uri="{FF2B5EF4-FFF2-40B4-BE49-F238E27FC236}">
                <a16:creationId xmlns:a16="http://schemas.microsoft.com/office/drawing/2014/main" id="{70004186-10FE-250D-292E-939E1311B1A2}"/>
              </a:ext>
            </a:extLst>
          </p:cNvPr>
          <p:cNvSpPr>
            <a:spLocks noGrp="1"/>
          </p:cNvSpPr>
          <p:nvPr/>
        </p:nvSpPr>
        <p:spPr>
          <a:xfrm>
            <a:off x="12646708" y="1915259"/>
            <a:ext cx="734914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P</a:t>
            </a:r>
          </a:p>
        </p:txBody>
      </p:sp>
      <p:sp>
        <p:nvSpPr>
          <p:cNvPr id="230" name="¬Q">
            <a:extLst>
              <a:ext uri="{FF2B5EF4-FFF2-40B4-BE49-F238E27FC236}">
                <a16:creationId xmlns:a16="http://schemas.microsoft.com/office/drawing/2014/main" id="{E57A4D08-2AF8-6BFC-D0C2-0841232CC4CC}"/>
              </a:ext>
            </a:extLst>
          </p:cNvPr>
          <p:cNvSpPr>
            <a:spLocks noGrp="1"/>
          </p:cNvSpPr>
          <p:nvPr/>
        </p:nvSpPr>
        <p:spPr>
          <a:xfrm>
            <a:off x="16371346" y="1915259"/>
            <a:ext cx="153362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¬Q</a:t>
            </a:r>
          </a:p>
        </p:txBody>
      </p:sp>
      <p:sp>
        <p:nvSpPr>
          <p:cNvPr id="231" name="Query:">
            <a:extLst>
              <a:ext uri="{FF2B5EF4-FFF2-40B4-BE49-F238E27FC236}">
                <a16:creationId xmlns:a16="http://schemas.microsoft.com/office/drawing/2014/main" id="{803DABE9-AAC7-E8CC-F000-97574F92D3D6}"/>
              </a:ext>
            </a:extLst>
          </p:cNvPr>
          <p:cNvSpPr>
            <a:spLocks noGrp="1"/>
          </p:cNvSpPr>
          <p:nvPr/>
        </p:nvSpPr>
        <p:spPr>
          <a:xfrm>
            <a:off x="1002759" y="3090348"/>
            <a:ext cx="3163293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Consulta:</a:t>
            </a:r>
          </a:p>
        </p:txBody>
      </p:sp>
      <p:sp>
        <p:nvSpPr>
          <p:cNvPr id="232" name="R">
            <a:extLst>
              <a:ext uri="{FF2B5EF4-FFF2-40B4-BE49-F238E27FC236}">
                <a16:creationId xmlns:a16="http://schemas.microsoft.com/office/drawing/2014/main" id="{E23B8D03-AE16-F52C-C8A7-833AB873E9F6}"/>
              </a:ext>
            </a:extLst>
          </p:cNvPr>
          <p:cNvSpPr>
            <a:spLocks noGrp="1"/>
          </p:cNvSpPr>
          <p:nvPr/>
        </p:nvSpPr>
        <p:spPr>
          <a:xfrm>
            <a:off x="5692344" y="3143678"/>
            <a:ext cx="734914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</a:t>
            </a:r>
          </a:p>
        </p:txBody>
      </p:sp>
      <p:graphicFrame>
        <p:nvGraphicFramePr>
          <p:cNvPr id="243" name="Table 1">
            <a:extLst>
              <a:ext uri="{FF2B5EF4-FFF2-40B4-BE49-F238E27FC236}">
                <a16:creationId xmlns:a16="http://schemas.microsoft.com/office/drawing/2014/main" id="{23C2C1FE-72E1-B3FC-EC71-F9A5DD6E66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5361520"/>
              </p:ext>
            </p:extLst>
          </p:nvPr>
        </p:nvGraphicFramePr>
        <p:xfrm>
          <a:off x="1238943" y="4462325"/>
          <a:ext cx="21906112" cy="890016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5476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dirty="0"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319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760F1-2D11-F284-0FD2-898AFE113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:  It is a Tuesday.">
            <a:extLst>
              <a:ext uri="{FF2B5EF4-FFF2-40B4-BE49-F238E27FC236}">
                <a16:creationId xmlns:a16="http://schemas.microsoft.com/office/drawing/2014/main" id="{E40A455F-E85B-412E-7334-AE13BF625C5B}"/>
              </a:ext>
            </a:extLst>
          </p:cNvPr>
          <p:cNvSpPr>
            <a:spLocks noGrp="1"/>
          </p:cNvSpPr>
          <p:nvPr/>
        </p:nvSpPr>
        <p:spPr>
          <a:xfrm>
            <a:off x="1157994" y="863717"/>
            <a:ext cx="5731292" cy="939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t>P:  É terça-feira.</a:t>
            </a:r>
          </a:p>
        </p:txBody>
      </p:sp>
      <p:sp>
        <p:nvSpPr>
          <p:cNvPr id="225" name="Q:  It is raining.">
            <a:extLst>
              <a:ext uri="{FF2B5EF4-FFF2-40B4-BE49-F238E27FC236}">
                <a16:creationId xmlns:a16="http://schemas.microsoft.com/office/drawing/2014/main" id="{1C18E7C2-1F34-B423-7E35-A444430BD817}"/>
              </a:ext>
            </a:extLst>
          </p:cNvPr>
          <p:cNvSpPr>
            <a:spLocks noGrp="1"/>
          </p:cNvSpPr>
          <p:nvPr/>
        </p:nvSpPr>
        <p:spPr>
          <a:xfrm>
            <a:off x="8280730" y="863717"/>
            <a:ext cx="4733678" cy="939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t>Q:  Está chovendo.</a:t>
            </a:r>
          </a:p>
        </p:txBody>
      </p:sp>
      <p:sp>
        <p:nvSpPr>
          <p:cNvPr id="226" name="R:  Harry will go for a run.">
            <a:extLst>
              <a:ext uri="{FF2B5EF4-FFF2-40B4-BE49-F238E27FC236}">
                <a16:creationId xmlns:a16="http://schemas.microsoft.com/office/drawing/2014/main" id="{1519E4B7-0E88-7464-9EC9-3D3934C80298}"/>
              </a:ext>
            </a:extLst>
          </p:cNvPr>
          <p:cNvSpPr>
            <a:spLocks noGrp="1"/>
          </p:cNvSpPr>
          <p:nvPr/>
        </p:nvSpPr>
        <p:spPr>
          <a:xfrm>
            <a:off x="14433478" y="859129"/>
            <a:ext cx="5930983" cy="94897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R:  Harry </a:t>
            </a:r>
            <a:r>
              <a:rPr lang="pt-BR" dirty="0"/>
              <a:t>vai </a:t>
            </a:r>
            <a:r>
              <a:rPr dirty="0" err="1"/>
              <a:t>correr</a:t>
            </a:r>
            <a:r>
              <a:rPr dirty="0"/>
              <a:t>.</a:t>
            </a:r>
          </a:p>
        </p:txBody>
      </p:sp>
      <p:sp>
        <p:nvSpPr>
          <p:cNvPr id="227" name="KB:">
            <a:extLst>
              <a:ext uri="{FF2B5EF4-FFF2-40B4-BE49-F238E27FC236}">
                <a16:creationId xmlns:a16="http://schemas.microsoft.com/office/drawing/2014/main" id="{1F9698B4-ABCD-9A03-58BF-5A0A6184998D}"/>
              </a:ext>
            </a:extLst>
          </p:cNvPr>
          <p:cNvSpPr>
            <a:spLocks noGrp="1"/>
          </p:cNvSpPr>
          <p:nvPr/>
        </p:nvSpPr>
        <p:spPr>
          <a:xfrm>
            <a:off x="1101818" y="1915259"/>
            <a:ext cx="180796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KB:</a:t>
            </a:r>
          </a:p>
        </p:txBody>
      </p:sp>
      <p:sp>
        <p:nvSpPr>
          <p:cNvPr id="228" name="(P ∧ ¬Q) → R">
            <a:extLst>
              <a:ext uri="{FF2B5EF4-FFF2-40B4-BE49-F238E27FC236}">
                <a16:creationId xmlns:a16="http://schemas.microsoft.com/office/drawing/2014/main" id="{D71D0A8E-179C-AE4C-408E-589CF6A61150}"/>
              </a:ext>
            </a:extLst>
          </p:cNvPr>
          <p:cNvSpPr>
            <a:spLocks noGrp="1"/>
          </p:cNvSpPr>
          <p:nvPr/>
        </p:nvSpPr>
        <p:spPr>
          <a:xfrm>
            <a:off x="3691754" y="1898143"/>
            <a:ext cx="5955805" cy="124837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P </a:t>
            </a:r>
            <a:r>
              <a:t>∧ ¬</a:t>
            </a:r>
            <a:r>
              <a:rPr i="1"/>
              <a:t>Q</a:t>
            </a:r>
            <a:r>
              <a:t>) → </a:t>
            </a:r>
            <a:r>
              <a:rPr i="1"/>
              <a:t>R</a:t>
            </a:r>
          </a:p>
        </p:txBody>
      </p:sp>
      <p:sp>
        <p:nvSpPr>
          <p:cNvPr id="229" name="P">
            <a:extLst>
              <a:ext uri="{FF2B5EF4-FFF2-40B4-BE49-F238E27FC236}">
                <a16:creationId xmlns:a16="http://schemas.microsoft.com/office/drawing/2014/main" id="{A66F7720-9561-1331-F233-4CFF40861A79}"/>
              </a:ext>
            </a:extLst>
          </p:cNvPr>
          <p:cNvSpPr>
            <a:spLocks noGrp="1"/>
          </p:cNvSpPr>
          <p:nvPr/>
        </p:nvSpPr>
        <p:spPr>
          <a:xfrm>
            <a:off x="12646708" y="1915259"/>
            <a:ext cx="734914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P</a:t>
            </a:r>
          </a:p>
        </p:txBody>
      </p:sp>
      <p:sp>
        <p:nvSpPr>
          <p:cNvPr id="230" name="¬Q">
            <a:extLst>
              <a:ext uri="{FF2B5EF4-FFF2-40B4-BE49-F238E27FC236}">
                <a16:creationId xmlns:a16="http://schemas.microsoft.com/office/drawing/2014/main" id="{B27B9EE5-5487-CA80-C593-816C1BCDD654}"/>
              </a:ext>
            </a:extLst>
          </p:cNvPr>
          <p:cNvSpPr>
            <a:spLocks noGrp="1"/>
          </p:cNvSpPr>
          <p:nvPr/>
        </p:nvSpPr>
        <p:spPr>
          <a:xfrm>
            <a:off x="16371346" y="1915259"/>
            <a:ext cx="153362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¬Q</a:t>
            </a:r>
          </a:p>
        </p:txBody>
      </p:sp>
      <p:sp>
        <p:nvSpPr>
          <p:cNvPr id="231" name="Query:">
            <a:extLst>
              <a:ext uri="{FF2B5EF4-FFF2-40B4-BE49-F238E27FC236}">
                <a16:creationId xmlns:a16="http://schemas.microsoft.com/office/drawing/2014/main" id="{F1A82DF4-2BAB-0942-A335-DAED8EDB8E90}"/>
              </a:ext>
            </a:extLst>
          </p:cNvPr>
          <p:cNvSpPr>
            <a:spLocks noGrp="1"/>
          </p:cNvSpPr>
          <p:nvPr/>
        </p:nvSpPr>
        <p:spPr>
          <a:xfrm>
            <a:off x="1002759" y="3090348"/>
            <a:ext cx="3163293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Consulta:</a:t>
            </a:r>
          </a:p>
        </p:txBody>
      </p:sp>
      <p:sp>
        <p:nvSpPr>
          <p:cNvPr id="232" name="R">
            <a:extLst>
              <a:ext uri="{FF2B5EF4-FFF2-40B4-BE49-F238E27FC236}">
                <a16:creationId xmlns:a16="http://schemas.microsoft.com/office/drawing/2014/main" id="{DCB5C4A3-45BB-22D8-346C-AB4606A23F82}"/>
              </a:ext>
            </a:extLst>
          </p:cNvPr>
          <p:cNvSpPr>
            <a:spLocks noGrp="1"/>
          </p:cNvSpPr>
          <p:nvPr/>
        </p:nvSpPr>
        <p:spPr>
          <a:xfrm>
            <a:off x="5692344" y="3143678"/>
            <a:ext cx="734914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</a:t>
            </a:r>
          </a:p>
        </p:txBody>
      </p:sp>
      <p:graphicFrame>
        <p:nvGraphicFramePr>
          <p:cNvPr id="243" name="Table 1">
            <a:extLst>
              <a:ext uri="{FF2B5EF4-FFF2-40B4-BE49-F238E27FC236}">
                <a16:creationId xmlns:a16="http://schemas.microsoft.com/office/drawing/2014/main" id="{EC888E7E-63E9-62C4-6FB1-CD99462499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7203010"/>
              </p:ext>
            </p:extLst>
          </p:nvPr>
        </p:nvGraphicFramePr>
        <p:xfrm>
          <a:off x="1238943" y="4462325"/>
          <a:ext cx="21906112" cy="890016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5476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dirty="0"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51229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80F75-D493-F25E-C0E6-B4C24D50C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:  It is a Tuesday.">
            <a:extLst>
              <a:ext uri="{FF2B5EF4-FFF2-40B4-BE49-F238E27FC236}">
                <a16:creationId xmlns:a16="http://schemas.microsoft.com/office/drawing/2014/main" id="{FDDCC9E7-C787-E6BF-52C9-A8F4E73A2E79}"/>
              </a:ext>
            </a:extLst>
          </p:cNvPr>
          <p:cNvSpPr>
            <a:spLocks noGrp="1"/>
          </p:cNvSpPr>
          <p:nvPr/>
        </p:nvSpPr>
        <p:spPr>
          <a:xfrm>
            <a:off x="1157994" y="863717"/>
            <a:ext cx="5731292" cy="939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t>P:  É terça-feira.</a:t>
            </a:r>
          </a:p>
        </p:txBody>
      </p:sp>
      <p:sp>
        <p:nvSpPr>
          <p:cNvPr id="225" name="Q:  It is raining.">
            <a:extLst>
              <a:ext uri="{FF2B5EF4-FFF2-40B4-BE49-F238E27FC236}">
                <a16:creationId xmlns:a16="http://schemas.microsoft.com/office/drawing/2014/main" id="{FE191AF4-7B5D-F04B-698D-E215BD2E9FC3}"/>
              </a:ext>
            </a:extLst>
          </p:cNvPr>
          <p:cNvSpPr>
            <a:spLocks noGrp="1"/>
          </p:cNvSpPr>
          <p:nvPr/>
        </p:nvSpPr>
        <p:spPr>
          <a:xfrm>
            <a:off x="8280730" y="863717"/>
            <a:ext cx="4733678" cy="939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t>Q:  Está chovendo.</a:t>
            </a:r>
          </a:p>
        </p:txBody>
      </p:sp>
      <p:sp>
        <p:nvSpPr>
          <p:cNvPr id="226" name="R:  Harry will go for a run.">
            <a:extLst>
              <a:ext uri="{FF2B5EF4-FFF2-40B4-BE49-F238E27FC236}">
                <a16:creationId xmlns:a16="http://schemas.microsoft.com/office/drawing/2014/main" id="{1182F54A-4A5F-41C4-6DDB-93EF8F60909D}"/>
              </a:ext>
            </a:extLst>
          </p:cNvPr>
          <p:cNvSpPr>
            <a:spLocks noGrp="1"/>
          </p:cNvSpPr>
          <p:nvPr/>
        </p:nvSpPr>
        <p:spPr>
          <a:xfrm>
            <a:off x="14433478" y="859129"/>
            <a:ext cx="5930983" cy="94897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R:  Harry </a:t>
            </a:r>
            <a:r>
              <a:rPr lang="pt-BR" dirty="0"/>
              <a:t>vai </a:t>
            </a:r>
            <a:r>
              <a:rPr dirty="0" err="1"/>
              <a:t>correr</a:t>
            </a:r>
            <a:r>
              <a:rPr dirty="0"/>
              <a:t>.</a:t>
            </a:r>
          </a:p>
        </p:txBody>
      </p:sp>
      <p:sp>
        <p:nvSpPr>
          <p:cNvPr id="227" name="KB:">
            <a:extLst>
              <a:ext uri="{FF2B5EF4-FFF2-40B4-BE49-F238E27FC236}">
                <a16:creationId xmlns:a16="http://schemas.microsoft.com/office/drawing/2014/main" id="{27AE6D30-563F-F3B0-CFCC-67EB82CAD4CF}"/>
              </a:ext>
            </a:extLst>
          </p:cNvPr>
          <p:cNvSpPr>
            <a:spLocks noGrp="1"/>
          </p:cNvSpPr>
          <p:nvPr/>
        </p:nvSpPr>
        <p:spPr>
          <a:xfrm>
            <a:off x="1101818" y="1915259"/>
            <a:ext cx="180796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KB:</a:t>
            </a:r>
          </a:p>
        </p:txBody>
      </p:sp>
      <p:sp>
        <p:nvSpPr>
          <p:cNvPr id="228" name="(P ∧ ¬Q) → R">
            <a:extLst>
              <a:ext uri="{FF2B5EF4-FFF2-40B4-BE49-F238E27FC236}">
                <a16:creationId xmlns:a16="http://schemas.microsoft.com/office/drawing/2014/main" id="{CFDC7DA7-CEC0-9ED4-E7FF-F24471DCE59E}"/>
              </a:ext>
            </a:extLst>
          </p:cNvPr>
          <p:cNvSpPr>
            <a:spLocks noGrp="1"/>
          </p:cNvSpPr>
          <p:nvPr/>
        </p:nvSpPr>
        <p:spPr>
          <a:xfrm>
            <a:off x="3691754" y="1898143"/>
            <a:ext cx="5955805" cy="124837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P </a:t>
            </a:r>
            <a:r>
              <a:t>∧ ¬</a:t>
            </a:r>
            <a:r>
              <a:rPr i="1"/>
              <a:t>Q</a:t>
            </a:r>
            <a:r>
              <a:t>) → </a:t>
            </a:r>
            <a:r>
              <a:rPr i="1"/>
              <a:t>R</a:t>
            </a:r>
          </a:p>
        </p:txBody>
      </p:sp>
      <p:sp>
        <p:nvSpPr>
          <p:cNvPr id="229" name="P">
            <a:extLst>
              <a:ext uri="{FF2B5EF4-FFF2-40B4-BE49-F238E27FC236}">
                <a16:creationId xmlns:a16="http://schemas.microsoft.com/office/drawing/2014/main" id="{49C9D7BC-7DC0-FC89-6124-E5B0449700B7}"/>
              </a:ext>
            </a:extLst>
          </p:cNvPr>
          <p:cNvSpPr>
            <a:spLocks noGrp="1"/>
          </p:cNvSpPr>
          <p:nvPr/>
        </p:nvSpPr>
        <p:spPr>
          <a:xfrm>
            <a:off x="12646708" y="1915259"/>
            <a:ext cx="734914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P</a:t>
            </a:r>
          </a:p>
        </p:txBody>
      </p:sp>
      <p:sp>
        <p:nvSpPr>
          <p:cNvPr id="230" name="¬Q">
            <a:extLst>
              <a:ext uri="{FF2B5EF4-FFF2-40B4-BE49-F238E27FC236}">
                <a16:creationId xmlns:a16="http://schemas.microsoft.com/office/drawing/2014/main" id="{2B398412-520D-864D-5292-892F36E484F7}"/>
              </a:ext>
            </a:extLst>
          </p:cNvPr>
          <p:cNvSpPr>
            <a:spLocks noGrp="1"/>
          </p:cNvSpPr>
          <p:nvPr/>
        </p:nvSpPr>
        <p:spPr>
          <a:xfrm>
            <a:off x="16371346" y="1915259"/>
            <a:ext cx="153362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¬Q</a:t>
            </a:r>
          </a:p>
        </p:txBody>
      </p:sp>
      <p:sp>
        <p:nvSpPr>
          <p:cNvPr id="231" name="Query:">
            <a:extLst>
              <a:ext uri="{FF2B5EF4-FFF2-40B4-BE49-F238E27FC236}">
                <a16:creationId xmlns:a16="http://schemas.microsoft.com/office/drawing/2014/main" id="{F5961B96-C088-3FDF-93BE-1874CB08BBF6}"/>
              </a:ext>
            </a:extLst>
          </p:cNvPr>
          <p:cNvSpPr>
            <a:spLocks noGrp="1"/>
          </p:cNvSpPr>
          <p:nvPr/>
        </p:nvSpPr>
        <p:spPr>
          <a:xfrm>
            <a:off x="1002759" y="3090348"/>
            <a:ext cx="3163293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Consulta:</a:t>
            </a:r>
          </a:p>
        </p:txBody>
      </p:sp>
      <p:sp>
        <p:nvSpPr>
          <p:cNvPr id="232" name="R">
            <a:extLst>
              <a:ext uri="{FF2B5EF4-FFF2-40B4-BE49-F238E27FC236}">
                <a16:creationId xmlns:a16="http://schemas.microsoft.com/office/drawing/2014/main" id="{3F3B5869-6979-B994-F2A3-619BAF2ADEC1}"/>
              </a:ext>
            </a:extLst>
          </p:cNvPr>
          <p:cNvSpPr>
            <a:spLocks noGrp="1"/>
          </p:cNvSpPr>
          <p:nvPr/>
        </p:nvSpPr>
        <p:spPr>
          <a:xfrm>
            <a:off x="5692344" y="3143678"/>
            <a:ext cx="734914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</a:t>
            </a:r>
          </a:p>
        </p:txBody>
      </p:sp>
      <p:graphicFrame>
        <p:nvGraphicFramePr>
          <p:cNvPr id="243" name="Table 1">
            <a:extLst>
              <a:ext uri="{FF2B5EF4-FFF2-40B4-BE49-F238E27FC236}">
                <a16:creationId xmlns:a16="http://schemas.microsoft.com/office/drawing/2014/main" id="{9517452A-51F5-2D71-C70D-55CF399433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044911"/>
              </p:ext>
            </p:extLst>
          </p:nvPr>
        </p:nvGraphicFramePr>
        <p:xfrm>
          <a:off x="1238943" y="4462325"/>
          <a:ext cx="21906112" cy="890016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5476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dirty="0"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18407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4A432-5073-3A6B-C58F-8F4928697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:  It is a Tuesday.">
            <a:extLst>
              <a:ext uri="{FF2B5EF4-FFF2-40B4-BE49-F238E27FC236}">
                <a16:creationId xmlns:a16="http://schemas.microsoft.com/office/drawing/2014/main" id="{64403B46-9E15-99DE-04DE-093ADAA1915F}"/>
              </a:ext>
            </a:extLst>
          </p:cNvPr>
          <p:cNvSpPr>
            <a:spLocks noGrp="1"/>
          </p:cNvSpPr>
          <p:nvPr/>
        </p:nvSpPr>
        <p:spPr>
          <a:xfrm>
            <a:off x="1157994" y="863717"/>
            <a:ext cx="5731292" cy="939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t>P:  É terça-feira.</a:t>
            </a:r>
          </a:p>
        </p:txBody>
      </p:sp>
      <p:sp>
        <p:nvSpPr>
          <p:cNvPr id="225" name="Q:  It is raining.">
            <a:extLst>
              <a:ext uri="{FF2B5EF4-FFF2-40B4-BE49-F238E27FC236}">
                <a16:creationId xmlns:a16="http://schemas.microsoft.com/office/drawing/2014/main" id="{D2C7A88B-9FA5-9300-EC6C-52B335F9D230}"/>
              </a:ext>
            </a:extLst>
          </p:cNvPr>
          <p:cNvSpPr>
            <a:spLocks noGrp="1"/>
          </p:cNvSpPr>
          <p:nvPr/>
        </p:nvSpPr>
        <p:spPr>
          <a:xfrm>
            <a:off x="8280730" y="863717"/>
            <a:ext cx="4733678" cy="939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t>Q:  Está chovendo.</a:t>
            </a:r>
          </a:p>
        </p:txBody>
      </p:sp>
      <p:sp>
        <p:nvSpPr>
          <p:cNvPr id="226" name="R:  Harry will go for a run.">
            <a:extLst>
              <a:ext uri="{FF2B5EF4-FFF2-40B4-BE49-F238E27FC236}">
                <a16:creationId xmlns:a16="http://schemas.microsoft.com/office/drawing/2014/main" id="{8A4B38DC-CD05-06AA-8A4D-E2FA64094E78}"/>
              </a:ext>
            </a:extLst>
          </p:cNvPr>
          <p:cNvSpPr>
            <a:spLocks noGrp="1"/>
          </p:cNvSpPr>
          <p:nvPr/>
        </p:nvSpPr>
        <p:spPr>
          <a:xfrm>
            <a:off x="14433478" y="859129"/>
            <a:ext cx="5930983" cy="94897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R:  Harry </a:t>
            </a:r>
            <a:r>
              <a:rPr lang="pt-BR" dirty="0"/>
              <a:t>vai </a:t>
            </a:r>
            <a:r>
              <a:rPr dirty="0" err="1"/>
              <a:t>correr</a:t>
            </a:r>
            <a:r>
              <a:rPr dirty="0"/>
              <a:t>.</a:t>
            </a:r>
          </a:p>
        </p:txBody>
      </p:sp>
      <p:sp>
        <p:nvSpPr>
          <p:cNvPr id="227" name="KB:">
            <a:extLst>
              <a:ext uri="{FF2B5EF4-FFF2-40B4-BE49-F238E27FC236}">
                <a16:creationId xmlns:a16="http://schemas.microsoft.com/office/drawing/2014/main" id="{3120663F-8097-093B-2B8A-EF9AD8ED6B69}"/>
              </a:ext>
            </a:extLst>
          </p:cNvPr>
          <p:cNvSpPr>
            <a:spLocks noGrp="1"/>
          </p:cNvSpPr>
          <p:nvPr/>
        </p:nvSpPr>
        <p:spPr>
          <a:xfrm>
            <a:off x="1101818" y="1915259"/>
            <a:ext cx="180796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KB:</a:t>
            </a:r>
          </a:p>
        </p:txBody>
      </p:sp>
      <p:sp>
        <p:nvSpPr>
          <p:cNvPr id="228" name="(P ∧ ¬Q) → R">
            <a:extLst>
              <a:ext uri="{FF2B5EF4-FFF2-40B4-BE49-F238E27FC236}">
                <a16:creationId xmlns:a16="http://schemas.microsoft.com/office/drawing/2014/main" id="{C402636E-5C78-77F2-65D0-D72D96C1ED8E}"/>
              </a:ext>
            </a:extLst>
          </p:cNvPr>
          <p:cNvSpPr>
            <a:spLocks noGrp="1"/>
          </p:cNvSpPr>
          <p:nvPr/>
        </p:nvSpPr>
        <p:spPr>
          <a:xfrm>
            <a:off x="3691754" y="1898143"/>
            <a:ext cx="5955805" cy="124837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P </a:t>
            </a:r>
            <a:r>
              <a:t>∧ ¬</a:t>
            </a:r>
            <a:r>
              <a:rPr i="1"/>
              <a:t>Q</a:t>
            </a:r>
            <a:r>
              <a:t>) → </a:t>
            </a:r>
            <a:r>
              <a:rPr i="1"/>
              <a:t>R</a:t>
            </a:r>
          </a:p>
        </p:txBody>
      </p:sp>
      <p:sp>
        <p:nvSpPr>
          <p:cNvPr id="229" name="P">
            <a:extLst>
              <a:ext uri="{FF2B5EF4-FFF2-40B4-BE49-F238E27FC236}">
                <a16:creationId xmlns:a16="http://schemas.microsoft.com/office/drawing/2014/main" id="{14152F1A-1646-FFF7-EE1A-479411C38307}"/>
              </a:ext>
            </a:extLst>
          </p:cNvPr>
          <p:cNvSpPr>
            <a:spLocks noGrp="1"/>
          </p:cNvSpPr>
          <p:nvPr/>
        </p:nvSpPr>
        <p:spPr>
          <a:xfrm>
            <a:off x="12646708" y="1915259"/>
            <a:ext cx="734914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P</a:t>
            </a:r>
          </a:p>
        </p:txBody>
      </p:sp>
      <p:sp>
        <p:nvSpPr>
          <p:cNvPr id="230" name="¬Q">
            <a:extLst>
              <a:ext uri="{FF2B5EF4-FFF2-40B4-BE49-F238E27FC236}">
                <a16:creationId xmlns:a16="http://schemas.microsoft.com/office/drawing/2014/main" id="{9426EFE3-3C8A-EB11-C63E-01229626A0C2}"/>
              </a:ext>
            </a:extLst>
          </p:cNvPr>
          <p:cNvSpPr>
            <a:spLocks noGrp="1"/>
          </p:cNvSpPr>
          <p:nvPr/>
        </p:nvSpPr>
        <p:spPr>
          <a:xfrm>
            <a:off x="16371346" y="1915259"/>
            <a:ext cx="153362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¬Q</a:t>
            </a:r>
          </a:p>
        </p:txBody>
      </p:sp>
      <p:sp>
        <p:nvSpPr>
          <p:cNvPr id="231" name="Query:">
            <a:extLst>
              <a:ext uri="{FF2B5EF4-FFF2-40B4-BE49-F238E27FC236}">
                <a16:creationId xmlns:a16="http://schemas.microsoft.com/office/drawing/2014/main" id="{D994F02A-9E50-E4DA-0D7B-4846F4373B94}"/>
              </a:ext>
            </a:extLst>
          </p:cNvPr>
          <p:cNvSpPr>
            <a:spLocks noGrp="1"/>
          </p:cNvSpPr>
          <p:nvPr/>
        </p:nvSpPr>
        <p:spPr>
          <a:xfrm>
            <a:off x="1002759" y="3090348"/>
            <a:ext cx="3163293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Consulta:</a:t>
            </a:r>
          </a:p>
        </p:txBody>
      </p:sp>
      <p:sp>
        <p:nvSpPr>
          <p:cNvPr id="232" name="R">
            <a:extLst>
              <a:ext uri="{FF2B5EF4-FFF2-40B4-BE49-F238E27FC236}">
                <a16:creationId xmlns:a16="http://schemas.microsoft.com/office/drawing/2014/main" id="{199FF801-3A0D-B1D5-FA1B-24E9FBA2A911}"/>
              </a:ext>
            </a:extLst>
          </p:cNvPr>
          <p:cNvSpPr>
            <a:spLocks noGrp="1"/>
          </p:cNvSpPr>
          <p:nvPr/>
        </p:nvSpPr>
        <p:spPr>
          <a:xfrm>
            <a:off x="5692344" y="3143678"/>
            <a:ext cx="734914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</a:t>
            </a:r>
          </a:p>
        </p:txBody>
      </p:sp>
      <p:graphicFrame>
        <p:nvGraphicFramePr>
          <p:cNvPr id="243" name="Table 1">
            <a:extLst>
              <a:ext uri="{FF2B5EF4-FFF2-40B4-BE49-F238E27FC236}">
                <a16:creationId xmlns:a16="http://schemas.microsoft.com/office/drawing/2014/main" id="{87C3E264-6C63-7401-6B59-04F077960B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7886899"/>
              </p:ext>
            </p:extLst>
          </p:nvPr>
        </p:nvGraphicFramePr>
        <p:xfrm>
          <a:off x="1238943" y="4462325"/>
          <a:ext cx="21906112" cy="890016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5476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pitchFamily="49" charset="0"/>
                          <a:ea typeface="Consolas"/>
                          <a:cs typeface="Consolas" panose="020B0609020204030204" pitchFamily="49" charset="0"/>
                        </a:rPr>
                        <a:t>false</a:t>
                      </a:r>
                      <a:endParaRPr sz="5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pitchFamily="49" charset="0"/>
                          <a:ea typeface="Consolas"/>
                          <a:cs typeface="Consolas" panose="020B0609020204030204" pitchFamily="49" charset="0"/>
                        </a:rPr>
                        <a:t>false</a:t>
                      </a:r>
                      <a:endParaRPr sz="5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pitchFamily="49" charset="0"/>
                          <a:ea typeface="Consolas"/>
                          <a:cs typeface="Consolas" panose="020B0609020204030204" pitchFamily="49" charset="0"/>
                        </a:rPr>
                        <a:t>false</a:t>
                      </a:r>
                      <a:endParaRPr sz="5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pitchFamily="49" charset="0"/>
                          <a:ea typeface="Consolas"/>
                          <a:cs typeface="Consolas" panose="020B0609020204030204" pitchFamily="49" charset="0"/>
                        </a:rPr>
                        <a:t>false</a:t>
                      </a:r>
                      <a:endParaRPr sz="5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pitchFamily="49" charset="0"/>
                          <a:ea typeface="Consolas"/>
                          <a:cs typeface="Consolas" panose="020B0609020204030204" pitchFamily="49" charset="0"/>
                        </a:rPr>
                        <a:t>false</a:t>
                      </a:r>
                      <a:endParaRPr sz="5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5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true</a:t>
                      </a:r>
                      <a:endParaRPr sz="5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pitchFamily="49" charset="0"/>
                          <a:ea typeface="Consolas"/>
                          <a:cs typeface="Consolas" panose="020B0609020204030204" pitchFamily="49" charset="0"/>
                        </a:rPr>
                        <a:t>false</a:t>
                      </a:r>
                      <a:endParaRPr sz="5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pitchFamily="49" charset="0"/>
                          <a:ea typeface="Consolas"/>
                          <a:cs typeface="Consolas" panose="020B0609020204030204" pitchFamily="49" charset="0"/>
                        </a:rPr>
                        <a:t>false</a:t>
                      </a:r>
                      <a:endParaRPr sz="5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2545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73303-98F0-4D7C-9994-514EE3CB2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:  It is a Tuesday.">
            <a:extLst>
              <a:ext uri="{FF2B5EF4-FFF2-40B4-BE49-F238E27FC236}">
                <a16:creationId xmlns:a16="http://schemas.microsoft.com/office/drawing/2014/main" id="{DC80FA46-C17C-0BB7-EA99-19CDD8CA5969}"/>
              </a:ext>
            </a:extLst>
          </p:cNvPr>
          <p:cNvSpPr>
            <a:spLocks noGrp="1"/>
          </p:cNvSpPr>
          <p:nvPr/>
        </p:nvSpPr>
        <p:spPr>
          <a:xfrm>
            <a:off x="1157994" y="863717"/>
            <a:ext cx="5731292" cy="939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t>P:  É terça-feira.</a:t>
            </a:r>
          </a:p>
        </p:txBody>
      </p:sp>
      <p:sp>
        <p:nvSpPr>
          <p:cNvPr id="225" name="Q:  It is raining.">
            <a:extLst>
              <a:ext uri="{FF2B5EF4-FFF2-40B4-BE49-F238E27FC236}">
                <a16:creationId xmlns:a16="http://schemas.microsoft.com/office/drawing/2014/main" id="{3516A513-3068-B491-D140-02505CE78B3E}"/>
              </a:ext>
            </a:extLst>
          </p:cNvPr>
          <p:cNvSpPr>
            <a:spLocks noGrp="1"/>
          </p:cNvSpPr>
          <p:nvPr/>
        </p:nvSpPr>
        <p:spPr>
          <a:xfrm>
            <a:off x="8280730" y="863717"/>
            <a:ext cx="4733678" cy="939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t>Q:  Está chovendo.</a:t>
            </a:r>
          </a:p>
        </p:txBody>
      </p:sp>
      <p:sp>
        <p:nvSpPr>
          <p:cNvPr id="226" name="R:  Harry will go for a run.">
            <a:extLst>
              <a:ext uri="{FF2B5EF4-FFF2-40B4-BE49-F238E27FC236}">
                <a16:creationId xmlns:a16="http://schemas.microsoft.com/office/drawing/2014/main" id="{DDDE08F5-D5CA-0582-AE9A-4B790EFA008A}"/>
              </a:ext>
            </a:extLst>
          </p:cNvPr>
          <p:cNvSpPr>
            <a:spLocks noGrp="1"/>
          </p:cNvSpPr>
          <p:nvPr/>
        </p:nvSpPr>
        <p:spPr>
          <a:xfrm>
            <a:off x="14433478" y="859129"/>
            <a:ext cx="5930983" cy="94897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5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R:  Harry </a:t>
            </a:r>
            <a:r>
              <a:rPr lang="pt-BR" dirty="0"/>
              <a:t>vai </a:t>
            </a:r>
            <a:r>
              <a:rPr dirty="0" err="1"/>
              <a:t>correr</a:t>
            </a:r>
            <a:r>
              <a:rPr dirty="0"/>
              <a:t>.</a:t>
            </a:r>
          </a:p>
        </p:txBody>
      </p:sp>
      <p:sp>
        <p:nvSpPr>
          <p:cNvPr id="227" name="KB:">
            <a:extLst>
              <a:ext uri="{FF2B5EF4-FFF2-40B4-BE49-F238E27FC236}">
                <a16:creationId xmlns:a16="http://schemas.microsoft.com/office/drawing/2014/main" id="{B618152E-4218-D0BF-5560-856693DEDBF8}"/>
              </a:ext>
            </a:extLst>
          </p:cNvPr>
          <p:cNvSpPr>
            <a:spLocks noGrp="1"/>
          </p:cNvSpPr>
          <p:nvPr/>
        </p:nvSpPr>
        <p:spPr>
          <a:xfrm>
            <a:off x="1101818" y="1915259"/>
            <a:ext cx="180796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KB:</a:t>
            </a:r>
          </a:p>
        </p:txBody>
      </p:sp>
      <p:sp>
        <p:nvSpPr>
          <p:cNvPr id="228" name="(P ∧ ¬Q) → R">
            <a:extLst>
              <a:ext uri="{FF2B5EF4-FFF2-40B4-BE49-F238E27FC236}">
                <a16:creationId xmlns:a16="http://schemas.microsoft.com/office/drawing/2014/main" id="{35716E4C-621C-E5D4-39A2-D204942A293B}"/>
              </a:ext>
            </a:extLst>
          </p:cNvPr>
          <p:cNvSpPr>
            <a:spLocks noGrp="1"/>
          </p:cNvSpPr>
          <p:nvPr/>
        </p:nvSpPr>
        <p:spPr>
          <a:xfrm>
            <a:off x="3691754" y="1898143"/>
            <a:ext cx="5955805" cy="124837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P </a:t>
            </a:r>
            <a:r>
              <a:t>∧ ¬</a:t>
            </a:r>
            <a:r>
              <a:rPr i="1"/>
              <a:t>Q</a:t>
            </a:r>
            <a:r>
              <a:t>) → </a:t>
            </a:r>
            <a:r>
              <a:rPr i="1"/>
              <a:t>R</a:t>
            </a:r>
          </a:p>
        </p:txBody>
      </p:sp>
      <p:sp>
        <p:nvSpPr>
          <p:cNvPr id="229" name="P">
            <a:extLst>
              <a:ext uri="{FF2B5EF4-FFF2-40B4-BE49-F238E27FC236}">
                <a16:creationId xmlns:a16="http://schemas.microsoft.com/office/drawing/2014/main" id="{C9916425-A2B9-B25C-211A-BF2A7A729308}"/>
              </a:ext>
            </a:extLst>
          </p:cNvPr>
          <p:cNvSpPr>
            <a:spLocks noGrp="1"/>
          </p:cNvSpPr>
          <p:nvPr/>
        </p:nvSpPr>
        <p:spPr>
          <a:xfrm>
            <a:off x="12646708" y="1915259"/>
            <a:ext cx="734914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P</a:t>
            </a:r>
          </a:p>
        </p:txBody>
      </p:sp>
      <p:sp>
        <p:nvSpPr>
          <p:cNvPr id="230" name="¬Q">
            <a:extLst>
              <a:ext uri="{FF2B5EF4-FFF2-40B4-BE49-F238E27FC236}">
                <a16:creationId xmlns:a16="http://schemas.microsoft.com/office/drawing/2014/main" id="{CD673463-11DC-0357-1B65-B35EF718554C}"/>
              </a:ext>
            </a:extLst>
          </p:cNvPr>
          <p:cNvSpPr>
            <a:spLocks noGrp="1"/>
          </p:cNvSpPr>
          <p:nvPr/>
        </p:nvSpPr>
        <p:spPr>
          <a:xfrm>
            <a:off x="16371346" y="1915259"/>
            <a:ext cx="1533625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¬Q</a:t>
            </a:r>
          </a:p>
        </p:txBody>
      </p:sp>
      <p:sp>
        <p:nvSpPr>
          <p:cNvPr id="231" name="Query:">
            <a:extLst>
              <a:ext uri="{FF2B5EF4-FFF2-40B4-BE49-F238E27FC236}">
                <a16:creationId xmlns:a16="http://schemas.microsoft.com/office/drawing/2014/main" id="{FD558748-2A4B-C61D-7012-8DB83B03C384}"/>
              </a:ext>
            </a:extLst>
          </p:cNvPr>
          <p:cNvSpPr>
            <a:spLocks noGrp="1"/>
          </p:cNvSpPr>
          <p:nvPr/>
        </p:nvSpPr>
        <p:spPr>
          <a:xfrm>
            <a:off x="1002759" y="3090348"/>
            <a:ext cx="3163293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Consulta:</a:t>
            </a:r>
          </a:p>
        </p:txBody>
      </p:sp>
      <p:sp>
        <p:nvSpPr>
          <p:cNvPr id="232" name="R">
            <a:extLst>
              <a:ext uri="{FF2B5EF4-FFF2-40B4-BE49-F238E27FC236}">
                <a16:creationId xmlns:a16="http://schemas.microsoft.com/office/drawing/2014/main" id="{CAAB8749-73E0-636A-CE1B-D3E6CB3D26E6}"/>
              </a:ext>
            </a:extLst>
          </p:cNvPr>
          <p:cNvSpPr>
            <a:spLocks noGrp="1"/>
          </p:cNvSpPr>
          <p:nvPr/>
        </p:nvSpPr>
        <p:spPr>
          <a:xfrm>
            <a:off x="5692344" y="3143678"/>
            <a:ext cx="734914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</a:t>
            </a:r>
          </a:p>
        </p:txBody>
      </p:sp>
      <p:graphicFrame>
        <p:nvGraphicFramePr>
          <p:cNvPr id="243" name="Table 1">
            <a:extLst>
              <a:ext uri="{FF2B5EF4-FFF2-40B4-BE49-F238E27FC236}">
                <a16:creationId xmlns:a16="http://schemas.microsoft.com/office/drawing/2014/main" id="{5AE80B04-A700-4CF5-CA17-23DF1382E1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2304100"/>
              </p:ext>
            </p:extLst>
          </p:nvPr>
        </p:nvGraphicFramePr>
        <p:xfrm>
          <a:off x="1238943" y="4462325"/>
          <a:ext cx="21906112" cy="890016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5476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6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pitchFamily="49" charset="0"/>
                          <a:ea typeface="Consolas"/>
                          <a:cs typeface="Consolas" panose="020B0609020204030204" pitchFamily="49" charset="0"/>
                        </a:rPr>
                        <a:t>false</a:t>
                      </a:r>
                      <a:endParaRPr sz="5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pitchFamily="49" charset="0"/>
                          <a:ea typeface="Consolas"/>
                          <a:cs typeface="Consolas" panose="020B0609020204030204" pitchFamily="49" charset="0"/>
                        </a:rPr>
                        <a:t>false</a:t>
                      </a:r>
                      <a:endParaRPr sz="5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pitchFamily="49" charset="0"/>
                          <a:ea typeface="Consolas"/>
                          <a:cs typeface="Consolas" panose="020B0609020204030204" pitchFamily="49" charset="0"/>
                        </a:rPr>
                        <a:t>false</a:t>
                      </a:r>
                      <a:endParaRPr sz="5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pitchFamily="49" charset="0"/>
                          <a:ea typeface="Consolas"/>
                          <a:cs typeface="Consolas" panose="020B0609020204030204" pitchFamily="49" charset="0"/>
                        </a:rPr>
                        <a:t>false</a:t>
                      </a:r>
                      <a:endParaRPr sz="5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pitchFamily="49" charset="0"/>
                          <a:ea typeface="Consolas"/>
                          <a:cs typeface="Consolas" panose="020B0609020204030204" pitchFamily="49" charset="0"/>
                        </a:rPr>
                        <a:t>false</a:t>
                      </a:r>
                      <a:endParaRPr sz="5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5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true</a:t>
                      </a:r>
                      <a:endParaRPr sz="5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pitchFamily="49" charset="0"/>
                          <a:ea typeface="Consolas"/>
                          <a:cs typeface="Consolas" panose="020B0609020204030204" pitchFamily="49" charset="0"/>
                        </a:rPr>
                        <a:t>false</a:t>
                      </a:r>
                      <a:endParaRPr sz="5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26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strike="sngStrike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800" dirty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pitchFamily="49" charset="0"/>
                          <a:ea typeface="Consolas"/>
                          <a:cs typeface="Consolas" panose="020B0609020204030204" pitchFamily="49" charset="0"/>
                        </a:rPr>
                        <a:t>false</a:t>
                      </a:r>
                      <a:endParaRPr sz="5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06013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Knowledge Engineering">
            <a:extLst>
              <a:ext uri="{FF2B5EF4-FFF2-40B4-BE49-F238E27FC236}">
                <a16:creationId xmlns:a16="http://schemas.microsoft.com/office/drawing/2014/main" id="{CFDEA930-42D4-42B7-8B3C-4917FEC1F9A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Engenharia do Conhecimento</a:t>
            </a:r>
          </a:p>
        </p:txBody>
      </p:sp>
    </p:spTree>
    <p:extLst>
      <p:ext uri="{BB962C8B-B14F-4D97-AF65-F5344CB8AC3E}">
        <p14:creationId xmlns:p14="http://schemas.microsoft.com/office/powerpoint/2010/main" val="19923404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Clue">
            <a:extLst>
              <a:ext uri="{FF2B5EF4-FFF2-40B4-BE49-F238E27FC236}">
                <a16:creationId xmlns:a16="http://schemas.microsoft.com/office/drawing/2014/main" id="{FE7C76BC-1C6D-4B6E-93D8-4AB491CD18E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Clue</a:t>
            </a:r>
          </a:p>
        </p:txBody>
      </p:sp>
      <p:pic>
        <p:nvPicPr>
          <p:cNvPr id="262" name="clue.jpg"/>
          <p:cNvPicPr>
            <a:picLocks noChangeAspect="1"/>
          </p:cNvPicPr>
          <p:nvPr/>
        </p:nvPicPr>
        <p:blipFill>
          <a:blip r:embed="rId3"/>
          <a:srcRect l="4106" t="6549" r="1377" b="3092"/>
          <a:stretch>
            <a:fillRect/>
          </a:stretch>
        </p:blipFill>
        <p:spPr>
          <a:xfrm>
            <a:off x="9064662" y="661894"/>
            <a:ext cx="13044092" cy="12392213"/>
          </a:xfrm>
          <a:ln w="12700">
            <a:miter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DCD1395-5D98-C148-FB1D-A8A33E350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705" y="1515855"/>
            <a:ext cx="11242589" cy="1068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234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lue">
            <a:extLst>
              <a:ext uri="{FF2B5EF4-FFF2-40B4-BE49-F238E27FC236}">
                <a16:creationId xmlns:a16="http://schemas.microsoft.com/office/drawing/2014/main" id="{3D74C7C7-1BA7-4BD9-90E1-CFC9AEE0B08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/>
              <a:t>Clue</a:t>
            </a:r>
            <a:r>
              <a:rPr lang="pt-BR" dirty="0"/>
              <a:t> (Detetive)</a:t>
            </a:r>
            <a:endParaRPr dirty="0"/>
          </a:p>
        </p:txBody>
      </p:sp>
      <p:sp>
        <p:nvSpPr>
          <p:cNvPr id="263" name="Col. Mustard">
            <a:extLst>
              <a:ext uri="{FF2B5EF4-FFF2-40B4-BE49-F238E27FC236}">
                <a16:creationId xmlns:a16="http://schemas.microsoft.com/office/drawing/2014/main" id="{C35F0C5E-FBCA-417B-B4A6-89B34B85F0C9}"/>
              </a:ext>
            </a:extLst>
          </p:cNvPr>
          <p:cNvSpPr>
            <a:spLocks noGrp="1"/>
          </p:cNvSpPr>
          <p:nvPr/>
        </p:nvSpPr>
        <p:spPr>
          <a:xfrm>
            <a:off x="1419930" y="4195812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Cel. Mustard</a:t>
            </a:r>
          </a:p>
        </p:txBody>
      </p:sp>
      <p:sp>
        <p:nvSpPr>
          <p:cNvPr id="264" name="People">
            <a:extLst>
              <a:ext uri="{FF2B5EF4-FFF2-40B4-BE49-F238E27FC236}">
                <a16:creationId xmlns:a16="http://schemas.microsoft.com/office/drawing/2014/main" id="{23723598-7074-4E8A-8B3B-53826D1EABBC}"/>
              </a:ext>
            </a:extLst>
          </p:cNvPr>
          <p:cNvSpPr>
            <a:spLocks noGrp="1"/>
          </p:cNvSpPr>
          <p:nvPr/>
        </p:nvSpPr>
        <p:spPr>
          <a:xfrm>
            <a:off x="2622784" y="2760722"/>
            <a:ext cx="2882442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7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 err="1"/>
              <a:t>Pessoas</a:t>
            </a:r>
            <a:endParaRPr dirty="0"/>
          </a:p>
        </p:txBody>
      </p:sp>
      <p:sp>
        <p:nvSpPr>
          <p:cNvPr id="265" name="Prof. Plum">
            <a:extLst>
              <a:ext uri="{FF2B5EF4-FFF2-40B4-BE49-F238E27FC236}">
                <a16:creationId xmlns:a16="http://schemas.microsoft.com/office/drawing/2014/main" id="{C66CE8EC-0285-400A-9863-AD8ECD8E080C}"/>
              </a:ext>
            </a:extLst>
          </p:cNvPr>
          <p:cNvSpPr>
            <a:spLocks noGrp="1"/>
          </p:cNvSpPr>
          <p:nvPr/>
        </p:nvSpPr>
        <p:spPr>
          <a:xfrm>
            <a:off x="1419930" y="6043584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Prof. Plum</a:t>
            </a:r>
          </a:p>
        </p:txBody>
      </p:sp>
      <p:sp>
        <p:nvSpPr>
          <p:cNvPr id="266" name="Ms. Scarlet">
            <a:extLst>
              <a:ext uri="{FF2B5EF4-FFF2-40B4-BE49-F238E27FC236}">
                <a16:creationId xmlns:a16="http://schemas.microsoft.com/office/drawing/2014/main" id="{6A90A453-8E12-4CB6-A9E7-9BF5C6A892D5}"/>
              </a:ext>
            </a:extLst>
          </p:cNvPr>
          <p:cNvSpPr>
            <a:spLocks noGrp="1"/>
          </p:cNvSpPr>
          <p:nvPr/>
        </p:nvSpPr>
        <p:spPr>
          <a:xfrm>
            <a:off x="1419929" y="7891356"/>
            <a:ext cx="6163261" cy="1538283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Srta. Scarlet</a:t>
            </a:r>
          </a:p>
        </p:txBody>
      </p:sp>
      <p:sp>
        <p:nvSpPr>
          <p:cNvPr id="267" name="Ballroom">
            <a:extLst>
              <a:ext uri="{FF2B5EF4-FFF2-40B4-BE49-F238E27FC236}">
                <a16:creationId xmlns:a16="http://schemas.microsoft.com/office/drawing/2014/main" id="{5562CB60-374F-4205-982F-B82E03EB172A}"/>
              </a:ext>
            </a:extLst>
          </p:cNvPr>
          <p:cNvSpPr>
            <a:spLocks noGrp="1"/>
          </p:cNvSpPr>
          <p:nvPr/>
        </p:nvSpPr>
        <p:spPr>
          <a:xfrm>
            <a:off x="9110370" y="4195812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Salão de Baile</a:t>
            </a:r>
          </a:p>
        </p:txBody>
      </p:sp>
      <p:sp>
        <p:nvSpPr>
          <p:cNvPr id="268" name="Rooms">
            <a:extLst>
              <a:ext uri="{FF2B5EF4-FFF2-40B4-BE49-F238E27FC236}">
                <a16:creationId xmlns:a16="http://schemas.microsoft.com/office/drawing/2014/main" id="{E734A825-5D10-43FB-A39B-6C4DB12F6B32}"/>
              </a:ext>
            </a:extLst>
          </p:cNvPr>
          <p:cNvSpPr>
            <a:spLocks noGrp="1"/>
          </p:cNvSpPr>
          <p:nvPr/>
        </p:nvSpPr>
        <p:spPr>
          <a:xfrm>
            <a:off x="10286109" y="2760722"/>
            <a:ext cx="2930191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7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Cômodos</a:t>
            </a:r>
          </a:p>
        </p:txBody>
      </p:sp>
      <p:sp>
        <p:nvSpPr>
          <p:cNvPr id="269" name="Kitchen">
            <a:extLst>
              <a:ext uri="{FF2B5EF4-FFF2-40B4-BE49-F238E27FC236}">
                <a16:creationId xmlns:a16="http://schemas.microsoft.com/office/drawing/2014/main" id="{21CA95E7-D9C2-4969-AB3D-0DC7F6CA1616}"/>
              </a:ext>
            </a:extLst>
          </p:cNvPr>
          <p:cNvSpPr>
            <a:spLocks noGrp="1"/>
          </p:cNvSpPr>
          <p:nvPr/>
        </p:nvSpPr>
        <p:spPr>
          <a:xfrm>
            <a:off x="9110370" y="6043584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Cozinha</a:t>
            </a:r>
          </a:p>
        </p:txBody>
      </p:sp>
      <p:sp>
        <p:nvSpPr>
          <p:cNvPr id="270" name="Library">
            <a:extLst>
              <a:ext uri="{FF2B5EF4-FFF2-40B4-BE49-F238E27FC236}">
                <a16:creationId xmlns:a16="http://schemas.microsoft.com/office/drawing/2014/main" id="{D5B9B69E-46FB-410A-B18B-81B6669A742E}"/>
              </a:ext>
            </a:extLst>
          </p:cNvPr>
          <p:cNvSpPr>
            <a:spLocks noGrp="1"/>
          </p:cNvSpPr>
          <p:nvPr/>
        </p:nvSpPr>
        <p:spPr>
          <a:xfrm>
            <a:off x="9110370" y="7891356"/>
            <a:ext cx="6163260" cy="1538283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Biblioteca</a:t>
            </a:r>
          </a:p>
        </p:txBody>
      </p:sp>
      <p:sp>
        <p:nvSpPr>
          <p:cNvPr id="271" name="Knife">
            <a:extLst>
              <a:ext uri="{FF2B5EF4-FFF2-40B4-BE49-F238E27FC236}">
                <a16:creationId xmlns:a16="http://schemas.microsoft.com/office/drawing/2014/main" id="{266F0A7A-D387-418C-BE92-283AEA00BBB7}"/>
              </a:ext>
            </a:extLst>
          </p:cNvPr>
          <p:cNvSpPr>
            <a:spLocks noGrp="1"/>
          </p:cNvSpPr>
          <p:nvPr/>
        </p:nvSpPr>
        <p:spPr>
          <a:xfrm>
            <a:off x="16800810" y="4195812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Faca</a:t>
            </a:r>
          </a:p>
        </p:txBody>
      </p:sp>
      <p:sp>
        <p:nvSpPr>
          <p:cNvPr id="272" name="Weapons">
            <a:extLst>
              <a:ext uri="{FF2B5EF4-FFF2-40B4-BE49-F238E27FC236}">
                <a16:creationId xmlns:a16="http://schemas.microsoft.com/office/drawing/2014/main" id="{567B7CDE-CC35-4C41-B169-E10B91650251}"/>
              </a:ext>
            </a:extLst>
          </p:cNvPr>
          <p:cNvSpPr>
            <a:spLocks noGrp="1"/>
          </p:cNvSpPr>
          <p:nvPr/>
        </p:nvSpPr>
        <p:spPr>
          <a:xfrm>
            <a:off x="18421393" y="2760722"/>
            <a:ext cx="3854352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7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Armas</a:t>
            </a:r>
          </a:p>
        </p:txBody>
      </p:sp>
      <p:sp>
        <p:nvSpPr>
          <p:cNvPr id="273" name="Revolver">
            <a:extLst>
              <a:ext uri="{FF2B5EF4-FFF2-40B4-BE49-F238E27FC236}">
                <a16:creationId xmlns:a16="http://schemas.microsoft.com/office/drawing/2014/main" id="{19F3E027-F865-4712-BC39-E68BDBFDE804}"/>
              </a:ext>
            </a:extLst>
          </p:cNvPr>
          <p:cNvSpPr>
            <a:spLocks noGrp="1"/>
          </p:cNvSpPr>
          <p:nvPr/>
        </p:nvSpPr>
        <p:spPr>
          <a:xfrm>
            <a:off x="16800810" y="6043584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Revólver</a:t>
            </a:r>
          </a:p>
        </p:txBody>
      </p:sp>
      <p:sp>
        <p:nvSpPr>
          <p:cNvPr id="274" name="Wrench">
            <a:extLst>
              <a:ext uri="{FF2B5EF4-FFF2-40B4-BE49-F238E27FC236}">
                <a16:creationId xmlns:a16="http://schemas.microsoft.com/office/drawing/2014/main" id="{98A48963-D133-4432-98D5-19C12E9559D9}"/>
              </a:ext>
            </a:extLst>
          </p:cNvPr>
          <p:cNvSpPr>
            <a:spLocks noGrp="1"/>
          </p:cNvSpPr>
          <p:nvPr/>
        </p:nvSpPr>
        <p:spPr>
          <a:xfrm>
            <a:off x="16800810" y="7891356"/>
            <a:ext cx="6163260" cy="1538283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Chave Inglesa</a:t>
            </a:r>
          </a:p>
        </p:txBody>
      </p:sp>
    </p:spTree>
    <p:extLst>
      <p:ext uri="{BB962C8B-B14F-4D97-AF65-F5344CB8AC3E}">
        <p14:creationId xmlns:p14="http://schemas.microsoft.com/office/powerpoint/2010/main" val="10537171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2048F-F1F4-FBC4-0214-AA3BC116C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lue">
            <a:extLst>
              <a:ext uri="{FF2B5EF4-FFF2-40B4-BE49-F238E27FC236}">
                <a16:creationId xmlns:a16="http://schemas.microsoft.com/office/drawing/2014/main" id="{F81742F8-A46F-A904-54F5-58A4FAC4452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/>
              <a:t>Clue</a:t>
            </a:r>
            <a:r>
              <a:rPr lang="pt-BR" dirty="0"/>
              <a:t> (Detetive)</a:t>
            </a:r>
            <a:endParaRPr dirty="0"/>
          </a:p>
        </p:txBody>
      </p:sp>
      <p:sp>
        <p:nvSpPr>
          <p:cNvPr id="263" name="Col. Mustard">
            <a:extLst>
              <a:ext uri="{FF2B5EF4-FFF2-40B4-BE49-F238E27FC236}">
                <a16:creationId xmlns:a16="http://schemas.microsoft.com/office/drawing/2014/main" id="{073FE88A-AE67-AE98-0E3D-D4DD3A95BDE8}"/>
              </a:ext>
            </a:extLst>
          </p:cNvPr>
          <p:cNvSpPr>
            <a:spLocks noGrp="1"/>
          </p:cNvSpPr>
          <p:nvPr/>
        </p:nvSpPr>
        <p:spPr>
          <a:xfrm>
            <a:off x="1419930" y="4195812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>
                <a:solidFill>
                  <a:srgbClr val="5380AB"/>
                </a:solidFill>
              </a:rPr>
              <a:t>Cel. Mustard</a:t>
            </a:r>
          </a:p>
        </p:txBody>
      </p:sp>
      <p:sp>
        <p:nvSpPr>
          <p:cNvPr id="264" name="People">
            <a:extLst>
              <a:ext uri="{FF2B5EF4-FFF2-40B4-BE49-F238E27FC236}">
                <a16:creationId xmlns:a16="http://schemas.microsoft.com/office/drawing/2014/main" id="{63BDF01B-C602-1B82-0E46-1B8304D9577C}"/>
              </a:ext>
            </a:extLst>
          </p:cNvPr>
          <p:cNvSpPr>
            <a:spLocks noGrp="1"/>
          </p:cNvSpPr>
          <p:nvPr/>
        </p:nvSpPr>
        <p:spPr>
          <a:xfrm>
            <a:off x="2622784" y="2760722"/>
            <a:ext cx="2882442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7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 err="1"/>
              <a:t>Pessoas</a:t>
            </a:r>
            <a:endParaRPr dirty="0"/>
          </a:p>
        </p:txBody>
      </p:sp>
      <p:sp>
        <p:nvSpPr>
          <p:cNvPr id="265" name="Prof. Plum">
            <a:extLst>
              <a:ext uri="{FF2B5EF4-FFF2-40B4-BE49-F238E27FC236}">
                <a16:creationId xmlns:a16="http://schemas.microsoft.com/office/drawing/2014/main" id="{91C80948-7C87-330A-EEB3-4A3EDEDDC2F8}"/>
              </a:ext>
            </a:extLst>
          </p:cNvPr>
          <p:cNvSpPr>
            <a:spLocks noGrp="1"/>
          </p:cNvSpPr>
          <p:nvPr/>
        </p:nvSpPr>
        <p:spPr>
          <a:xfrm>
            <a:off x="1419930" y="6043584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>
                <a:solidFill>
                  <a:srgbClr val="5380AB"/>
                </a:solidFill>
              </a:rPr>
              <a:t>Prof. Plum</a:t>
            </a:r>
          </a:p>
        </p:txBody>
      </p:sp>
      <p:sp>
        <p:nvSpPr>
          <p:cNvPr id="266" name="Ms. Scarlet">
            <a:extLst>
              <a:ext uri="{FF2B5EF4-FFF2-40B4-BE49-F238E27FC236}">
                <a16:creationId xmlns:a16="http://schemas.microsoft.com/office/drawing/2014/main" id="{431B9E52-ADAF-01C7-9A23-73D40AE8B2DE}"/>
              </a:ext>
            </a:extLst>
          </p:cNvPr>
          <p:cNvSpPr>
            <a:spLocks noGrp="1"/>
          </p:cNvSpPr>
          <p:nvPr/>
        </p:nvSpPr>
        <p:spPr>
          <a:xfrm>
            <a:off x="1419929" y="7891356"/>
            <a:ext cx="6163261" cy="1538283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>
                <a:solidFill>
                  <a:srgbClr val="5380AB"/>
                </a:solidFill>
              </a:rPr>
              <a:t>Srta. Scarlet</a:t>
            </a:r>
          </a:p>
        </p:txBody>
      </p:sp>
      <p:sp>
        <p:nvSpPr>
          <p:cNvPr id="267" name="Ballroom">
            <a:extLst>
              <a:ext uri="{FF2B5EF4-FFF2-40B4-BE49-F238E27FC236}">
                <a16:creationId xmlns:a16="http://schemas.microsoft.com/office/drawing/2014/main" id="{E51415F2-FEC5-C511-DEF6-C46521BE0A76}"/>
              </a:ext>
            </a:extLst>
          </p:cNvPr>
          <p:cNvSpPr>
            <a:spLocks noGrp="1"/>
          </p:cNvSpPr>
          <p:nvPr/>
        </p:nvSpPr>
        <p:spPr>
          <a:xfrm>
            <a:off x="9110370" y="4195812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>
                <a:solidFill>
                  <a:srgbClr val="5380AB"/>
                </a:solidFill>
              </a:rPr>
              <a:t>Salão</a:t>
            </a:r>
            <a:r>
              <a:rPr dirty="0">
                <a:solidFill>
                  <a:srgbClr val="5380AB"/>
                </a:solidFill>
              </a:rPr>
              <a:t> de Baile</a:t>
            </a:r>
          </a:p>
        </p:txBody>
      </p:sp>
      <p:sp>
        <p:nvSpPr>
          <p:cNvPr id="268" name="Rooms">
            <a:extLst>
              <a:ext uri="{FF2B5EF4-FFF2-40B4-BE49-F238E27FC236}">
                <a16:creationId xmlns:a16="http://schemas.microsoft.com/office/drawing/2014/main" id="{BFF0C10A-0717-1262-9A42-CECE719F8D18}"/>
              </a:ext>
            </a:extLst>
          </p:cNvPr>
          <p:cNvSpPr>
            <a:spLocks noGrp="1"/>
          </p:cNvSpPr>
          <p:nvPr/>
        </p:nvSpPr>
        <p:spPr>
          <a:xfrm>
            <a:off x="10286109" y="2760722"/>
            <a:ext cx="2930191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7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Cômodos</a:t>
            </a:r>
          </a:p>
        </p:txBody>
      </p:sp>
      <p:sp>
        <p:nvSpPr>
          <p:cNvPr id="269" name="Kitchen">
            <a:extLst>
              <a:ext uri="{FF2B5EF4-FFF2-40B4-BE49-F238E27FC236}">
                <a16:creationId xmlns:a16="http://schemas.microsoft.com/office/drawing/2014/main" id="{9D8E200C-AC55-6088-66B4-FA2677AFA4DA}"/>
              </a:ext>
            </a:extLst>
          </p:cNvPr>
          <p:cNvSpPr>
            <a:spLocks noGrp="1"/>
          </p:cNvSpPr>
          <p:nvPr/>
        </p:nvSpPr>
        <p:spPr>
          <a:xfrm>
            <a:off x="9110370" y="6043584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>
                <a:solidFill>
                  <a:srgbClr val="5380AB"/>
                </a:solidFill>
              </a:rPr>
              <a:t>Cozinha</a:t>
            </a:r>
            <a:endParaRPr dirty="0">
              <a:solidFill>
                <a:srgbClr val="5380AB"/>
              </a:solidFill>
            </a:endParaRPr>
          </a:p>
        </p:txBody>
      </p:sp>
      <p:sp>
        <p:nvSpPr>
          <p:cNvPr id="270" name="Library">
            <a:extLst>
              <a:ext uri="{FF2B5EF4-FFF2-40B4-BE49-F238E27FC236}">
                <a16:creationId xmlns:a16="http://schemas.microsoft.com/office/drawing/2014/main" id="{E476852A-E237-D482-D4C2-56A2D2C90869}"/>
              </a:ext>
            </a:extLst>
          </p:cNvPr>
          <p:cNvSpPr>
            <a:spLocks noGrp="1"/>
          </p:cNvSpPr>
          <p:nvPr/>
        </p:nvSpPr>
        <p:spPr>
          <a:xfrm>
            <a:off x="9110370" y="7891356"/>
            <a:ext cx="6163260" cy="1538283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>
                <a:solidFill>
                  <a:srgbClr val="5380AB"/>
                </a:solidFill>
              </a:rPr>
              <a:t>Biblioteca</a:t>
            </a:r>
          </a:p>
        </p:txBody>
      </p:sp>
      <p:sp>
        <p:nvSpPr>
          <p:cNvPr id="271" name="Knife">
            <a:extLst>
              <a:ext uri="{FF2B5EF4-FFF2-40B4-BE49-F238E27FC236}">
                <a16:creationId xmlns:a16="http://schemas.microsoft.com/office/drawing/2014/main" id="{FB7F3103-C2F3-6298-7012-1C32EA3B9B6C}"/>
              </a:ext>
            </a:extLst>
          </p:cNvPr>
          <p:cNvSpPr>
            <a:spLocks noGrp="1"/>
          </p:cNvSpPr>
          <p:nvPr/>
        </p:nvSpPr>
        <p:spPr>
          <a:xfrm>
            <a:off x="16800810" y="4195812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>
                <a:solidFill>
                  <a:srgbClr val="5380AB"/>
                </a:solidFill>
              </a:rPr>
              <a:t>Faca</a:t>
            </a:r>
            <a:endParaRPr dirty="0">
              <a:solidFill>
                <a:srgbClr val="5380AB"/>
              </a:solidFill>
            </a:endParaRPr>
          </a:p>
        </p:txBody>
      </p:sp>
      <p:sp>
        <p:nvSpPr>
          <p:cNvPr id="272" name="Weapons">
            <a:extLst>
              <a:ext uri="{FF2B5EF4-FFF2-40B4-BE49-F238E27FC236}">
                <a16:creationId xmlns:a16="http://schemas.microsoft.com/office/drawing/2014/main" id="{D7DC142E-2448-DDF3-CA64-DFD59E3EEFC7}"/>
              </a:ext>
            </a:extLst>
          </p:cNvPr>
          <p:cNvSpPr>
            <a:spLocks noGrp="1"/>
          </p:cNvSpPr>
          <p:nvPr/>
        </p:nvSpPr>
        <p:spPr>
          <a:xfrm>
            <a:off x="18421393" y="2760722"/>
            <a:ext cx="3854352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7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Armas</a:t>
            </a:r>
          </a:p>
        </p:txBody>
      </p:sp>
      <p:sp>
        <p:nvSpPr>
          <p:cNvPr id="273" name="Revolver">
            <a:extLst>
              <a:ext uri="{FF2B5EF4-FFF2-40B4-BE49-F238E27FC236}">
                <a16:creationId xmlns:a16="http://schemas.microsoft.com/office/drawing/2014/main" id="{D2511873-0F11-F73F-158C-BE361A20ED73}"/>
              </a:ext>
            </a:extLst>
          </p:cNvPr>
          <p:cNvSpPr>
            <a:spLocks noGrp="1"/>
          </p:cNvSpPr>
          <p:nvPr/>
        </p:nvSpPr>
        <p:spPr>
          <a:xfrm>
            <a:off x="16800810" y="6043584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>
                <a:solidFill>
                  <a:srgbClr val="5380AB"/>
                </a:solidFill>
              </a:rPr>
              <a:t>Revólver</a:t>
            </a:r>
            <a:endParaRPr dirty="0">
              <a:solidFill>
                <a:srgbClr val="5380AB"/>
              </a:solidFill>
            </a:endParaRPr>
          </a:p>
        </p:txBody>
      </p:sp>
      <p:sp>
        <p:nvSpPr>
          <p:cNvPr id="274" name="Wrench">
            <a:extLst>
              <a:ext uri="{FF2B5EF4-FFF2-40B4-BE49-F238E27FC236}">
                <a16:creationId xmlns:a16="http://schemas.microsoft.com/office/drawing/2014/main" id="{99EDA337-4628-7E30-0FCB-73F62E88007A}"/>
              </a:ext>
            </a:extLst>
          </p:cNvPr>
          <p:cNvSpPr>
            <a:spLocks noGrp="1"/>
          </p:cNvSpPr>
          <p:nvPr/>
        </p:nvSpPr>
        <p:spPr>
          <a:xfrm>
            <a:off x="16800810" y="7891356"/>
            <a:ext cx="6163260" cy="1538283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>
                <a:solidFill>
                  <a:srgbClr val="5380AB"/>
                </a:solidFill>
              </a:rPr>
              <a:t>Chave </a:t>
            </a:r>
            <a:r>
              <a:rPr dirty="0" err="1">
                <a:solidFill>
                  <a:srgbClr val="5380AB"/>
                </a:solidFill>
              </a:rPr>
              <a:t>Inglesa</a:t>
            </a:r>
            <a:endParaRPr dirty="0">
              <a:solidFill>
                <a:srgbClr val="5380A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534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8B441-6C9C-51A1-1362-AE2B8BA1B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lue">
            <a:extLst>
              <a:ext uri="{FF2B5EF4-FFF2-40B4-BE49-F238E27FC236}">
                <a16:creationId xmlns:a16="http://schemas.microsoft.com/office/drawing/2014/main" id="{EA04D2DD-66C1-A37B-6FC1-20DAE27688B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/>
              <a:t>Clue</a:t>
            </a:r>
            <a:r>
              <a:rPr lang="pt-BR" dirty="0"/>
              <a:t> (Detetive)</a:t>
            </a:r>
            <a:endParaRPr dirty="0"/>
          </a:p>
        </p:txBody>
      </p:sp>
      <p:sp>
        <p:nvSpPr>
          <p:cNvPr id="263" name="Col. Mustard">
            <a:extLst>
              <a:ext uri="{FF2B5EF4-FFF2-40B4-BE49-F238E27FC236}">
                <a16:creationId xmlns:a16="http://schemas.microsoft.com/office/drawing/2014/main" id="{EA87FE67-37A2-0291-94D1-10B6CEE20D04}"/>
              </a:ext>
            </a:extLst>
          </p:cNvPr>
          <p:cNvSpPr>
            <a:spLocks noGrp="1"/>
          </p:cNvSpPr>
          <p:nvPr/>
        </p:nvSpPr>
        <p:spPr>
          <a:xfrm>
            <a:off x="1419930" y="7891356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>
                <a:solidFill>
                  <a:srgbClr val="5380AB"/>
                </a:solidFill>
              </a:rPr>
              <a:t>Cel. Mustard</a:t>
            </a:r>
          </a:p>
        </p:txBody>
      </p:sp>
      <p:sp>
        <p:nvSpPr>
          <p:cNvPr id="264" name="People">
            <a:extLst>
              <a:ext uri="{FF2B5EF4-FFF2-40B4-BE49-F238E27FC236}">
                <a16:creationId xmlns:a16="http://schemas.microsoft.com/office/drawing/2014/main" id="{1511E895-2BEE-EA4C-A619-24B9B90CC301}"/>
              </a:ext>
            </a:extLst>
          </p:cNvPr>
          <p:cNvSpPr>
            <a:spLocks noGrp="1"/>
          </p:cNvSpPr>
          <p:nvPr/>
        </p:nvSpPr>
        <p:spPr>
          <a:xfrm>
            <a:off x="2622784" y="2760722"/>
            <a:ext cx="2882442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7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 err="1"/>
              <a:t>Pessoas</a:t>
            </a:r>
            <a:endParaRPr dirty="0"/>
          </a:p>
        </p:txBody>
      </p:sp>
      <p:sp>
        <p:nvSpPr>
          <p:cNvPr id="265" name="Prof. Plum">
            <a:extLst>
              <a:ext uri="{FF2B5EF4-FFF2-40B4-BE49-F238E27FC236}">
                <a16:creationId xmlns:a16="http://schemas.microsoft.com/office/drawing/2014/main" id="{C4330649-7C22-A1E5-0071-2393316F1C97}"/>
              </a:ext>
            </a:extLst>
          </p:cNvPr>
          <p:cNvSpPr>
            <a:spLocks noGrp="1"/>
          </p:cNvSpPr>
          <p:nvPr/>
        </p:nvSpPr>
        <p:spPr>
          <a:xfrm>
            <a:off x="1419930" y="6037840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>
                <a:solidFill>
                  <a:srgbClr val="5380AB"/>
                </a:solidFill>
              </a:rPr>
              <a:t>Prof. Plum</a:t>
            </a:r>
          </a:p>
        </p:txBody>
      </p:sp>
      <p:sp>
        <p:nvSpPr>
          <p:cNvPr id="266" name="Ms. Scarlet">
            <a:extLst>
              <a:ext uri="{FF2B5EF4-FFF2-40B4-BE49-F238E27FC236}">
                <a16:creationId xmlns:a16="http://schemas.microsoft.com/office/drawing/2014/main" id="{92ABAB73-7DA6-E9E6-BEB5-D02A615F12B1}"/>
              </a:ext>
            </a:extLst>
          </p:cNvPr>
          <p:cNvSpPr>
            <a:spLocks noGrp="1"/>
          </p:cNvSpPr>
          <p:nvPr/>
        </p:nvSpPr>
        <p:spPr>
          <a:xfrm>
            <a:off x="1419929" y="4195812"/>
            <a:ext cx="6163261" cy="1538283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>
                <a:solidFill>
                  <a:srgbClr val="5380AB"/>
                </a:solidFill>
              </a:rPr>
              <a:t>Srta. Scarlet</a:t>
            </a:r>
          </a:p>
        </p:txBody>
      </p:sp>
      <p:sp>
        <p:nvSpPr>
          <p:cNvPr id="267" name="Ballroom">
            <a:extLst>
              <a:ext uri="{FF2B5EF4-FFF2-40B4-BE49-F238E27FC236}">
                <a16:creationId xmlns:a16="http://schemas.microsoft.com/office/drawing/2014/main" id="{58B844F1-6B10-72C2-9F4F-558D95137D9A}"/>
              </a:ext>
            </a:extLst>
          </p:cNvPr>
          <p:cNvSpPr>
            <a:spLocks noGrp="1"/>
          </p:cNvSpPr>
          <p:nvPr/>
        </p:nvSpPr>
        <p:spPr>
          <a:xfrm>
            <a:off x="9110370" y="6037840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>
                <a:solidFill>
                  <a:srgbClr val="5380AB"/>
                </a:solidFill>
              </a:rPr>
              <a:t>Salão</a:t>
            </a:r>
            <a:r>
              <a:rPr dirty="0">
                <a:solidFill>
                  <a:srgbClr val="5380AB"/>
                </a:solidFill>
              </a:rPr>
              <a:t> de Baile</a:t>
            </a:r>
          </a:p>
        </p:txBody>
      </p:sp>
      <p:sp>
        <p:nvSpPr>
          <p:cNvPr id="268" name="Rooms">
            <a:extLst>
              <a:ext uri="{FF2B5EF4-FFF2-40B4-BE49-F238E27FC236}">
                <a16:creationId xmlns:a16="http://schemas.microsoft.com/office/drawing/2014/main" id="{0E1915BC-9D16-8DE6-E072-9675CEC6B909}"/>
              </a:ext>
            </a:extLst>
          </p:cNvPr>
          <p:cNvSpPr>
            <a:spLocks noGrp="1"/>
          </p:cNvSpPr>
          <p:nvPr/>
        </p:nvSpPr>
        <p:spPr>
          <a:xfrm>
            <a:off x="10286109" y="2760722"/>
            <a:ext cx="2930191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7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Cômodos</a:t>
            </a:r>
          </a:p>
        </p:txBody>
      </p:sp>
      <p:sp>
        <p:nvSpPr>
          <p:cNvPr id="269" name="Kitchen">
            <a:extLst>
              <a:ext uri="{FF2B5EF4-FFF2-40B4-BE49-F238E27FC236}">
                <a16:creationId xmlns:a16="http://schemas.microsoft.com/office/drawing/2014/main" id="{47D1A1CA-131E-C8D7-F7CF-54AE3067DF1F}"/>
              </a:ext>
            </a:extLst>
          </p:cNvPr>
          <p:cNvSpPr>
            <a:spLocks noGrp="1"/>
          </p:cNvSpPr>
          <p:nvPr/>
        </p:nvSpPr>
        <p:spPr>
          <a:xfrm>
            <a:off x="9110370" y="4184325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>
                <a:solidFill>
                  <a:srgbClr val="5380AB"/>
                </a:solidFill>
              </a:rPr>
              <a:t>Cozinha</a:t>
            </a:r>
            <a:endParaRPr dirty="0">
              <a:solidFill>
                <a:srgbClr val="5380AB"/>
              </a:solidFill>
            </a:endParaRPr>
          </a:p>
        </p:txBody>
      </p:sp>
      <p:sp>
        <p:nvSpPr>
          <p:cNvPr id="270" name="Library">
            <a:extLst>
              <a:ext uri="{FF2B5EF4-FFF2-40B4-BE49-F238E27FC236}">
                <a16:creationId xmlns:a16="http://schemas.microsoft.com/office/drawing/2014/main" id="{CC8DDB63-FEBF-F90F-D255-16FC9092D823}"/>
              </a:ext>
            </a:extLst>
          </p:cNvPr>
          <p:cNvSpPr>
            <a:spLocks noGrp="1"/>
          </p:cNvSpPr>
          <p:nvPr/>
        </p:nvSpPr>
        <p:spPr>
          <a:xfrm>
            <a:off x="9110370" y="7891356"/>
            <a:ext cx="6163260" cy="1538283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>
                <a:solidFill>
                  <a:srgbClr val="5380AB"/>
                </a:solidFill>
              </a:rPr>
              <a:t>Biblioteca</a:t>
            </a:r>
          </a:p>
        </p:txBody>
      </p:sp>
      <p:sp>
        <p:nvSpPr>
          <p:cNvPr id="271" name="Knife">
            <a:extLst>
              <a:ext uri="{FF2B5EF4-FFF2-40B4-BE49-F238E27FC236}">
                <a16:creationId xmlns:a16="http://schemas.microsoft.com/office/drawing/2014/main" id="{C5B9DBCB-E62E-92E3-38D7-CD50E8D6DE41}"/>
              </a:ext>
            </a:extLst>
          </p:cNvPr>
          <p:cNvSpPr>
            <a:spLocks noGrp="1"/>
          </p:cNvSpPr>
          <p:nvPr/>
        </p:nvSpPr>
        <p:spPr>
          <a:xfrm>
            <a:off x="16800810" y="4195812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>
                <a:solidFill>
                  <a:srgbClr val="5380AB"/>
                </a:solidFill>
              </a:rPr>
              <a:t>Faca</a:t>
            </a:r>
            <a:endParaRPr dirty="0">
              <a:solidFill>
                <a:srgbClr val="5380AB"/>
              </a:solidFill>
            </a:endParaRPr>
          </a:p>
        </p:txBody>
      </p:sp>
      <p:sp>
        <p:nvSpPr>
          <p:cNvPr id="272" name="Weapons">
            <a:extLst>
              <a:ext uri="{FF2B5EF4-FFF2-40B4-BE49-F238E27FC236}">
                <a16:creationId xmlns:a16="http://schemas.microsoft.com/office/drawing/2014/main" id="{D884CB14-EDEF-7577-00D6-8C33FF876B12}"/>
              </a:ext>
            </a:extLst>
          </p:cNvPr>
          <p:cNvSpPr>
            <a:spLocks noGrp="1"/>
          </p:cNvSpPr>
          <p:nvPr/>
        </p:nvSpPr>
        <p:spPr>
          <a:xfrm>
            <a:off x="18421393" y="2760722"/>
            <a:ext cx="3854352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7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Armas</a:t>
            </a:r>
          </a:p>
        </p:txBody>
      </p:sp>
      <p:sp>
        <p:nvSpPr>
          <p:cNvPr id="273" name="Revolver">
            <a:extLst>
              <a:ext uri="{FF2B5EF4-FFF2-40B4-BE49-F238E27FC236}">
                <a16:creationId xmlns:a16="http://schemas.microsoft.com/office/drawing/2014/main" id="{CB5BC478-7F78-DE17-636A-8377DA880328}"/>
              </a:ext>
            </a:extLst>
          </p:cNvPr>
          <p:cNvSpPr>
            <a:spLocks noGrp="1"/>
          </p:cNvSpPr>
          <p:nvPr/>
        </p:nvSpPr>
        <p:spPr>
          <a:xfrm>
            <a:off x="16800810" y="7891356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>
                <a:solidFill>
                  <a:srgbClr val="5380AB"/>
                </a:solidFill>
              </a:rPr>
              <a:t>Revólver</a:t>
            </a:r>
            <a:endParaRPr dirty="0">
              <a:solidFill>
                <a:srgbClr val="5380AB"/>
              </a:solidFill>
            </a:endParaRPr>
          </a:p>
        </p:txBody>
      </p:sp>
      <p:sp>
        <p:nvSpPr>
          <p:cNvPr id="274" name="Wrench">
            <a:extLst>
              <a:ext uri="{FF2B5EF4-FFF2-40B4-BE49-F238E27FC236}">
                <a16:creationId xmlns:a16="http://schemas.microsoft.com/office/drawing/2014/main" id="{E1D0073A-73DE-F476-E9BF-B762CDD34012}"/>
              </a:ext>
            </a:extLst>
          </p:cNvPr>
          <p:cNvSpPr>
            <a:spLocks noGrp="1"/>
          </p:cNvSpPr>
          <p:nvPr/>
        </p:nvSpPr>
        <p:spPr>
          <a:xfrm>
            <a:off x="16800810" y="6037841"/>
            <a:ext cx="6163260" cy="1538283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>
                <a:solidFill>
                  <a:srgbClr val="5380AB"/>
                </a:solidFill>
              </a:rPr>
              <a:t>Chave </a:t>
            </a:r>
            <a:r>
              <a:rPr dirty="0" err="1">
                <a:solidFill>
                  <a:srgbClr val="5380AB"/>
                </a:solidFill>
              </a:rPr>
              <a:t>Inglesa</a:t>
            </a:r>
            <a:endParaRPr dirty="0">
              <a:solidFill>
                <a:srgbClr val="5380AB"/>
              </a:solidFill>
            </a:endParaRPr>
          </a:p>
        </p:txBody>
      </p:sp>
      <p:sp>
        <p:nvSpPr>
          <p:cNvPr id="3" name="Rectangle">
            <a:extLst>
              <a:ext uri="{FF2B5EF4-FFF2-40B4-BE49-F238E27FC236}">
                <a16:creationId xmlns:a16="http://schemas.microsoft.com/office/drawing/2014/main" id="{9B6E95DF-7BD3-7C9A-51E0-279B4F3135E1}"/>
              </a:ext>
            </a:extLst>
          </p:cNvPr>
          <p:cNvSpPr>
            <a:spLocks noGrp="1"/>
          </p:cNvSpPr>
          <p:nvPr/>
        </p:nvSpPr>
        <p:spPr>
          <a:xfrm>
            <a:off x="8789433" y="14136128"/>
            <a:ext cx="6805133" cy="3262185"/>
          </a:xfrm>
          <a:prstGeom prst="rect">
            <a:avLst/>
          </a:prstGeom>
          <a:solidFill>
            <a:schemeClr val="accent4">
              <a:lumOff val="-647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" name="Triangle">
            <a:extLst>
              <a:ext uri="{FF2B5EF4-FFF2-40B4-BE49-F238E27FC236}">
                <a16:creationId xmlns:a16="http://schemas.microsoft.com/office/drawing/2014/main" id="{69EBFCBD-1502-0712-F07D-7A1D21E9CA72}"/>
              </a:ext>
            </a:extLst>
          </p:cNvPr>
          <p:cNvSpPr>
            <a:spLocks noGrp="1"/>
          </p:cNvSpPr>
          <p:nvPr/>
        </p:nvSpPr>
        <p:spPr>
          <a:xfrm rot="5400000">
            <a:off x="7996276" y="14941282"/>
            <a:ext cx="3262184" cy="164801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4">
              <a:lumOff val="-6470"/>
            </a:schemeClr>
          </a:solidFill>
          <a:ln w="635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3401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3E042-19E7-050B-7C62-F9E54A37C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lue">
            <a:extLst>
              <a:ext uri="{FF2B5EF4-FFF2-40B4-BE49-F238E27FC236}">
                <a16:creationId xmlns:a16="http://schemas.microsoft.com/office/drawing/2014/main" id="{04E3A0D5-B592-28DE-2231-3518700A2B3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/>
              <a:t>Clue</a:t>
            </a:r>
            <a:r>
              <a:rPr lang="pt-BR" dirty="0"/>
              <a:t> (Detetive)</a:t>
            </a:r>
            <a:endParaRPr dirty="0"/>
          </a:p>
        </p:txBody>
      </p:sp>
      <p:sp>
        <p:nvSpPr>
          <p:cNvPr id="263" name="Col. Mustard">
            <a:extLst>
              <a:ext uri="{FF2B5EF4-FFF2-40B4-BE49-F238E27FC236}">
                <a16:creationId xmlns:a16="http://schemas.microsoft.com/office/drawing/2014/main" id="{0A1F6884-81CA-83BD-5BB7-C2CFA56649A4}"/>
              </a:ext>
            </a:extLst>
          </p:cNvPr>
          <p:cNvSpPr>
            <a:spLocks noGrp="1"/>
          </p:cNvSpPr>
          <p:nvPr/>
        </p:nvSpPr>
        <p:spPr>
          <a:xfrm>
            <a:off x="1419930" y="7891356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>
                <a:solidFill>
                  <a:srgbClr val="5380AB"/>
                </a:solidFill>
              </a:rPr>
              <a:t>Cel. Mustard</a:t>
            </a:r>
          </a:p>
        </p:txBody>
      </p:sp>
      <p:sp>
        <p:nvSpPr>
          <p:cNvPr id="264" name="People">
            <a:extLst>
              <a:ext uri="{FF2B5EF4-FFF2-40B4-BE49-F238E27FC236}">
                <a16:creationId xmlns:a16="http://schemas.microsoft.com/office/drawing/2014/main" id="{02A62C88-BD46-A982-CE67-3B4C5D81F38E}"/>
              </a:ext>
            </a:extLst>
          </p:cNvPr>
          <p:cNvSpPr>
            <a:spLocks noGrp="1"/>
          </p:cNvSpPr>
          <p:nvPr/>
        </p:nvSpPr>
        <p:spPr>
          <a:xfrm>
            <a:off x="2622784" y="2760722"/>
            <a:ext cx="2882442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7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 err="1"/>
              <a:t>Pessoas</a:t>
            </a:r>
            <a:endParaRPr dirty="0"/>
          </a:p>
        </p:txBody>
      </p:sp>
      <p:sp>
        <p:nvSpPr>
          <p:cNvPr id="265" name="Prof. Plum">
            <a:extLst>
              <a:ext uri="{FF2B5EF4-FFF2-40B4-BE49-F238E27FC236}">
                <a16:creationId xmlns:a16="http://schemas.microsoft.com/office/drawing/2014/main" id="{E6392A96-B096-71C8-489B-091548D57201}"/>
              </a:ext>
            </a:extLst>
          </p:cNvPr>
          <p:cNvSpPr>
            <a:spLocks noGrp="1"/>
          </p:cNvSpPr>
          <p:nvPr/>
        </p:nvSpPr>
        <p:spPr>
          <a:xfrm>
            <a:off x="1419930" y="6037840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>
                <a:solidFill>
                  <a:srgbClr val="5380AB"/>
                </a:solidFill>
              </a:rPr>
              <a:t>Prof. Plum</a:t>
            </a:r>
          </a:p>
        </p:txBody>
      </p:sp>
      <p:sp>
        <p:nvSpPr>
          <p:cNvPr id="266" name="Ms. Scarlet">
            <a:extLst>
              <a:ext uri="{FF2B5EF4-FFF2-40B4-BE49-F238E27FC236}">
                <a16:creationId xmlns:a16="http://schemas.microsoft.com/office/drawing/2014/main" id="{87D2DC45-CE4F-47F9-2C11-57F3200A1242}"/>
              </a:ext>
            </a:extLst>
          </p:cNvPr>
          <p:cNvSpPr>
            <a:spLocks noGrp="1"/>
          </p:cNvSpPr>
          <p:nvPr/>
        </p:nvSpPr>
        <p:spPr>
          <a:xfrm>
            <a:off x="1419929" y="4195812"/>
            <a:ext cx="6163261" cy="1538283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>
                <a:solidFill>
                  <a:srgbClr val="5380AB"/>
                </a:solidFill>
              </a:rPr>
              <a:t>Srta. Scarlet</a:t>
            </a:r>
          </a:p>
        </p:txBody>
      </p:sp>
      <p:sp>
        <p:nvSpPr>
          <p:cNvPr id="267" name="Ballroom">
            <a:extLst>
              <a:ext uri="{FF2B5EF4-FFF2-40B4-BE49-F238E27FC236}">
                <a16:creationId xmlns:a16="http://schemas.microsoft.com/office/drawing/2014/main" id="{57B80FBF-5F8B-0790-82F7-C081EE1DEB2F}"/>
              </a:ext>
            </a:extLst>
          </p:cNvPr>
          <p:cNvSpPr>
            <a:spLocks noGrp="1"/>
          </p:cNvSpPr>
          <p:nvPr/>
        </p:nvSpPr>
        <p:spPr>
          <a:xfrm>
            <a:off x="9110370" y="6037840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>
                <a:solidFill>
                  <a:srgbClr val="5380AB"/>
                </a:solidFill>
              </a:rPr>
              <a:t>Salão</a:t>
            </a:r>
            <a:r>
              <a:rPr dirty="0">
                <a:solidFill>
                  <a:srgbClr val="5380AB"/>
                </a:solidFill>
              </a:rPr>
              <a:t> de Baile</a:t>
            </a:r>
          </a:p>
        </p:txBody>
      </p:sp>
      <p:sp>
        <p:nvSpPr>
          <p:cNvPr id="268" name="Rooms">
            <a:extLst>
              <a:ext uri="{FF2B5EF4-FFF2-40B4-BE49-F238E27FC236}">
                <a16:creationId xmlns:a16="http://schemas.microsoft.com/office/drawing/2014/main" id="{B5B06DBA-A4E2-26AD-6B7C-DE8D5269738C}"/>
              </a:ext>
            </a:extLst>
          </p:cNvPr>
          <p:cNvSpPr>
            <a:spLocks noGrp="1"/>
          </p:cNvSpPr>
          <p:nvPr/>
        </p:nvSpPr>
        <p:spPr>
          <a:xfrm>
            <a:off x="10286109" y="2760722"/>
            <a:ext cx="2930191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7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Cômodos</a:t>
            </a:r>
          </a:p>
        </p:txBody>
      </p:sp>
      <p:sp>
        <p:nvSpPr>
          <p:cNvPr id="269" name="Kitchen">
            <a:extLst>
              <a:ext uri="{FF2B5EF4-FFF2-40B4-BE49-F238E27FC236}">
                <a16:creationId xmlns:a16="http://schemas.microsoft.com/office/drawing/2014/main" id="{44B3B9B5-8366-7C18-402D-27D42BC5B0BC}"/>
              </a:ext>
            </a:extLst>
          </p:cNvPr>
          <p:cNvSpPr>
            <a:spLocks noGrp="1"/>
          </p:cNvSpPr>
          <p:nvPr/>
        </p:nvSpPr>
        <p:spPr>
          <a:xfrm>
            <a:off x="9110370" y="4184325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>
                <a:solidFill>
                  <a:srgbClr val="5380AB"/>
                </a:solidFill>
              </a:rPr>
              <a:t>Cozinha</a:t>
            </a:r>
            <a:endParaRPr dirty="0">
              <a:solidFill>
                <a:srgbClr val="5380AB"/>
              </a:solidFill>
            </a:endParaRPr>
          </a:p>
        </p:txBody>
      </p:sp>
      <p:sp>
        <p:nvSpPr>
          <p:cNvPr id="270" name="Library">
            <a:extLst>
              <a:ext uri="{FF2B5EF4-FFF2-40B4-BE49-F238E27FC236}">
                <a16:creationId xmlns:a16="http://schemas.microsoft.com/office/drawing/2014/main" id="{94766253-11B7-169F-9F90-543452F310A6}"/>
              </a:ext>
            </a:extLst>
          </p:cNvPr>
          <p:cNvSpPr>
            <a:spLocks noGrp="1"/>
          </p:cNvSpPr>
          <p:nvPr/>
        </p:nvSpPr>
        <p:spPr>
          <a:xfrm>
            <a:off x="9110370" y="7891356"/>
            <a:ext cx="6163260" cy="1538283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>
                <a:solidFill>
                  <a:srgbClr val="5380AB"/>
                </a:solidFill>
              </a:rPr>
              <a:t>Biblioteca</a:t>
            </a:r>
          </a:p>
        </p:txBody>
      </p:sp>
      <p:sp>
        <p:nvSpPr>
          <p:cNvPr id="271" name="Knife">
            <a:extLst>
              <a:ext uri="{FF2B5EF4-FFF2-40B4-BE49-F238E27FC236}">
                <a16:creationId xmlns:a16="http://schemas.microsoft.com/office/drawing/2014/main" id="{E24E9875-102A-E125-F420-96B20B94CB7F}"/>
              </a:ext>
            </a:extLst>
          </p:cNvPr>
          <p:cNvSpPr>
            <a:spLocks noGrp="1"/>
          </p:cNvSpPr>
          <p:nvPr/>
        </p:nvSpPr>
        <p:spPr>
          <a:xfrm>
            <a:off x="16800810" y="4195812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>
                <a:solidFill>
                  <a:srgbClr val="5380AB"/>
                </a:solidFill>
              </a:rPr>
              <a:t>Faca</a:t>
            </a:r>
            <a:endParaRPr dirty="0">
              <a:solidFill>
                <a:srgbClr val="5380AB"/>
              </a:solidFill>
            </a:endParaRPr>
          </a:p>
        </p:txBody>
      </p:sp>
      <p:sp>
        <p:nvSpPr>
          <p:cNvPr id="272" name="Weapons">
            <a:extLst>
              <a:ext uri="{FF2B5EF4-FFF2-40B4-BE49-F238E27FC236}">
                <a16:creationId xmlns:a16="http://schemas.microsoft.com/office/drawing/2014/main" id="{856950A6-1CD5-382E-95FF-ABAF994C6A34}"/>
              </a:ext>
            </a:extLst>
          </p:cNvPr>
          <p:cNvSpPr>
            <a:spLocks noGrp="1"/>
          </p:cNvSpPr>
          <p:nvPr/>
        </p:nvSpPr>
        <p:spPr>
          <a:xfrm>
            <a:off x="18421393" y="2760722"/>
            <a:ext cx="3854352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7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Armas</a:t>
            </a:r>
          </a:p>
        </p:txBody>
      </p:sp>
      <p:sp>
        <p:nvSpPr>
          <p:cNvPr id="273" name="Revolver">
            <a:extLst>
              <a:ext uri="{FF2B5EF4-FFF2-40B4-BE49-F238E27FC236}">
                <a16:creationId xmlns:a16="http://schemas.microsoft.com/office/drawing/2014/main" id="{D88A4A9C-DABF-A5F7-1988-39B746A893F9}"/>
              </a:ext>
            </a:extLst>
          </p:cNvPr>
          <p:cNvSpPr>
            <a:spLocks noGrp="1"/>
          </p:cNvSpPr>
          <p:nvPr/>
        </p:nvSpPr>
        <p:spPr>
          <a:xfrm>
            <a:off x="16800810" y="7891356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>
                <a:solidFill>
                  <a:srgbClr val="5380AB"/>
                </a:solidFill>
              </a:rPr>
              <a:t>Revólver</a:t>
            </a:r>
            <a:endParaRPr dirty="0">
              <a:solidFill>
                <a:srgbClr val="5380AB"/>
              </a:solidFill>
            </a:endParaRPr>
          </a:p>
        </p:txBody>
      </p:sp>
      <p:sp>
        <p:nvSpPr>
          <p:cNvPr id="274" name="Wrench">
            <a:extLst>
              <a:ext uri="{FF2B5EF4-FFF2-40B4-BE49-F238E27FC236}">
                <a16:creationId xmlns:a16="http://schemas.microsoft.com/office/drawing/2014/main" id="{094A19D3-0F07-A6B8-8386-328847B136BE}"/>
              </a:ext>
            </a:extLst>
          </p:cNvPr>
          <p:cNvSpPr>
            <a:spLocks noGrp="1"/>
          </p:cNvSpPr>
          <p:nvPr/>
        </p:nvSpPr>
        <p:spPr>
          <a:xfrm>
            <a:off x="16800810" y="6037841"/>
            <a:ext cx="6163260" cy="1538283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>
                <a:solidFill>
                  <a:srgbClr val="5380AB"/>
                </a:solidFill>
              </a:rPr>
              <a:t>Chave </a:t>
            </a:r>
            <a:r>
              <a:rPr dirty="0" err="1">
                <a:solidFill>
                  <a:srgbClr val="5380AB"/>
                </a:solidFill>
              </a:rPr>
              <a:t>Inglesa</a:t>
            </a:r>
            <a:endParaRPr dirty="0">
              <a:solidFill>
                <a:srgbClr val="5380AB"/>
              </a:solidFill>
            </a:endParaRPr>
          </a:p>
        </p:txBody>
      </p:sp>
      <p:sp>
        <p:nvSpPr>
          <p:cNvPr id="3" name="Rectangle">
            <a:extLst>
              <a:ext uri="{FF2B5EF4-FFF2-40B4-BE49-F238E27FC236}">
                <a16:creationId xmlns:a16="http://schemas.microsoft.com/office/drawing/2014/main" id="{AF62C5F7-2E71-8EF3-D9A4-1DDF8F1824DE}"/>
              </a:ext>
            </a:extLst>
          </p:cNvPr>
          <p:cNvSpPr>
            <a:spLocks noGrp="1"/>
          </p:cNvSpPr>
          <p:nvPr/>
        </p:nvSpPr>
        <p:spPr>
          <a:xfrm>
            <a:off x="8789433" y="10098215"/>
            <a:ext cx="6805133" cy="3262185"/>
          </a:xfrm>
          <a:prstGeom prst="rect">
            <a:avLst/>
          </a:prstGeom>
          <a:solidFill>
            <a:schemeClr val="accent4">
              <a:lumOff val="-647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" name="Triangle">
            <a:extLst>
              <a:ext uri="{FF2B5EF4-FFF2-40B4-BE49-F238E27FC236}">
                <a16:creationId xmlns:a16="http://schemas.microsoft.com/office/drawing/2014/main" id="{76AC8E8A-EEA1-F260-1DDD-730C96FB4D41}"/>
              </a:ext>
            </a:extLst>
          </p:cNvPr>
          <p:cNvSpPr>
            <a:spLocks noGrp="1"/>
          </p:cNvSpPr>
          <p:nvPr/>
        </p:nvSpPr>
        <p:spPr>
          <a:xfrm rot="5400000">
            <a:off x="7996276" y="10903369"/>
            <a:ext cx="3262184" cy="164801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4">
              <a:lumOff val="-6470"/>
            </a:schemeClr>
          </a:solidFill>
          <a:ln w="635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7071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DF1FA-1780-548A-6B50-8D79AC8A1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lue">
            <a:extLst>
              <a:ext uri="{FF2B5EF4-FFF2-40B4-BE49-F238E27FC236}">
                <a16:creationId xmlns:a16="http://schemas.microsoft.com/office/drawing/2014/main" id="{5AA2622B-26C8-A688-8F9C-40F6B1F1BD7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/>
              <a:t>Clue</a:t>
            </a:r>
            <a:r>
              <a:rPr lang="pt-BR" dirty="0"/>
              <a:t> (Detetive)</a:t>
            </a:r>
            <a:endParaRPr dirty="0"/>
          </a:p>
        </p:txBody>
      </p:sp>
      <p:sp>
        <p:nvSpPr>
          <p:cNvPr id="263" name="Col. Mustard">
            <a:extLst>
              <a:ext uri="{FF2B5EF4-FFF2-40B4-BE49-F238E27FC236}">
                <a16:creationId xmlns:a16="http://schemas.microsoft.com/office/drawing/2014/main" id="{838AC307-1B3F-6EE9-5D97-542AC6A9A4EB}"/>
              </a:ext>
            </a:extLst>
          </p:cNvPr>
          <p:cNvSpPr>
            <a:spLocks noGrp="1"/>
          </p:cNvSpPr>
          <p:nvPr/>
        </p:nvSpPr>
        <p:spPr>
          <a:xfrm>
            <a:off x="1419930" y="7891356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>
                <a:solidFill>
                  <a:srgbClr val="5380AB"/>
                </a:solidFill>
              </a:rPr>
              <a:t>Cel. Mustard</a:t>
            </a:r>
          </a:p>
        </p:txBody>
      </p:sp>
      <p:sp>
        <p:nvSpPr>
          <p:cNvPr id="264" name="People">
            <a:extLst>
              <a:ext uri="{FF2B5EF4-FFF2-40B4-BE49-F238E27FC236}">
                <a16:creationId xmlns:a16="http://schemas.microsoft.com/office/drawing/2014/main" id="{B06AAF63-7135-E597-CC99-8AEF3817C9DF}"/>
              </a:ext>
            </a:extLst>
          </p:cNvPr>
          <p:cNvSpPr>
            <a:spLocks noGrp="1"/>
          </p:cNvSpPr>
          <p:nvPr/>
        </p:nvSpPr>
        <p:spPr>
          <a:xfrm>
            <a:off x="2622784" y="2760722"/>
            <a:ext cx="2882442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7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 err="1"/>
              <a:t>Pessoas</a:t>
            </a:r>
            <a:endParaRPr dirty="0"/>
          </a:p>
        </p:txBody>
      </p:sp>
      <p:sp>
        <p:nvSpPr>
          <p:cNvPr id="265" name="Prof. Plum">
            <a:extLst>
              <a:ext uri="{FF2B5EF4-FFF2-40B4-BE49-F238E27FC236}">
                <a16:creationId xmlns:a16="http://schemas.microsoft.com/office/drawing/2014/main" id="{333E4864-04E3-3205-5498-7019CF2EE642}"/>
              </a:ext>
            </a:extLst>
          </p:cNvPr>
          <p:cNvSpPr>
            <a:spLocks noGrp="1"/>
          </p:cNvSpPr>
          <p:nvPr/>
        </p:nvSpPr>
        <p:spPr>
          <a:xfrm>
            <a:off x="1419930" y="6037840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>
                <a:solidFill>
                  <a:srgbClr val="5380AB"/>
                </a:solidFill>
              </a:rPr>
              <a:t>Prof. Plum</a:t>
            </a:r>
          </a:p>
        </p:txBody>
      </p:sp>
      <p:sp>
        <p:nvSpPr>
          <p:cNvPr id="266" name="Ms. Scarlet">
            <a:extLst>
              <a:ext uri="{FF2B5EF4-FFF2-40B4-BE49-F238E27FC236}">
                <a16:creationId xmlns:a16="http://schemas.microsoft.com/office/drawing/2014/main" id="{D0A8574D-C293-6FB1-C0A2-9378C84E8DB5}"/>
              </a:ext>
            </a:extLst>
          </p:cNvPr>
          <p:cNvSpPr>
            <a:spLocks noGrp="1"/>
          </p:cNvSpPr>
          <p:nvPr/>
        </p:nvSpPr>
        <p:spPr>
          <a:xfrm>
            <a:off x="8803362" y="10614663"/>
            <a:ext cx="6163261" cy="1538283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>
                <a:solidFill>
                  <a:srgbClr val="5380AB"/>
                </a:solidFill>
              </a:rPr>
              <a:t>Srta. Scarlet</a:t>
            </a:r>
          </a:p>
        </p:txBody>
      </p:sp>
      <p:sp>
        <p:nvSpPr>
          <p:cNvPr id="267" name="Ballroom">
            <a:extLst>
              <a:ext uri="{FF2B5EF4-FFF2-40B4-BE49-F238E27FC236}">
                <a16:creationId xmlns:a16="http://schemas.microsoft.com/office/drawing/2014/main" id="{37D421CE-EF20-2C2B-BFE9-AC0036A14195}"/>
              </a:ext>
            </a:extLst>
          </p:cNvPr>
          <p:cNvSpPr>
            <a:spLocks noGrp="1"/>
          </p:cNvSpPr>
          <p:nvPr/>
        </p:nvSpPr>
        <p:spPr>
          <a:xfrm>
            <a:off x="9110370" y="6037840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>
                <a:solidFill>
                  <a:srgbClr val="5380AB"/>
                </a:solidFill>
              </a:rPr>
              <a:t>Salão</a:t>
            </a:r>
            <a:r>
              <a:rPr dirty="0">
                <a:solidFill>
                  <a:srgbClr val="5380AB"/>
                </a:solidFill>
              </a:rPr>
              <a:t> de Baile</a:t>
            </a:r>
          </a:p>
        </p:txBody>
      </p:sp>
      <p:sp>
        <p:nvSpPr>
          <p:cNvPr id="268" name="Rooms">
            <a:extLst>
              <a:ext uri="{FF2B5EF4-FFF2-40B4-BE49-F238E27FC236}">
                <a16:creationId xmlns:a16="http://schemas.microsoft.com/office/drawing/2014/main" id="{35022414-BD88-22F1-E551-2DE54869068E}"/>
              </a:ext>
            </a:extLst>
          </p:cNvPr>
          <p:cNvSpPr>
            <a:spLocks noGrp="1"/>
          </p:cNvSpPr>
          <p:nvPr/>
        </p:nvSpPr>
        <p:spPr>
          <a:xfrm>
            <a:off x="10286109" y="2760722"/>
            <a:ext cx="2930191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7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Cômodos</a:t>
            </a:r>
          </a:p>
        </p:txBody>
      </p:sp>
      <p:sp>
        <p:nvSpPr>
          <p:cNvPr id="269" name="Kitchen">
            <a:extLst>
              <a:ext uri="{FF2B5EF4-FFF2-40B4-BE49-F238E27FC236}">
                <a16:creationId xmlns:a16="http://schemas.microsoft.com/office/drawing/2014/main" id="{D5C6DFA1-6ADB-2BB0-AF1F-44AEDBBCCF8B}"/>
              </a:ext>
            </a:extLst>
          </p:cNvPr>
          <p:cNvSpPr>
            <a:spLocks noGrp="1"/>
          </p:cNvSpPr>
          <p:nvPr/>
        </p:nvSpPr>
        <p:spPr>
          <a:xfrm>
            <a:off x="9110370" y="4184325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>
                <a:solidFill>
                  <a:srgbClr val="5380AB"/>
                </a:solidFill>
              </a:rPr>
              <a:t>Cozinha</a:t>
            </a:r>
            <a:endParaRPr dirty="0">
              <a:solidFill>
                <a:srgbClr val="5380AB"/>
              </a:solidFill>
            </a:endParaRPr>
          </a:p>
        </p:txBody>
      </p:sp>
      <p:sp>
        <p:nvSpPr>
          <p:cNvPr id="270" name="Library">
            <a:extLst>
              <a:ext uri="{FF2B5EF4-FFF2-40B4-BE49-F238E27FC236}">
                <a16:creationId xmlns:a16="http://schemas.microsoft.com/office/drawing/2014/main" id="{70249AE8-8A4B-94F3-B679-7CAA5CC89059}"/>
              </a:ext>
            </a:extLst>
          </p:cNvPr>
          <p:cNvSpPr>
            <a:spLocks noGrp="1"/>
          </p:cNvSpPr>
          <p:nvPr/>
        </p:nvSpPr>
        <p:spPr>
          <a:xfrm>
            <a:off x="9117335" y="10612730"/>
            <a:ext cx="6163260" cy="1538283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>
                <a:solidFill>
                  <a:srgbClr val="5380AB"/>
                </a:solidFill>
              </a:rPr>
              <a:t>Biblioteca</a:t>
            </a:r>
          </a:p>
        </p:txBody>
      </p:sp>
      <p:sp>
        <p:nvSpPr>
          <p:cNvPr id="271" name="Knife">
            <a:extLst>
              <a:ext uri="{FF2B5EF4-FFF2-40B4-BE49-F238E27FC236}">
                <a16:creationId xmlns:a16="http://schemas.microsoft.com/office/drawing/2014/main" id="{74A82EFA-3A13-D8C4-1601-772D8CB943B8}"/>
              </a:ext>
            </a:extLst>
          </p:cNvPr>
          <p:cNvSpPr>
            <a:spLocks noGrp="1"/>
          </p:cNvSpPr>
          <p:nvPr/>
        </p:nvSpPr>
        <p:spPr>
          <a:xfrm>
            <a:off x="16800810" y="4195812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>
                <a:solidFill>
                  <a:srgbClr val="5380AB"/>
                </a:solidFill>
              </a:rPr>
              <a:t>Faca</a:t>
            </a:r>
            <a:endParaRPr dirty="0">
              <a:solidFill>
                <a:srgbClr val="5380AB"/>
              </a:solidFill>
            </a:endParaRPr>
          </a:p>
        </p:txBody>
      </p:sp>
      <p:sp>
        <p:nvSpPr>
          <p:cNvPr id="272" name="Weapons">
            <a:extLst>
              <a:ext uri="{FF2B5EF4-FFF2-40B4-BE49-F238E27FC236}">
                <a16:creationId xmlns:a16="http://schemas.microsoft.com/office/drawing/2014/main" id="{6F2C6148-B7B8-066D-F54A-C34F0F306C9D}"/>
              </a:ext>
            </a:extLst>
          </p:cNvPr>
          <p:cNvSpPr>
            <a:spLocks noGrp="1"/>
          </p:cNvSpPr>
          <p:nvPr/>
        </p:nvSpPr>
        <p:spPr>
          <a:xfrm>
            <a:off x="18421393" y="2760722"/>
            <a:ext cx="3854352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7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Armas</a:t>
            </a:r>
          </a:p>
        </p:txBody>
      </p:sp>
      <p:sp>
        <p:nvSpPr>
          <p:cNvPr id="273" name="Revolver">
            <a:extLst>
              <a:ext uri="{FF2B5EF4-FFF2-40B4-BE49-F238E27FC236}">
                <a16:creationId xmlns:a16="http://schemas.microsoft.com/office/drawing/2014/main" id="{B013DF9B-0E27-3B5B-1E68-A255C92661C5}"/>
              </a:ext>
            </a:extLst>
          </p:cNvPr>
          <p:cNvSpPr>
            <a:spLocks noGrp="1"/>
          </p:cNvSpPr>
          <p:nvPr/>
        </p:nvSpPr>
        <p:spPr>
          <a:xfrm>
            <a:off x="16800810" y="7891356"/>
            <a:ext cx="6163260" cy="1538284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>
                <a:solidFill>
                  <a:srgbClr val="5380AB"/>
                </a:solidFill>
              </a:rPr>
              <a:t>Revólver</a:t>
            </a:r>
            <a:endParaRPr dirty="0">
              <a:solidFill>
                <a:srgbClr val="5380AB"/>
              </a:solidFill>
            </a:endParaRPr>
          </a:p>
        </p:txBody>
      </p:sp>
      <p:sp>
        <p:nvSpPr>
          <p:cNvPr id="274" name="Wrench">
            <a:extLst>
              <a:ext uri="{FF2B5EF4-FFF2-40B4-BE49-F238E27FC236}">
                <a16:creationId xmlns:a16="http://schemas.microsoft.com/office/drawing/2014/main" id="{63027D50-C452-6273-A3F7-4C1FA9B4A8F1}"/>
              </a:ext>
            </a:extLst>
          </p:cNvPr>
          <p:cNvSpPr>
            <a:spLocks noGrp="1"/>
          </p:cNvSpPr>
          <p:nvPr/>
        </p:nvSpPr>
        <p:spPr>
          <a:xfrm>
            <a:off x="9258310" y="10955278"/>
            <a:ext cx="6163260" cy="1538283"/>
          </a:xfrm>
          <a:prstGeom prst="rect">
            <a:avLst/>
          </a:prstGeom>
          <a:solidFill>
            <a:srgbClr val="5380AB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>
                <a:solidFill>
                  <a:srgbClr val="5380AB"/>
                </a:solidFill>
              </a:rPr>
              <a:t>Chave </a:t>
            </a:r>
            <a:r>
              <a:rPr dirty="0" err="1">
                <a:solidFill>
                  <a:srgbClr val="5380AB"/>
                </a:solidFill>
              </a:rPr>
              <a:t>Inglesa</a:t>
            </a:r>
            <a:endParaRPr dirty="0">
              <a:solidFill>
                <a:srgbClr val="5380AB"/>
              </a:solidFill>
            </a:endParaRPr>
          </a:p>
        </p:txBody>
      </p:sp>
      <p:sp>
        <p:nvSpPr>
          <p:cNvPr id="3" name="Rectangle">
            <a:extLst>
              <a:ext uri="{FF2B5EF4-FFF2-40B4-BE49-F238E27FC236}">
                <a16:creationId xmlns:a16="http://schemas.microsoft.com/office/drawing/2014/main" id="{7534C898-39D0-2C50-4344-E134601C4E13}"/>
              </a:ext>
            </a:extLst>
          </p:cNvPr>
          <p:cNvSpPr>
            <a:spLocks noGrp="1"/>
          </p:cNvSpPr>
          <p:nvPr/>
        </p:nvSpPr>
        <p:spPr>
          <a:xfrm>
            <a:off x="8789433" y="10098215"/>
            <a:ext cx="6805133" cy="3262185"/>
          </a:xfrm>
          <a:prstGeom prst="rect">
            <a:avLst/>
          </a:prstGeom>
          <a:solidFill>
            <a:schemeClr val="accent4">
              <a:lumOff val="-647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" name="Triangle">
            <a:extLst>
              <a:ext uri="{FF2B5EF4-FFF2-40B4-BE49-F238E27FC236}">
                <a16:creationId xmlns:a16="http://schemas.microsoft.com/office/drawing/2014/main" id="{FFDCDE10-232A-A310-0F1D-4A4071CCED91}"/>
              </a:ext>
            </a:extLst>
          </p:cNvPr>
          <p:cNvSpPr>
            <a:spLocks noGrp="1"/>
          </p:cNvSpPr>
          <p:nvPr/>
        </p:nvSpPr>
        <p:spPr>
          <a:xfrm rot="5400000">
            <a:off x="7996276" y="10903369"/>
            <a:ext cx="3262184" cy="164801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4">
              <a:lumOff val="-6470"/>
            </a:schemeClr>
          </a:solidFill>
          <a:ln w="635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7206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Clue">
            <a:extLst>
              <a:ext uri="{FF2B5EF4-FFF2-40B4-BE49-F238E27FC236}">
                <a16:creationId xmlns:a16="http://schemas.microsoft.com/office/drawing/2014/main" id="{46249D00-AAF9-47BD-B4BD-361D372BC5D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Clue</a:t>
            </a:r>
          </a:p>
        </p:txBody>
      </p:sp>
    </p:spTree>
    <p:extLst>
      <p:ext uri="{BB962C8B-B14F-4D97-AF65-F5344CB8AC3E}">
        <p14:creationId xmlns:p14="http://schemas.microsoft.com/office/powerpoint/2010/main" val="6598951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926B4-BFA8-2392-F146-CA2C52B91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Clue">
            <a:extLst>
              <a:ext uri="{FF2B5EF4-FFF2-40B4-BE49-F238E27FC236}">
                <a16:creationId xmlns:a16="http://schemas.microsoft.com/office/drawing/2014/main" id="{5B2B15DC-B2C7-A206-15D6-CD5BF5C09F6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Clue</a:t>
            </a:r>
          </a:p>
        </p:txBody>
      </p:sp>
      <p:sp>
        <p:nvSpPr>
          <p:cNvPr id="340" name="Propositional Symbols">
            <a:extLst>
              <a:ext uri="{FF2B5EF4-FFF2-40B4-BE49-F238E27FC236}">
                <a16:creationId xmlns:a16="http://schemas.microsoft.com/office/drawing/2014/main" id="{C46501E2-3F14-244B-BD48-A9B3459A0449}"/>
              </a:ext>
            </a:extLst>
          </p:cNvPr>
          <p:cNvSpPr>
            <a:spLocks noGrp="1"/>
          </p:cNvSpPr>
          <p:nvPr/>
        </p:nvSpPr>
        <p:spPr>
          <a:xfrm>
            <a:off x="6630689" y="3044068"/>
            <a:ext cx="11122622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Símbolos Proposicionais</a:t>
            </a:r>
          </a:p>
        </p:txBody>
      </p:sp>
    </p:spTree>
    <p:extLst>
      <p:ext uri="{BB962C8B-B14F-4D97-AF65-F5344CB8AC3E}">
        <p14:creationId xmlns:p14="http://schemas.microsoft.com/office/powerpoint/2010/main" val="9438105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07D63-F3D2-827F-E881-38C97892E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Clue">
            <a:extLst>
              <a:ext uri="{FF2B5EF4-FFF2-40B4-BE49-F238E27FC236}">
                <a16:creationId xmlns:a16="http://schemas.microsoft.com/office/drawing/2014/main" id="{B5FB1FCC-E719-3458-9AD9-406C5253076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Clue</a:t>
            </a:r>
          </a:p>
        </p:txBody>
      </p:sp>
      <p:sp>
        <p:nvSpPr>
          <p:cNvPr id="340" name="Propositional Symbols">
            <a:extLst>
              <a:ext uri="{FF2B5EF4-FFF2-40B4-BE49-F238E27FC236}">
                <a16:creationId xmlns:a16="http://schemas.microsoft.com/office/drawing/2014/main" id="{B0F1BD68-62C3-4D64-5E37-ADDBB990C4CD}"/>
              </a:ext>
            </a:extLst>
          </p:cNvPr>
          <p:cNvSpPr>
            <a:spLocks noGrp="1"/>
          </p:cNvSpPr>
          <p:nvPr/>
        </p:nvSpPr>
        <p:spPr>
          <a:xfrm>
            <a:off x="6630689" y="3044068"/>
            <a:ext cx="11122622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Símbolos Proposicionais</a:t>
            </a:r>
          </a:p>
        </p:txBody>
      </p:sp>
      <p:sp>
        <p:nvSpPr>
          <p:cNvPr id="341" name="mustard…">
            <a:extLst>
              <a:ext uri="{FF2B5EF4-FFF2-40B4-BE49-F238E27FC236}">
                <a16:creationId xmlns:a16="http://schemas.microsoft.com/office/drawing/2014/main" id="{296D2680-2A91-CB95-B0F6-5DE0368F4B57}"/>
              </a:ext>
            </a:extLst>
          </p:cNvPr>
          <p:cNvSpPr>
            <a:spLocks noGrp="1"/>
          </p:cNvSpPr>
          <p:nvPr/>
        </p:nvSpPr>
        <p:spPr>
          <a:xfrm>
            <a:off x="2180644" y="5298584"/>
            <a:ext cx="3819005" cy="397734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t>mustard</a:t>
            </a:r>
          </a:p>
          <a:p>
            <a:pPr algn="l"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t>plum</a:t>
            </a:r>
          </a:p>
          <a:p>
            <a:pPr algn="l"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t>scarlet</a:t>
            </a:r>
          </a:p>
        </p:txBody>
      </p:sp>
      <p:sp>
        <p:nvSpPr>
          <p:cNvPr id="342" name="ballroom…">
            <a:extLst>
              <a:ext uri="{FF2B5EF4-FFF2-40B4-BE49-F238E27FC236}">
                <a16:creationId xmlns:a16="http://schemas.microsoft.com/office/drawing/2014/main" id="{6007D23A-36B8-7AA0-3D9E-3AAC582B28B2}"/>
              </a:ext>
            </a:extLst>
          </p:cNvPr>
          <p:cNvSpPr>
            <a:spLocks noGrp="1"/>
          </p:cNvSpPr>
          <p:nvPr/>
        </p:nvSpPr>
        <p:spPr>
          <a:xfrm>
            <a:off x="9279895" y="5298584"/>
            <a:ext cx="4263257" cy="397734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ballroom</a:t>
            </a:r>
          </a:p>
          <a:p>
            <a:pPr algn="l"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kitchen</a:t>
            </a:r>
          </a:p>
          <a:p>
            <a:pPr algn="l"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library</a:t>
            </a:r>
          </a:p>
        </p:txBody>
      </p:sp>
      <p:sp>
        <p:nvSpPr>
          <p:cNvPr id="343" name="knife…">
            <a:extLst>
              <a:ext uri="{FF2B5EF4-FFF2-40B4-BE49-F238E27FC236}">
                <a16:creationId xmlns:a16="http://schemas.microsoft.com/office/drawing/2014/main" id="{CB4283A1-376A-E70E-6E88-800EA8C3B137}"/>
              </a:ext>
            </a:extLst>
          </p:cNvPr>
          <p:cNvSpPr>
            <a:spLocks noGrp="1"/>
          </p:cNvSpPr>
          <p:nvPr/>
        </p:nvSpPr>
        <p:spPr>
          <a:xfrm>
            <a:off x="16661593" y="5298584"/>
            <a:ext cx="3879839" cy="397734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t>knife</a:t>
            </a:r>
          </a:p>
          <a:p>
            <a:pPr algn="l"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t>revolver</a:t>
            </a:r>
          </a:p>
          <a:p>
            <a:pPr algn="l"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t>wrench</a:t>
            </a:r>
          </a:p>
        </p:txBody>
      </p:sp>
    </p:spTree>
    <p:extLst>
      <p:ext uri="{BB962C8B-B14F-4D97-AF65-F5344CB8AC3E}">
        <p14:creationId xmlns:p14="http://schemas.microsoft.com/office/powerpoint/2010/main" val="14790112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Clue">
            <a:extLst>
              <a:ext uri="{FF2B5EF4-FFF2-40B4-BE49-F238E27FC236}">
                <a16:creationId xmlns:a16="http://schemas.microsoft.com/office/drawing/2014/main" id="{613A453B-F44B-4C27-8A32-C0BE2B8D599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Clue</a:t>
            </a:r>
          </a:p>
        </p:txBody>
      </p:sp>
    </p:spTree>
    <p:extLst>
      <p:ext uri="{BB962C8B-B14F-4D97-AF65-F5344CB8AC3E}">
        <p14:creationId xmlns:p14="http://schemas.microsoft.com/office/powerpoint/2010/main" val="17833164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575EF-B2B7-9657-C256-BC4F13D2A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Clue">
            <a:extLst>
              <a:ext uri="{FF2B5EF4-FFF2-40B4-BE49-F238E27FC236}">
                <a16:creationId xmlns:a16="http://schemas.microsoft.com/office/drawing/2014/main" id="{D967E427-D3AC-2265-0588-C6EA12E6A23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Clue</a:t>
            </a:r>
          </a:p>
        </p:txBody>
      </p:sp>
      <p:sp>
        <p:nvSpPr>
          <p:cNvPr id="346" name="(mustard ∨ plum ∨ scarlet)">
            <a:extLst>
              <a:ext uri="{FF2B5EF4-FFF2-40B4-BE49-F238E27FC236}">
                <a16:creationId xmlns:a16="http://schemas.microsoft.com/office/drawing/2014/main" id="{60FAB0E6-DE3F-4304-BB5F-C7FB38698509}"/>
              </a:ext>
            </a:extLst>
          </p:cNvPr>
          <p:cNvSpPr>
            <a:spLocks noGrp="1"/>
          </p:cNvSpPr>
          <p:nvPr/>
        </p:nvSpPr>
        <p:spPr>
          <a:xfrm>
            <a:off x="5953274" y="2790156"/>
            <a:ext cx="12477453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mustard</a:t>
            </a:r>
            <a:r>
              <a:t> ∨ </a:t>
            </a:r>
            <a:r>
              <a:rPr i="1"/>
              <a:t>plum</a:t>
            </a:r>
            <a:r>
              <a:t> ∨ </a:t>
            </a:r>
            <a:r>
              <a:rPr i="1"/>
              <a:t>scarlet</a:t>
            </a:r>
            <a: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224700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C1ABF-B191-F1BA-C4B9-B533926C2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Clue">
            <a:extLst>
              <a:ext uri="{FF2B5EF4-FFF2-40B4-BE49-F238E27FC236}">
                <a16:creationId xmlns:a16="http://schemas.microsoft.com/office/drawing/2014/main" id="{1E679A0E-596F-C61D-6241-36D158BE2F8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Clue</a:t>
            </a:r>
          </a:p>
        </p:txBody>
      </p:sp>
      <p:sp>
        <p:nvSpPr>
          <p:cNvPr id="346" name="(mustard ∨ plum ∨ scarlet)">
            <a:extLst>
              <a:ext uri="{FF2B5EF4-FFF2-40B4-BE49-F238E27FC236}">
                <a16:creationId xmlns:a16="http://schemas.microsoft.com/office/drawing/2014/main" id="{092DA014-8B7F-79CB-0345-773E6E811E92}"/>
              </a:ext>
            </a:extLst>
          </p:cNvPr>
          <p:cNvSpPr>
            <a:spLocks noGrp="1"/>
          </p:cNvSpPr>
          <p:nvPr/>
        </p:nvSpPr>
        <p:spPr>
          <a:xfrm>
            <a:off x="5953274" y="2790156"/>
            <a:ext cx="12477453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mustard</a:t>
            </a:r>
            <a:r>
              <a:t> ∨ </a:t>
            </a:r>
            <a:r>
              <a:rPr i="1"/>
              <a:t>plum</a:t>
            </a:r>
            <a:r>
              <a:t> ∨ </a:t>
            </a:r>
            <a:r>
              <a:rPr i="1"/>
              <a:t>scarlet</a:t>
            </a:r>
            <a:r>
              <a:t>)</a:t>
            </a:r>
          </a:p>
        </p:txBody>
      </p:sp>
      <p:sp>
        <p:nvSpPr>
          <p:cNvPr id="347" name="(ballroom ∨ kitchen ∨ library)">
            <a:extLst>
              <a:ext uri="{FF2B5EF4-FFF2-40B4-BE49-F238E27FC236}">
                <a16:creationId xmlns:a16="http://schemas.microsoft.com/office/drawing/2014/main" id="{EAD173DB-0921-C07B-EF2D-6F385A6F138B}"/>
              </a:ext>
            </a:extLst>
          </p:cNvPr>
          <p:cNvSpPr>
            <a:spLocks noGrp="1"/>
          </p:cNvSpPr>
          <p:nvPr/>
        </p:nvSpPr>
        <p:spPr>
          <a:xfrm>
            <a:off x="5192017" y="4573223"/>
            <a:ext cx="13999965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ballroom</a:t>
            </a:r>
            <a:r>
              <a:t> ∨ </a:t>
            </a:r>
            <a:r>
              <a:rPr i="1"/>
              <a:t>kitchen</a:t>
            </a:r>
            <a:r>
              <a:t> ∨ </a:t>
            </a:r>
            <a:r>
              <a:rPr i="1"/>
              <a:t>library</a:t>
            </a:r>
            <a: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0669837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3BD94-76DC-18C6-5E63-D967D4775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Clue">
            <a:extLst>
              <a:ext uri="{FF2B5EF4-FFF2-40B4-BE49-F238E27FC236}">
                <a16:creationId xmlns:a16="http://schemas.microsoft.com/office/drawing/2014/main" id="{AB0DE416-63AB-80D5-01FE-14F0A09454A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Clue</a:t>
            </a:r>
          </a:p>
        </p:txBody>
      </p:sp>
      <p:sp>
        <p:nvSpPr>
          <p:cNvPr id="346" name="(mustard ∨ plum ∨ scarlet)">
            <a:extLst>
              <a:ext uri="{FF2B5EF4-FFF2-40B4-BE49-F238E27FC236}">
                <a16:creationId xmlns:a16="http://schemas.microsoft.com/office/drawing/2014/main" id="{711DBF4B-A09C-9727-6A7C-564B198A5018}"/>
              </a:ext>
            </a:extLst>
          </p:cNvPr>
          <p:cNvSpPr>
            <a:spLocks noGrp="1"/>
          </p:cNvSpPr>
          <p:nvPr/>
        </p:nvSpPr>
        <p:spPr>
          <a:xfrm>
            <a:off x="5953274" y="2790156"/>
            <a:ext cx="12477453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mustard</a:t>
            </a:r>
            <a:r>
              <a:t> ∨ </a:t>
            </a:r>
            <a:r>
              <a:rPr i="1"/>
              <a:t>plum</a:t>
            </a:r>
            <a:r>
              <a:t> ∨ </a:t>
            </a:r>
            <a:r>
              <a:rPr i="1"/>
              <a:t>scarlet</a:t>
            </a:r>
            <a:r>
              <a:t>)</a:t>
            </a:r>
          </a:p>
        </p:txBody>
      </p:sp>
      <p:sp>
        <p:nvSpPr>
          <p:cNvPr id="347" name="(ballroom ∨ kitchen ∨ library)">
            <a:extLst>
              <a:ext uri="{FF2B5EF4-FFF2-40B4-BE49-F238E27FC236}">
                <a16:creationId xmlns:a16="http://schemas.microsoft.com/office/drawing/2014/main" id="{3FE16597-7B95-1C43-A2EB-CF984A62BD91}"/>
              </a:ext>
            </a:extLst>
          </p:cNvPr>
          <p:cNvSpPr>
            <a:spLocks noGrp="1"/>
          </p:cNvSpPr>
          <p:nvPr/>
        </p:nvSpPr>
        <p:spPr>
          <a:xfrm>
            <a:off x="5192017" y="4573223"/>
            <a:ext cx="13999965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ballroom</a:t>
            </a:r>
            <a:r>
              <a:t> ∨ </a:t>
            </a:r>
            <a:r>
              <a:rPr i="1"/>
              <a:t>kitchen</a:t>
            </a:r>
            <a:r>
              <a:t> ∨ </a:t>
            </a:r>
            <a:r>
              <a:rPr i="1"/>
              <a:t>library</a:t>
            </a:r>
            <a:r>
              <a:t>)</a:t>
            </a:r>
          </a:p>
        </p:txBody>
      </p:sp>
      <p:sp>
        <p:nvSpPr>
          <p:cNvPr id="348" name="(knife ∨ revolver ∨ wrench)">
            <a:extLst>
              <a:ext uri="{FF2B5EF4-FFF2-40B4-BE49-F238E27FC236}">
                <a16:creationId xmlns:a16="http://schemas.microsoft.com/office/drawing/2014/main" id="{3D6F01F6-F716-E76C-3B1C-5C1E851B26B8}"/>
              </a:ext>
            </a:extLst>
          </p:cNvPr>
          <p:cNvSpPr>
            <a:spLocks noGrp="1"/>
          </p:cNvSpPr>
          <p:nvPr/>
        </p:nvSpPr>
        <p:spPr>
          <a:xfrm>
            <a:off x="5849466" y="6356291"/>
            <a:ext cx="12685068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knife</a:t>
            </a:r>
            <a:r>
              <a:t> ∨ </a:t>
            </a:r>
            <a:r>
              <a:rPr i="1"/>
              <a:t>revolver</a:t>
            </a:r>
            <a:r>
              <a:t> ∨ </a:t>
            </a:r>
            <a:r>
              <a:rPr i="1"/>
              <a:t>wrench</a:t>
            </a:r>
            <a: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352558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065F4-1ACA-0A3A-2158-76EAB82A4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Clue">
            <a:extLst>
              <a:ext uri="{FF2B5EF4-FFF2-40B4-BE49-F238E27FC236}">
                <a16:creationId xmlns:a16="http://schemas.microsoft.com/office/drawing/2014/main" id="{94FF1EDE-A89D-D512-8F33-8C8A9F3C148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Clue</a:t>
            </a:r>
          </a:p>
        </p:txBody>
      </p:sp>
      <p:sp>
        <p:nvSpPr>
          <p:cNvPr id="346" name="(mustard ∨ plum ∨ scarlet)">
            <a:extLst>
              <a:ext uri="{FF2B5EF4-FFF2-40B4-BE49-F238E27FC236}">
                <a16:creationId xmlns:a16="http://schemas.microsoft.com/office/drawing/2014/main" id="{CF5488A0-4ADD-B0BA-268B-DA5EBAF050A3}"/>
              </a:ext>
            </a:extLst>
          </p:cNvPr>
          <p:cNvSpPr>
            <a:spLocks noGrp="1"/>
          </p:cNvSpPr>
          <p:nvPr/>
        </p:nvSpPr>
        <p:spPr>
          <a:xfrm>
            <a:off x="5953274" y="2790156"/>
            <a:ext cx="12477453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mustard</a:t>
            </a:r>
            <a:r>
              <a:t> ∨ </a:t>
            </a:r>
            <a:r>
              <a:rPr i="1"/>
              <a:t>plum</a:t>
            </a:r>
            <a:r>
              <a:t> ∨ </a:t>
            </a:r>
            <a:r>
              <a:rPr i="1"/>
              <a:t>scarlet</a:t>
            </a:r>
            <a:r>
              <a:t>)</a:t>
            </a:r>
          </a:p>
        </p:txBody>
      </p:sp>
      <p:sp>
        <p:nvSpPr>
          <p:cNvPr id="347" name="(ballroom ∨ kitchen ∨ library)">
            <a:extLst>
              <a:ext uri="{FF2B5EF4-FFF2-40B4-BE49-F238E27FC236}">
                <a16:creationId xmlns:a16="http://schemas.microsoft.com/office/drawing/2014/main" id="{246B9C18-1514-F1CB-720B-AFFDB98187DC}"/>
              </a:ext>
            </a:extLst>
          </p:cNvPr>
          <p:cNvSpPr>
            <a:spLocks noGrp="1"/>
          </p:cNvSpPr>
          <p:nvPr/>
        </p:nvSpPr>
        <p:spPr>
          <a:xfrm>
            <a:off x="5192017" y="4573223"/>
            <a:ext cx="13999965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ballroom</a:t>
            </a:r>
            <a:r>
              <a:t> ∨ </a:t>
            </a:r>
            <a:r>
              <a:rPr i="1"/>
              <a:t>kitchen</a:t>
            </a:r>
            <a:r>
              <a:t> ∨ </a:t>
            </a:r>
            <a:r>
              <a:rPr i="1"/>
              <a:t>library</a:t>
            </a:r>
            <a:r>
              <a:t>)</a:t>
            </a:r>
          </a:p>
        </p:txBody>
      </p:sp>
      <p:sp>
        <p:nvSpPr>
          <p:cNvPr id="348" name="(knife ∨ revolver ∨ wrench)">
            <a:extLst>
              <a:ext uri="{FF2B5EF4-FFF2-40B4-BE49-F238E27FC236}">
                <a16:creationId xmlns:a16="http://schemas.microsoft.com/office/drawing/2014/main" id="{E4EE2DA4-F129-3DA5-BD55-C766687F1085}"/>
              </a:ext>
            </a:extLst>
          </p:cNvPr>
          <p:cNvSpPr>
            <a:spLocks noGrp="1"/>
          </p:cNvSpPr>
          <p:nvPr/>
        </p:nvSpPr>
        <p:spPr>
          <a:xfrm>
            <a:off x="5849466" y="6356291"/>
            <a:ext cx="12685068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knife</a:t>
            </a:r>
            <a:r>
              <a:t> ∨ </a:t>
            </a:r>
            <a:r>
              <a:rPr i="1"/>
              <a:t>revolver</a:t>
            </a:r>
            <a:r>
              <a:t> ∨ </a:t>
            </a:r>
            <a:r>
              <a:rPr i="1"/>
              <a:t>wrench</a:t>
            </a:r>
            <a:r>
              <a:t>)</a:t>
            </a:r>
          </a:p>
        </p:txBody>
      </p:sp>
      <p:sp>
        <p:nvSpPr>
          <p:cNvPr id="349" name="¬plum">
            <a:extLst>
              <a:ext uri="{FF2B5EF4-FFF2-40B4-BE49-F238E27FC236}">
                <a16:creationId xmlns:a16="http://schemas.microsoft.com/office/drawing/2014/main" id="{823AA5CE-1C1A-B004-9FB0-9FC77DD10F79}"/>
              </a:ext>
            </a:extLst>
          </p:cNvPr>
          <p:cNvSpPr>
            <a:spLocks noGrp="1"/>
          </p:cNvSpPr>
          <p:nvPr/>
        </p:nvSpPr>
        <p:spPr>
          <a:xfrm>
            <a:off x="10669544" y="9116186"/>
            <a:ext cx="3044912" cy="136114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>
                <a:latin typeface="Times New Roman"/>
                <a:ea typeface="Times New Roman"/>
                <a:cs typeface="Times New Roman"/>
              </a:defRPr>
            </a:pPr>
            <a:r>
              <a:t>¬</a:t>
            </a:r>
            <a:r>
              <a:rPr i="1"/>
              <a:t>plum</a:t>
            </a:r>
          </a:p>
        </p:txBody>
      </p:sp>
    </p:spTree>
    <p:extLst>
      <p:ext uri="{BB962C8B-B14F-4D97-AF65-F5344CB8AC3E}">
        <p14:creationId xmlns:p14="http://schemas.microsoft.com/office/powerpoint/2010/main" val="25845912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7F39C-48D7-4BE0-86BB-CD94283CC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Clue">
            <a:extLst>
              <a:ext uri="{FF2B5EF4-FFF2-40B4-BE49-F238E27FC236}">
                <a16:creationId xmlns:a16="http://schemas.microsoft.com/office/drawing/2014/main" id="{EF4BFEEC-AE32-2516-8568-15FA48498F5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Clue</a:t>
            </a:r>
          </a:p>
        </p:txBody>
      </p:sp>
      <p:sp>
        <p:nvSpPr>
          <p:cNvPr id="346" name="(mustard ∨ plum ∨ scarlet)">
            <a:extLst>
              <a:ext uri="{FF2B5EF4-FFF2-40B4-BE49-F238E27FC236}">
                <a16:creationId xmlns:a16="http://schemas.microsoft.com/office/drawing/2014/main" id="{7B4A3E59-C373-27AA-A6BD-A104432FE1E3}"/>
              </a:ext>
            </a:extLst>
          </p:cNvPr>
          <p:cNvSpPr>
            <a:spLocks noGrp="1"/>
          </p:cNvSpPr>
          <p:nvPr/>
        </p:nvSpPr>
        <p:spPr>
          <a:xfrm>
            <a:off x="5953274" y="2790156"/>
            <a:ext cx="12477453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mustard</a:t>
            </a:r>
            <a:r>
              <a:t> ∨ </a:t>
            </a:r>
            <a:r>
              <a:rPr i="1"/>
              <a:t>plum</a:t>
            </a:r>
            <a:r>
              <a:t> ∨ </a:t>
            </a:r>
            <a:r>
              <a:rPr i="1"/>
              <a:t>scarlet</a:t>
            </a:r>
            <a:r>
              <a:t>)</a:t>
            </a:r>
          </a:p>
        </p:txBody>
      </p:sp>
      <p:sp>
        <p:nvSpPr>
          <p:cNvPr id="347" name="(ballroom ∨ kitchen ∨ library)">
            <a:extLst>
              <a:ext uri="{FF2B5EF4-FFF2-40B4-BE49-F238E27FC236}">
                <a16:creationId xmlns:a16="http://schemas.microsoft.com/office/drawing/2014/main" id="{23378DAA-58F9-4BF9-C327-C0D8455F80FF}"/>
              </a:ext>
            </a:extLst>
          </p:cNvPr>
          <p:cNvSpPr>
            <a:spLocks noGrp="1"/>
          </p:cNvSpPr>
          <p:nvPr/>
        </p:nvSpPr>
        <p:spPr>
          <a:xfrm>
            <a:off x="5192017" y="4573223"/>
            <a:ext cx="13999965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ballroom</a:t>
            </a:r>
            <a:r>
              <a:t> ∨ </a:t>
            </a:r>
            <a:r>
              <a:rPr i="1"/>
              <a:t>kitchen</a:t>
            </a:r>
            <a:r>
              <a:t> ∨ </a:t>
            </a:r>
            <a:r>
              <a:rPr i="1"/>
              <a:t>library</a:t>
            </a:r>
            <a:r>
              <a:t>)</a:t>
            </a:r>
          </a:p>
        </p:txBody>
      </p:sp>
      <p:sp>
        <p:nvSpPr>
          <p:cNvPr id="348" name="(knife ∨ revolver ∨ wrench)">
            <a:extLst>
              <a:ext uri="{FF2B5EF4-FFF2-40B4-BE49-F238E27FC236}">
                <a16:creationId xmlns:a16="http://schemas.microsoft.com/office/drawing/2014/main" id="{F185E766-B454-2179-592B-C3A8A6B288D5}"/>
              </a:ext>
            </a:extLst>
          </p:cNvPr>
          <p:cNvSpPr>
            <a:spLocks noGrp="1"/>
          </p:cNvSpPr>
          <p:nvPr/>
        </p:nvSpPr>
        <p:spPr>
          <a:xfrm>
            <a:off x="5849466" y="6356291"/>
            <a:ext cx="12685068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knife</a:t>
            </a:r>
            <a:r>
              <a:t> ∨ </a:t>
            </a:r>
            <a:r>
              <a:rPr i="1"/>
              <a:t>revolver</a:t>
            </a:r>
            <a:r>
              <a:t> ∨ </a:t>
            </a:r>
            <a:r>
              <a:rPr i="1"/>
              <a:t>wrench</a:t>
            </a:r>
            <a:r>
              <a:t>)</a:t>
            </a:r>
          </a:p>
        </p:txBody>
      </p:sp>
      <p:sp>
        <p:nvSpPr>
          <p:cNvPr id="349" name="¬plum">
            <a:extLst>
              <a:ext uri="{FF2B5EF4-FFF2-40B4-BE49-F238E27FC236}">
                <a16:creationId xmlns:a16="http://schemas.microsoft.com/office/drawing/2014/main" id="{AA7548E3-0BEE-307B-FB91-CF2EAAE6E7EC}"/>
              </a:ext>
            </a:extLst>
          </p:cNvPr>
          <p:cNvSpPr>
            <a:spLocks noGrp="1"/>
          </p:cNvSpPr>
          <p:nvPr/>
        </p:nvSpPr>
        <p:spPr>
          <a:xfrm>
            <a:off x="10669544" y="9116186"/>
            <a:ext cx="3044912" cy="136114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>
                <a:latin typeface="Times New Roman"/>
                <a:ea typeface="Times New Roman"/>
                <a:cs typeface="Times New Roman"/>
              </a:defRPr>
            </a:pPr>
            <a:r>
              <a:t>¬</a:t>
            </a:r>
            <a:r>
              <a:rPr i="1"/>
              <a:t>plum</a:t>
            </a:r>
          </a:p>
        </p:txBody>
      </p:sp>
      <p:sp>
        <p:nvSpPr>
          <p:cNvPr id="350" name="¬mustard ∨ ¬library ∨ ¬revolver">
            <a:extLst>
              <a:ext uri="{FF2B5EF4-FFF2-40B4-BE49-F238E27FC236}">
                <a16:creationId xmlns:a16="http://schemas.microsoft.com/office/drawing/2014/main" id="{49C10BF1-9FB2-B92C-66F8-2BEFB08FF6C8}"/>
              </a:ext>
            </a:extLst>
          </p:cNvPr>
          <p:cNvSpPr>
            <a:spLocks noGrp="1"/>
          </p:cNvSpPr>
          <p:nvPr/>
        </p:nvSpPr>
        <p:spPr>
          <a:xfrm>
            <a:off x="4595124" y="11045098"/>
            <a:ext cx="15193752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>
                <a:latin typeface="Times New Roman"/>
                <a:ea typeface="Times New Roman"/>
                <a:cs typeface="Times New Roman"/>
              </a:defRPr>
            </a:pPr>
            <a:r>
              <a:t>¬</a:t>
            </a:r>
            <a:r>
              <a:rPr i="1"/>
              <a:t>mustard</a:t>
            </a:r>
            <a:r>
              <a:t> ∨ ¬</a:t>
            </a:r>
            <a:r>
              <a:rPr i="1"/>
              <a:t>library</a:t>
            </a:r>
            <a:r>
              <a:t> ∨ ¬</a:t>
            </a:r>
            <a:r>
              <a:rPr i="1"/>
              <a:t>revolver</a:t>
            </a:r>
          </a:p>
        </p:txBody>
      </p:sp>
    </p:spTree>
    <p:extLst>
      <p:ext uri="{BB962C8B-B14F-4D97-AF65-F5344CB8AC3E}">
        <p14:creationId xmlns:p14="http://schemas.microsoft.com/office/powerpoint/2010/main" val="40232379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Logic Puzzles">
            <a:extLst>
              <a:ext uri="{FF2B5EF4-FFF2-40B4-BE49-F238E27FC236}">
                <a16:creationId xmlns:a16="http://schemas.microsoft.com/office/drawing/2014/main" id="{542B3E4B-8D90-4CE9-A9E1-4FE3C67A8CE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/>
              <a:t>Enigmas</a:t>
            </a:r>
          </a:p>
        </p:txBody>
      </p:sp>
      <p:sp>
        <p:nvSpPr>
          <p:cNvPr id="353" name="Gilderoy, Minerva, Pomona and Horace each belong to a different one of the four houses: Gryffindor, Hufflepuff, Ravenclaw, and Slytherin House.…">
            <a:extLst>
              <a:ext uri="{FF2B5EF4-FFF2-40B4-BE49-F238E27FC236}">
                <a16:creationId xmlns:a16="http://schemas.microsoft.com/office/drawing/2014/main" id="{AB34A0FD-ACDA-4C91-9BF5-8A779F66D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Gilderoy</a:t>
            </a:r>
            <a:r>
              <a:rPr dirty="0"/>
              <a:t>, Minerva, Pomona e Horace </a:t>
            </a:r>
            <a:r>
              <a:rPr dirty="0" err="1"/>
              <a:t>pertencem</a:t>
            </a:r>
            <a:r>
              <a:rPr dirty="0"/>
              <a:t> a casas </a:t>
            </a:r>
            <a:r>
              <a:rPr dirty="0" err="1"/>
              <a:t>diferentes</a:t>
            </a:r>
            <a:r>
              <a:rPr dirty="0"/>
              <a:t>: Gryffindor, Hufflepuff, Ravenclaw e Slytherin.</a:t>
            </a:r>
          </a:p>
          <a:p>
            <a:r>
              <a:rPr dirty="0" err="1"/>
              <a:t>Gilderoy</a:t>
            </a:r>
            <a:r>
              <a:rPr dirty="0"/>
              <a:t> </a:t>
            </a:r>
            <a:r>
              <a:rPr dirty="0" err="1"/>
              <a:t>pertence</a:t>
            </a:r>
            <a:r>
              <a:rPr dirty="0"/>
              <a:t> à Gryffindor </a:t>
            </a:r>
            <a:r>
              <a:rPr dirty="0" err="1"/>
              <a:t>ou</a:t>
            </a:r>
            <a:r>
              <a:rPr dirty="0"/>
              <a:t> à Ravenclaw.</a:t>
            </a:r>
          </a:p>
          <a:p>
            <a:r>
              <a:rPr dirty="0"/>
              <a:t>Pomona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pertence</a:t>
            </a:r>
            <a:r>
              <a:rPr dirty="0"/>
              <a:t> à Slytherin.</a:t>
            </a:r>
          </a:p>
          <a:p>
            <a:r>
              <a:rPr dirty="0"/>
              <a:t>Minerva </a:t>
            </a:r>
            <a:r>
              <a:rPr dirty="0" err="1"/>
              <a:t>pertence</a:t>
            </a:r>
            <a:r>
              <a:rPr dirty="0"/>
              <a:t> à Gryffindor.</a:t>
            </a:r>
          </a:p>
        </p:txBody>
      </p:sp>
    </p:spTree>
    <p:extLst>
      <p:ext uri="{BB962C8B-B14F-4D97-AF65-F5344CB8AC3E}">
        <p14:creationId xmlns:p14="http://schemas.microsoft.com/office/powerpoint/2010/main" val="4033960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Logic Puzzles">
            <a:extLst>
              <a:ext uri="{FF2B5EF4-FFF2-40B4-BE49-F238E27FC236}">
                <a16:creationId xmlns:a16="http://schemas.microsoft.com/office/drawing/2014/main" id="{E40140CA-3A91-4F2F-BC60-BC5AD7A8F34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Enigmas</a:t>
            </a:r>
          </a:p>
        </p:txBody>
      </p:sp>
    </p:spTree>
    <p:extLst>
      <p:ext uri="{BB962C8B-B14F-4D97-AF65-F5344CB8AC3E}">
        <p14:creationId xmlns:p14="http://schemas.microsoft.com/office/powerpoint/2010/main" val="134684550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F9F6B-DEF1-3C54-D8BA-BD0DAD228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Logic Puzzles">
            <a:extLst>
              <a:ext uri="{FF2B5EF4-FFF2-40B4-BE49-F238E27FC236}">
                <a16:creationId xmlns:a16="http://schemas.microsoft.com/office/drawing/2014/main" id="{C000B4E9-0239-EF25-62E2-06E0CD93E8D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Enigmas</a:t>
            </a:r>
          </a:p>
        </p:txBody>
      </p:sp>
      <p:sp>
        <p:nvSpPr>
          <p:cNvPr id="356" name="Propositional Symbols">
            <a:extLst>
              <a:ext uri="{FF2B5EF4-FFF2-40B4-BE49-F238E27FC236}">
                <a16:creationId xmlns:a16="http://schemas.microsoft.com/office/drawing/2014/main" id="{D361E9BC-E711-47A6-7F30-0A8CEF73C458}"/>
              </a:ext>
            </a:extLst>
          </p:cNvPr>
          <p:cNvSpPr>
            <a:spLocks noGrp="1"/>
          </p:cNvSpPr>
          <p:nvPr/>
        </p:nvSpPr>
        <p:spPr>
          <a:xfrm>
            <a:off x="6630689" y="2747504"/>
            <a:ext cx="11122622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Símbolos Proposicionais</a:t>
            </a:r>
          </a:p>
        </p:txBody>
      </p:sp>
    </p:spTree>
    <p:extLst>
      <p:ext uri="{BB962C8B-B14F-4D97-AF65-F5344CB8AC3E}">
        <p14:creationId xmlns:p14="http://schemas.microsoft.com/office/powerpoint/2010/main" val="414308134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074FC-FFAA-3CCD-2FCF-225C6009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Logic Puzzles">
            <a:extLst>
              <a:ext uri="{FF2B5EF4-FFF2-40B4-BE49-F238E27FC236}">
                <a16:creationId xmlns:a16="http://schemas.microsoft.com/office/drawing/2014/main" id="{79B2F69A-DC1C-B7E8-69DD-256CE1630F7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Enigmas</a:t>
            </a:r>
          </a:p>
        </p:txBody>
      </p:sp>
      <p:sp>
        <p:nvSpPr>
          <p:cNvPr id="356" name="Propositional Symbols">
            <a:extLst>
              <a:ext uri="{FF2B5EF4-FFF2-40B4-BE49-F238E27FC236}">
                <a16:creationId xmlns:a16="http://schemas.microsoft.com/office/drawing/2014/main" id="{54C2CE59-43B0-9D67-5A04-5872F151180F}"/>
              </a:ext>
            </a:extLst>
          </p:cNvPr>
          <p:cNvSpPr>
            <a:spLocks noGrp="1"/>
          </p:cNvSpPr>
          <p:nvPr/>
        </p:nvSpPr>
        <p:spPr>
          <a:xfrm>
            <a:off x="6630689" y="2747504"/>
            <a:ext cx="11122622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Símbolos Proposicionais</a:t>
            </a:r>
          </a:p>
        </p:txBody>
      </p:sp>
      <p:sp>
        <p:nvSpPr>
          <p:cNvPr id="357" name="GilderoyGryffindor…">
            <a:extLst>
              <a:ext uri="{FF2B5EF4-FFF2-40B4-BE49-F238E27FC236}">
                <a16:creationId xmlns:a16="http://schemas.microsoft.com/office/drawing/2014/main" id="{9A5E7145-9F71-F8F3-F715-90C8E97CC1D5}"/>
              </a:ext>
            </a:extLst>
          </p:cNvPr>
          <p:cNvSpPr>
            <a:spLocks noGrp="1"/>
          </p:cNvSpPr>
          <p:nvPr/>
        </p:nvSpPr>
        <p:spPr>
          <a:xfrm>
            <a:off x="2180644" y="4623169"/>
            <a:ext cx="6639701" cy="387653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500" b="0" i="1">
                <a:latin typeface="Times New Roman"/>
                <a:ea typeface="Times New Roman"/>
                <a:cs typeface="Times New Roman"/>
              </a:defRPr>
            </a:pPr>
            <a:r>
              <a:t>GilderoyGryffindor</a:t>
            </a:r>
          </a:p>
          <a:p>
            <a:pPr algn="l">
              <a:buNone/>
              <a:defRPr sz="6500" b="0" i="1">
                <a:latin typeface="Times New Roman"/>
                <a:ea typeface="Times New Roman"/>
                <a:cs typeface="Times New Roman"/>
              </a:defRPr>
            </a:pPr>
            <a:r>
              <a:t>GilderoyHufflepuff</a:t>
            </a:r>
          </a:p>
          <a:p>
            <a:pPr algn="l">
              <a:buNone/>
              <a:defRPr sz="6500" b="0" i="1">
                <a:latin typeface="Times New Roman"/>
                <a:ea typeface="Times New Roman"/>
                <a:cs typeface="Times New Roman"/>
              </a:defRPr>
            </a:pPr>
            <a:r>
              <a:t>GilderoyRavenclaw</a:t>
            </a:r>
          </a:p>
          <a:p>
            <a:pPr algn="l">
              <a:buNone/>
              <a:defRPr sz="6500" b="0" i="1">
                <a:latin typeface="Times New Roman"/>
                <a:ea typeface="Times New Roman"/>
                <a:cs typeface="Times New Roman"/>
              </a:defRPr>
            </a:pPr>
            <a:r>
              <a:t>GilderoySlytherin</a:t>
            </a:r>
          </a:p>
        </p:txBody>
      </p:sp>
      <p:sp>
        <p:nvSpPr>
          <p:cNvPr id="358" name="MinervaGryffindor…">
            <a:extLst>
              <a:ext uri="{FF2B5EF4-FFF2-40B4-BE49-F238E27FC236}">
                <a16:creationId xmlns:a16="http://schemas.microsoft.com/office/drawing/2014/main" id="{216FC105-FF0E-D7E0-89A6-EC81A756AF59}"/>
              </a:ext>
            </a:extLst>
          </p:cNvPr>
          <p:cNvSpPr>
            <a:spLocks noGrp="1"/>
          </p:cNvSpPr>
          <p:nvPr/>
        </p:nvSpPr>
        <p:spPr>
          <a:xfrm>
            <a:off x="13011129" y="4623169"/>
            <a:ext cx="6532483" cy="387653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500" b="0" i="1">
                <a:latin typeface="Times New Roman"/>
                <a:ea typeface="Times New Roman"/>
                <a:cs typeface="Times New Roman"/>
              </a:defRPr>
            </a:pPr>
            <a:r>
              <a:t>MinervaGryffindor</a:t>
            </a:r>
          </a:p>
          <a:p>
            <a:pPr algn="l">
              <a:buNone/>
              <a:defRPr sz="6500" b="0" i="1">
                <a:latin typeface="Times New Roman"/>
                <a:ea typeface="Times New Roman"/>
                <a:cs typeface="Times New Roman"/>
              </a:defRPr>
            </a:pPr>
            <a:r>
              <a:t>MinervaHufflepuff</a:t>
            </a:r>
          </a:p>
          <a:p>
            <a:pPr algn="l">
              <a:buNone/>
              <a:defRPr sz="6500" b="0" i="1">
                <a:latin typeface="Times New Roman"/>
                <a:ea typeface="Times New Roman"/>
                <a:cs typeface="Times New Roman"/>
              </a:defRPr>
            </a:pPr>
            <a:r>
              <a:t>MinervaRavenclaw</a:t>
            </a:r>
          </a:p>
          <a:p>
            <a:pPr algn="l">
              <a:buNone/>
              <a:defRPr sz="6500" b="0" i="1">
                <a:latin typeface="Times New Roman"/>
                <a:ea typeface="Times New Roman"/>
                <a:cs typeface="Times New Roman"/>
              </a:defRPr>
            </a:pPr>
            <a:r>
              <a:t>MinervaSlytherin</a:t>
            </a:r>
          </a:p>
        </p:txBody>
      </p:sp>
      <p:sp>
        <p:nvSpPr>
          <p:cNvPr id="359" name="PomonaGryffindor…">
            <a:extLst>
              <a:ext uri="{FF2B5EF4-FFF2-40B4-BE49-F238E27FC236}">
                <a16:creationId xmlns:a16="http://schemas.microsoft.com/office/drawing/2014/main" id="{350A48DD-049E-3CB6-F4F9-727B07A7AD0B}"/>
              </a:ext>
            </a:extLst>
          </p:cNvPr>
          <p:cNvSpPr>
            <a:spLocks noGrp="1"/>
          </p:cNvSpPr>
          <p:nvPr/>
        </p:nvSpPr>
        <p:spPr>
          <a:xfrm>
            <a:off x="2187502" y="9266304"/>
            <a:ext cx="6487338" cy="387653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500" b="0" i="1">
                <a:latin typeface="Times New Roman"/>
                <a:ea typeface="Times New Roman"/>
                <a:cs typeface="Times New Roman"/>
              </a:defRPr>
            </a:pPr>
            <a:r>
              <a:t>PomonaGryffindor</a:t>
            </a:r>
          </a:p>
          <a:p>
            <a:pPr algn="l">
              <a:buNone/>
              <a:defRPr sz="6500" b="0" i="1">
                <a:latin typeface="Times New Roman"/>
                <a:ea typeface="Times New Roman"/>
                <a:cs typeface="Times New Roman"/>
              </a:defRPr>
            </a:pPr>
            <a:r>
              <a:t>PomonaHufflepuff</a:t>
            </a:r>
          </a:p>
          <a:p>
            <a:pPr algn="l">
              <a:buNone/>
              <a:defRPr sz="6500" b="0" i="1">
                <a:latin typeface="Times New Roman"/>
                <a:ea typeface="Times New Roman"/>
                <a:cs typeface="Times New Roman"/>
              </a:defRPr>
            </a:pPr>
            <a:r>
              <a:t>PomonaRavenclaw</a:t>
            </a:r>
          </a:p>
          <a:p>
            <a:pPr algn="l">
              <a:buNone/>
              <a:defRPr sz="6500" b="0" i="1">
                <a:latin typeface="Times New Roman"/>
                <a:ea typeface="Times New Roman"/>
                <a:cs typeface="Times New Roman"/>
              </a:defRPr>
            </a:pPr>
            <a:r>
              <a:t>PomonaSlytherin</a:t>
            </a:r>
          </a:p>
        </p:txBody>
      </p:sp>
      <p:sp>
        <p:nvSpPr>
          <p:cNvPr id="360" name="HoraceGryffindor…">
            <a:extLst>
              <a:ext uri="{FF2B5EF4-FFF2-40B4-BE49-F238E27FC236}">
                <a16:creationId xmlns:a16="http://schemas.microsoft.com/office/drawing/2014/main" id="{F74FED4C-8F28-50BE-9EE5-5BCAA74BAE04}"/>
              </a:ext>
            </a:extLst>
          </p:cNvPr>
          <p:cNvSpPr>
            <a:spLocks noGrp="1"/>
          </p:cNvSpPr>
          <p:nvPr/>
        </p:nvSpPr>
        <p:spPr>
          <a:xfrm>
            <a:off x="12921213" y="9266304"/>
            <a:ext cx="6211634" cy="387653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500" b="0" i="1">
                <a:latin typeface="Times New Roman"/>
                <a:ea typeface="Times New Roman"/>
                <a:cs typeface="Times New Roman"/>
              </a:defRPr>
            </a:pPr>
            <a:r>
              <a:t>HoraceGryffindor</a:t>
            </a:r>
          </a:p>
          <a:p>
            <a:pPr algn="l">
              <a:buNone/>
              <a:defRPr sz="6500" b="0" i="1">
                <a:latin typeface="Times New Roman"/>
                <a:ea typeface="Times New Roman"/>
                <a:cs typeface="Times New Roman"/>
              </a:defRPr>
            </a:pPr>
            <a:r>
              <a:t>HoraceHufflepuff</a:t>
            </a:r>
          </a:p>
          <a:p>
            <a:pPr algn="l">
              <a:buNone/>
              <a:defRPr sz="6500" b="0" i="1">
                <a:latin typeface="Times New Roman"/>
                <a:ea typeface="Times New Roman"/>
                <a:cs typeface="Times New Roman"/>
              </a:defRPr>
            </a:pPr>
            <a:r>
              <a:t>HoraceRavenclaw</a:t>
            </a:r>
          </a:p>
          <a:p>
            <a:pPr algn="l">
              <a:buNone/>
              <a:defRPr sz="6500" b="0" i="1">
                <a:latin typeface="Times New Roman"/>
                <a:ea typeface="Times New Roman"/>
                <a:cs typeface="Times New Roman"/>
              </a:defRPr>
            </a:pPr>
            <a:r>
              <a:t>HoraceSlytherin</a:t>
            </a:r>
          </a:p>
        </p:txBody>
      </p:sp>
    </p:spTree>
    <p:extLst>
      <p:ext uri="{BB962C8B-B14F-4D97-AF65-F5344CB8AC3E}">
        <p14:creationId xmlns:p14="http://schemas.microsoft.com/office/powerpoint/2010/main" val="17181138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DD412-D5D0-7C64-C965-553FD3309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Logic Puzzles">
            <a:extLst>
              <a:ext uri="{FF2B5EF4-FFF2-40B4-BE49-F238E27FC236}">
                <a16:creationId xmlns:a16="http://schemas.microsoft.com/office/drawing/2014/main" id="{2317C674-1449-8DE7-0CE3-AB652C84528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Enigmas</a:t>
            </a:r>
          </a:p>
        </p:txBody>
      </p:sp>
      <p:sp>
        <p:nvSpPr>
          <p:cNvPr id="353" name="Gilderoy, Minerva, Pomona and Horace each belong to a different one of the four houses: Gryffindor, Hufflepuff, Ravenclaw, and Slytherin House.…">
            <a:extLst>
              <a:ext uri="{FF2B5EF4-FFF2-40B4-BE49-F238E27FC236}">
                <a16:creationId xmlns:a16="http://schemas.microsoft.com/office/drawing/2014/main" id="{675B615B-3932-60D3-67E9-AE566F297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Gilderoy</a:t>
            </a:r>
            <a:r>
              <a:rPr dirty="0"/>
              <a:t>, Minerva, Pomona e Horace </a:t>
            </a:r>
            <a:r>
              <a:rPr dirty="0" err="1"/>
              <a:t>pertencem</a:t>
            </a:r>
            <a:r>
              <a:rPr dirty="0"/>
              <a:t> a casas </a:t>
            </a:r>
            <a:r>
              <a:rPr dirty="0" err="1"/>
              <a:t>diferentes</a:t>
            </a:r>
            <a:r>
              <a:rPr dirty="0"/>
              <a:t>: Gryffindor, Hufflepuff, Ravenclaw e Slytherin.</a:t>
            </a:r>
          </a:p>
          <a:p>
            <a:r>
              <a:rPr dirty="0" err="1"/>
              <a:t>Gilderoy</a:t>
            </a:r>
            <a:r>
              <a:rPr dirty="0"/>
              <a:t> </a:t>
            </a:r>
            <a:r>
              <a:rPr dirty="0" err="1"/>
              <a:t>pertence</a:t>
            </a:r>
            <a:r>
              <a:rPr dirty="0"/>
              <a:t> à Gryffindor </a:t>
            </a:r>
            <a:r>
              <a:rPr dirty="0" err="1"/>
              <a:t>ou</a:t>
            </a:r>
            <a:r>
              <a:rPr dirty="0"/>
              <a:t> à Ravenclaw.</a:t>
            </a:r>
          </a:p>
          <a:p>
            <a:r>
              <a:rPr dirty="0"/>
              <a:t>Pomona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pertence</a:t>
            </a:r>
            <a:r>
              <a:rPr dirty="0"/>
              <a:t> à Slytherin.</a:t>
            </a:r>
          </a:p>
          <a:p>
            <a:r>
              <a:rPr dirty="0"/>
              <a:t>Minerva </a:t>
            </a:r>
            <a:r>
              <a:rPr dirty="0" err="1"/>
              <a:t>pertence</a:t>
            </a:r>
            <a:r>
              <a:rPr dirty="0"/>
              <a:t> à Gryffindor.</a:t>
            </a:r>
          </a:p>
        </p:txBody>
      </p:sp>
    </p:spTree>
    <p:extLst>
      <p:ext uri="{BB962C8B-B14F-4D97-AF65-F5344CB8AC3E}">
        <p14:creationId xmlns:p14="http://schemas.microsoft.com/office/powerpoint/2010/main" val="55118913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Logic Puzzles">
            <a:extLst>
              <a:ext uri="{FF2B5EF4-FFF2-40B4-BE49-F238E27FC236}">
                <a16:creationId xmlns:a16="http://schemas.microsoft.com/office/drawing/2014/main" id="{2AE06504-68F7-4F07-B313-FB7B1B58EB4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Enigmas</a:t>
            </a:r>
          </a:p>
        </p:txBody>
      </p:sp>
    </p:spTree>
    <p:extLst>
      <p:ext uri="{BB962C8B-B14F-4D97-AF65-F5344CB8AC3E}">
        <p14:creationId xmlns:p14="http://schemas.microsoft.com/office/powerpoint/2010/main" val="197883839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5C87D-28CD-E4F3-57E7-393C04C38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Logic Puzzles">
            <a:extLst>
              <a:ext uri="{FF2B5EF4-FFF2-40B4-BE49-F238E27FC236}">
                <a16:creationId xmlns:a16="http://schemas.microsoft.com/office/drawing/2014/main" id="{38F304D1-F942-678E-92A5-DC5BC27B505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Enigmas</a:t>
            </a:r>
          </a:p>
        </p:txBody>
      </p:sp>
      <p:sp>
        <p:nvSpPr>
          <p:cNvPr id="364" name="(PomonaSlytherin → ¬PomonaHufflepuff)">
            <a:extLst>
              <a:ext uri="{FF2B5EF4-FFF2-40B4-BE49-F238E27FC236}">
                <a16:creationId xmlns:a16="http://schemas.microsoft.com/office/drawing/2014/main" id="{0611925B-C7D7-070C-0A6D-92BE5EEE766D}"/>
              </a:ext>
            </a:extLst>
          </p:cNvPr>
          <p:cNvSpPr>
            <a:spLocks noGrp="1"/>
          </p:cNvSpPr>
          <p:nvPr/>
        </p:nvSpPr>
        <p:spPr>
          <a:xfrm>
            <a:off x="2384189" y="3502826"/>
            <a:ext cx="19615622" cy="136114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PomonaSlytherin</a:t>
            </a:r>
            <a:r>
              <a:t> → ¬</a:t>
            </a:r>
            <a:r>
              <a:rPr i="1"/>
              <a:t>PomonaHufflepuff</a:t>
            </a:r>
            <a: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631837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7C7CA-5B9D-1BF6-6123-C68579A81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Logic Puzzles">
            <a:extLst>
              <a:ext uri="{FF2B5EF4-FFF2-40B4-BE49-F238E27FC236}">
                <a16:creationId xmlns:a16="http://schemas.microsoft.com/office/drawing/2014/main" id="{20CA3C0C-EB16-9582-E72B-E9F0E946547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Enigmas</a:t>
            </a:r>
          </a:p>
        </p:txBody>
      </p:sp>
      <p:sp>
        <p:nvSpPr>
          <p:cNvPr id="364" name="(PomonaSlytherin → ¬PomonaHufflepuff)">
            <a:extLst>
              <a:ext uri="{FF2B5EF4-FFF2-40B4-BE49-F238E27FC236}">
                <a16:creationId xmlns:a16="http://schemas.microsoft.com/office/drawing/2014/main" id="{854F3EBA-28DF-ABE1-7F56-DDFB4B9D6890}"/>
              </a:ext>
            </a:extLst>
          </p:cNvPr>
          <p:cNvSpPr>
            <a:spLocks noGrp="1"/>
          </p:cNvSpPr>
          <p:nvPr/>
        </p:nvSpPr>
        <p:spPr>
          <a:xfrm>
            <a:off x="2384189" y="3502826"/>
            <a:ext cx="19615622" cy="136114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PomonaSlytherin</a:t>
            </a:r>
            <a:r>
              <a:t> → ¬</a:t>
            </a:r>
            <a:r>
              <a:rPr i="1"/>
              <a:t>PomonaHufflepuff</a:t>
            </a:r>
            <a:r>
              <a:t>)</a:t>
            </a:r>
          </a:p>
        </p:txBody>
      </p:sp>
      <p:sp>
        <p:nvSpPr>
          <p:cNvPr id="365" name="(MinervaRavenclaw → ¬GilderoyRavenclaw)">
            <a:extLst>
              <a:ext uri="{FF2B5EF4-FFF2-40B4-BE49-F238E27FC236}">
                <a16:creationId xmlns:a16="http://schemas.microsoft.com/office/drawing/2014/main" id="{ED7B9D1A-3102-DF73-AC31-5BF340237966}"/>
              </a:ext>
            </a:extLst>
          </p:cNvPr>
          <p:cNvSpPr>
            <a:spLocks noGrp="1"/>
          </p:cNvSpPr>
          <p:nvPr/>
        </p:nvSpPr>
        <p:spPr>
          <a:xfrm>
            <a:off x="1613724" y="6545598"/>
            <a:ext cx="21156552" cy="136114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MinervaRavenclaw</a:t>
            </a:r>
            <a:r>
              <a:t> → ¬</a:t>
            </a:r>
            <a:r>
              <a:rPr i="1"/>
              <a:t>GilderoyRavenclaw</a:t>
            </a:r>
            <a: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686654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2E2E6-2B53-0EE7-3816-AB37317BF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Logic Puzzles">
            <a:extLst>
              <a:ext uri="{FF2B5EF4-FFF2-40B4-BE49-F238E27FC236}">
                <a16:creationId xmlns:a16="http://schemas.microsoft.com/office/drawing/2014/main" id="{117E4797-84F5-984A-7900-287916C4DB3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Enigmas</a:t>
            </a:r>
          </a:p>
        </p:txBody>
      </p:sp>
      <p:sp>
        <p:nvSpPr>
          <p:cNvPr id="363" name="(GilderoyGryffindor ∨ GilderoyRavenclaw)">
            <a:extLst>
              <a:ext uri="{FF2B5EF4-FFF2-40B4-BE49-F238E27FC236}">
                <a16:creationId xmlns:a16="http://schemas.microsoft.com/office/drawing/2014/main" id="{79B49DD4-8935-8D86-E527-C9AAAD371DC8}"/>
              </a:ext>
            </a:extLst>
          </p:cNvPr>
          <p:cNvSpPr>
            <a:spLocks noGrp="1"/>
          </p:cNvSpPr>
          <p:nvPr/>
        </p:nvSpPr>
        <p:spPr>
          <a:xfrm>
            <a:off x="2156482" y="9559209"/>
            <a:ext cx="20071036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GilderoyGryffindor</a:t>
            </a:r>
            <a:r>
              <a:t> ∨ </a:t>
            </a:r>
            <a:r>
              <a:rPr i="1"/>
              <a:t>GilderoyRavenclaw</a:t>
            </a:r>
            <a:r>
              <a:t>)</a:t>
            </a:r>
          </a:p>
        </p:txBody>
      </p:sp>
      <p:sp>
        <p:nvSpPr>
          <p:cNvPr id="364" name="(PomonaSlytherin → ¬PomonaHufflepuff)">
            <a:extLst>
              <a:ext uri="{FF2B5EF4-FFF2-40B4-BE49-F238E27FC236}">
                <a16:creationId xmlns:a16="http://schemas.microsoft.com/office/drawing/2014/main" id="{141863AF-0666-19FB-6745-F42DCF478265}"/>
              </a:ext>
            </a:extLst>
          </p:cNvPr>
          <p:cNvSpPr>
            <a:spLocks noGrp="1"/>
          </p:cNvSpPr>
          <p:nvPr/>
        </p:nvSpPr>
        <p:spPr>
          <a:xfrm>
            <a:off x="2384189" y="3502826"/>
            <a:ext cx="19615622" cy="136114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PomonaSlytherin</a:t>
            </a:r>
            <a:r>
              <a:t> → ¬</a:t>
            </a:r>
            <a:r>
              <a:rPr i="1"/>
              <a:t>PomonaHufflepuff</a:t>
            </a:r>
            <a:r>
              <a:t>)</a:t>
            </a:r>
          </a:p>
        </p:txBody>
      </p:sp>
      <p:sp>
        <p:nvSpPr>
          <p:cNvPr id="365" name="(MinervaRavenclaw → ¬GilderoyRavenclaw)">
            <a:extLst>
              <a:ext uri="{FF2B5EF4-FFF2-40B4-BE49-F238E27FC236}">
                <a16:creationId xmlns:a16="http://schemas.microsoft.com/office/drawing/2014/main" id="{D0BFB753-1912-5DEC-88F8-2A225601B37B}"/>
              </a:ext>
            </a:extLst>
          </p:cNvPr>
          <p:cNvSpPr>
            <a:spLocks noGrp="1"/>
          </p:cNvSpPr>
          <p:nvPr/>
        </p:nvSpPr>
        <p:spPr>
          <a:xfrm>
            <a:off x="1613724" y="6545598"/>
            <a:ext cx="21156552" cy="136114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>
                <a:latin typeface="Times New Roman"/>
                <a:ea typeface="Times New Roman"/>
                <a:cs typeface="Times New Roman"/>
              </a:defRPr>
            </a:pPr>
            <a:r>
              <a:t>(</a:t>
            </a:r>
            <a:r>
              <a:rPr i="1"/>
              <a:t>MinervaRavenclaw</a:t>
            </a:r>
            <a:r>
              <a:t> → ¬</a:t>
            </a:r>
            <a:r>
              <a:rPr i="1"/>
              <a:t>GilderoyRavenclaw</a:t>
            </a:r>
            <a: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3783154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Inference Rules">
            <a:extLst>
              <a:ext uri="{FF2B5EF4-FFF2-40B4-BE49-F238E27FC236}">
                <a16:creationId xmlns:a16="http://schemas.microsoft.com/office/drawing/2014/main" id="{2BA12672-EC6E-4FD5-9B79-996C37A4478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Regras de Inferência</a:t>
            </a:r>
          </a:p>
        </p:txBody>
      </p:sp>
    </p:spTree>
    <p:extLst>
      <p:ext uri="{BB962C8B-B14F-4D97-AF65-F5344CB8AC3E}">
        <p14:creationId xmlns:p14="http://schemas.microsoft.com/office/powerpoint/2010/main" val="41623848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Line">
            <a:extLst>
              <a:ext uri="{FF2B5EF4-FFF2-40B4-BE49-F238E27FC236}">
                <a16:creationId xmlns:a16="http://schemas.microsoft.com/office/drawing/2014/main" id="{83BB85C2-0919-4BC4-8246-7357DD5D5228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042678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8C101-DDAC-0A75-3434-F638834BF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If it is raining, then Harry is inside.">
            <a:extLst>
              <a:ext uri="{FF2B5EF4-FFF2-40B4-BE49-F238E27FC236}">
                <a16:creationId xmlns:a16="http://schemas.microsoft.com/office/drawing/2014/main" id="{5BE5BD00-9511-A1CE-CB52-0BE267626542}"/>
              </a:ext>
            </a:extLst>
          </p:cNvPr>
          <p:cNvSpPr>
            <a:spLocks noGrp="1"/>
          </p:cNvSpPr>
          <p:nvPr/>
        </p:nvSpPr>
        <p:spPr>
          <a:xfrm>
            <a:off x="1373259" y="3689273"/>
            <a:ext cx="22004422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Se </a:t>
            </a:r>
            <a:r>
              <a:rPr dirty="0" err="1"/>
              <a:t>estiver</a:t>
            </a:r>
            <a:r>
              <a:rPr dirty="0"/>
              <a:t> </a:t>
            </a:r>
            <a:r>
              <a:rPr dirty="0" err="1"/>
              <a:t>chovendo</a:t>
            </a:r>
            <a:r>
              <a:rPr dirty="0"/>
              <a:t>, </a:t>
            </a:r>
            <a:r>
              <a:rPr dirty="0" err="1"/>
              <a:t>então</a:t>
            </a:r>
            <a:r>
              <a:rPr dirty="0"/>
              <a:t> Harry </a:t>
            </a:r>
            <a:r>
              <a:rPr dirty="0" err="1"/>
              <a:t>está</a:t>
            </a:r>
            <a:r>
              <a:rPr dirty="0"/>
              <a:t> </a:t>
            </a:r>
            <a:r>
              <a:rPr lang="pt-BR" dirty="0"/>
              <a:t>em</a:t>
            </a:r>
            <a:r>
              <a:rPr dirty="0"/>
              <a:t> casa.</a:t>
            </a:r>
          </a:p>
        </p:txBody>
      </p:sp>
      <p:sp>
        <p:nvSpPr>
          <p:cNvPr id="390" name="Line">
            <a:extLst>
              <a:ext uri="{FF2B5EF4-FFF2-40B4-BE49-F238E27FC236}">
                <a16:creationId xmlns:a16="http://schemas.microsoft.com/office/drawing/2014/main" id="{88030DE9-2142-D208-4332-498CEDBA5B77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844026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09745-A621-E4DE-C644-39058B2D9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If it is raining, then Harry is inside.">
            <a:extLst>
              <a:ext uri="{FF2B5EF4-FFF2-40B4-BE49-F238E27FC236}">
                <a16:creationId xmlns:a16="http://schemas.microsoft.com/office/drawing/2014/main" id="{64DEE660-D183-EADF-B763-5DE1A36D1FC0}"/>
              </a:ext>
            </a:extLst>
          </p:cNvPr>
          <p:cNvSpPr>
            <a:spLocks noGrp="1"/>
          </p:cNvSpPr>
          <p:nvPr/>
        </p:nvSpPr>
        <p:spPr>
          <a:xfrm>
            <a:off x="1373259" y="3689273"/>
            <a:ext cx="22004422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Se </a:t>
            </a:r>
            <a:r>
              <a:rPr dirty="0" err="1"/>
              <a:t>estiver</a:t>
            </a:r>
            <a:r>
              <a:rPr dirty="0"/>
              <a:t> </a:t>
            </a:r>
            <a:r>
              <a:rPr dirty="0" err="1"/>
              <a:t>chovendo</a:t>
            </a:r>
            <a:r>
              <a:rPr dirty="0"/>
              <a:t>, </a:t>
            </a:r>
            <a:r>
              <a:rPr dirty="0" err="1"/>
              <a:t>então</a:t>
            </a:r>
            <a:r>
              <a:rPr dirty="0"/>
              <a:t> Harry </a:t>
            </a:r>
            <a:r>
              <a:rPr dirty="0" err="1"/>
              <a:t>está</a:t>
            </a:r>
            <a:r>
              <a:rPr dirty="0"/>
              <a:t> </a:t>
            </a:r>
            <a:r>
              <a:rPr lang="pt-BR" dirty="0"/>
              <a:t>em</a:t>
            </a:r>
            <a:r>
              <a:rPr dirty="0"/>
              <a:t> casa.</a:t>
            </a:r>
          </a:p>
        </p:txBody>
      </p:sp>
      <p:sp>
        <p:nvSpPr>
          <p:cNvPr id="390" name="Line">
            <a:extLst>
              <a:ext uri="{FF2B5EF4-FFF2-40B4-BE49-F238E27FC236}">
                <a16:creationId xmlns:a16="http://schemas.microsoft.com/office/drawing/2014/main" id="{56AF5506-5888-BDB5-1F1A-9072EB1DDD25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It is raining.">
            <a:extLst>
              <a:ext uri="{FF2B5EF4-FFF2-40B4-BE49-F238E27FC236}">
                <a16:creationId xmlns:a16="http://schemas.microsoft.com/office/drawing/2014/main" id="{12EA35EC-2DDE-F2BD-5A69-6685A7C36139}"/>
              </a:ext>
            </a:extLst>
          </p:cNvPr>
          <p:cNvSpPr>
            <a:spLocks noGrp="1"/>
          </p:cNvSpPr>
          <p:nvPr/>
        </p:nvSpPr>
        <p:spPr>
          <a:xfrm>
            <a:off x="8603678" y="6213397"/>
            <a:ext cx="7176645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chovendo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820515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C2448-0E03-A8C9-3794-A289B7BAF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If it is raining, then Harry is inside.">
            <a:extLst>
              <a:ext uri="{FF2B5EF4-FFF2-40B4-BE49-F238E27FC236}">
                <a16:creationId xmlns:a16="http://schemas.microsoft.com/office/drawing/2014/main" id="{031E2C26-E4F6-6956-454C-39EDBB5670B2}"/>
              </a:ext>
            </a:extLst>
          </p:cNvPr>
          <p:cNvSpPr>
            <a:spLocks noGrp="1"/>
          </p:cNvSpPr>
          <p:nvPr/>
        </p:nvSpPr>
        <p:spPr>
          <a:xfrm>
            <a:off x="1373259" y="3689273"/>
            <a:ext cx="22004422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Se </a:t>
            </a:r>
            <a:r>
              <a:rPr dirty="0" err="1"/>
              <a:t>estiver</a:t>
            </a:r>
            <a:r>
              <a:rPr dirty="0"/>
              <a:t> </a:t>
            </a:r>
            <a:r>
              <a:rPr dirty="0" err="1"/>
              <a:t>chovendo</a:t>
            </a:r>
            <a:r>
              <a:rPr dirty="0"/>
              <a:t>, </a:t>
            </a:r>
            <a:r>
              <a:rPr dirty="0" err="1"/>
              <a:t>então</a:t>
            </a:r>
            <a:r>
              <a:rPr dirty="0"/>
              <a:t> Harry </a:t>
            </a:r>
            <a:r>
              <a:rPr dirty="0" err="1"/>
              <a:t>está</a:t>
            </a:r>
            <a:r>
              <a:rPr dirty="0"/>
              <a:t> </a:t>
            </a:r>
            <a:r>
              <a:rPr lang="pt-BR" dirty="0"/>
              <a:t>em</a:t>
            </a:r>
            <a:r>
              <a:rPr dirty="0"/>
              <a:t> casa.</a:t>
            </a:r>
          </a:p>
        </p:txBody>
      </p:sp>
      <p:sp>
        <p:nvSpPr>
          <p:cNvPr id="390" name="Line">
            <a:extLst>
              <a:ext uri="{FF2B5EF4-FFF2-40B4-BE49-F238E27FC236}">
                <a16:creationId xmlns:a16="http://schemas.microsoft.com/office/drawing/2014/main" id="{20014F9B-C9B9-CFDB-ACA3-55205AA5B26F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It is raining.">
            <a:extLst>
              <a:ext uri="{FF2B5EF4-FFF2-40B4-BE49-F238E27FC236}">
                <a16:creationId xmlns:a16="http://schemas.microsoft.com/office/drawing/2014/main" id="{79423990-6A37-179D-A82A-1A4349983D40}"/>
              </a:ext>
            </a:extLst>
          </p:cNvPr>
          <p:cNvSpPr>
            <a:spLocks noGrp="1"/>
          </p:cNvSpPr>
          <p:nvPr/>
        </p:nvSpPr>
        <p:spPr>
          <a:xfrm>
            <a:off x="8603678" y="6213397"/>
            <a:ext cx="7176645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chovendo</a:t>
            </a:r>
            <a:r>
              <a:rPr dirty="0"/>
              <a:t>.</a:t>
            </a:r>
          </a:p>
        </p:txBody>
      </p:sp>
      <p:sp>
        <p:nvSpPr>
          <p:cNvPr id="3" name="Harry is inside.">
            <a:extLst>
              <a:ext uri="{FF2B5EF4-FFF2-40B4-BE49-F238E27FC236}">
                <a16:creationId xmlns:a16="http://schemas.microsoft.com/office/drawing/2014/main" id="{59A0BBF0-FBC4-A213-48A1-9D2BAA60789E}"/>
              </a:ext>
            </a:extLst>
          </p:cNvPr>
          <p:cNvSpPr>
            <a:spLocks noGrp="1"/>
          </p:cNvSpPr>
          <p:nvPr/>
        </p:nvSpPr>
        <p:spPr>
          <a:xfrm>
            <a:off x="7550506" y="10029069"/>
            <a:ext cx="9282989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Harry </a:t>
            </a:r>
            <a:r>
              <a:rPr dirty="0" err="1"/>
              <a:t>está</a:t>
            </a:r>
            <a:r>
              <a:rPr dirty="0"/>
              <a:t> </a:t>
            </a:r>
            <a:r>
              <a:rPr lang="pt-BR" dirty="0"/>
              <a:t>em</a:t>
            </a:r>
            <a:r>
              <a:rPr dirty="0"/>
              <a:t> casa.</a:t>
            </a:r>
          </a:p>
        </p:txBody>
      </p:sp>
    </p:spTree>
    <p:extLst>
      <p:ext uri="{BB962C8B-B14F-4D97-AF65-F5344CB8AC3E}">
        <p14:creationId xmlns:p14="http://schemas.microsoft.com/office/powerpoint/2010/main" val="379047490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CC99-F5D7-2311-AA66-6C67CD042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If it is raining, then Harry is inside.">
            <a:extLst>
              <a:ext uri="{FF2B5EF4-FFF2-40B4-BE49-F238E27FC236}">
                <a16:creationId xmlns:a16="http://schemas.microsoft.com/office/drawing/2014/main" id="{EC5758AA-0E87-1444-F738-7888EC1D9794}"/>
              </a:ext>
            </a:extLst>
          </p:cNvPr>
          <p:cNvSpPr>
            <a:spLocks noGrp="1"/>
          </p:cNvSpPr>
          <p:nvPr/>
        </p:nvSpPr>
        <p:spPr>
          <a:xfrm>
            <a:off x="1373259" y="3689273"/>
            <a:ext cx="22004422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Se </a:t>
            </a:r>
            <a:r>
              <a:rPr dirty="0" err="1"/>
              <a:t>estiver</a:t>
            </a:r>
            <a:r>
              <a:rPr dirty="0"/>
              <a:t> </a:t>
            </a:r>
            <a:r>
              <a:rPr dirty="0" err="1"/>
              <a:t>chovendo</a:t>
            </a:r>
            <a:r>
              <a:rPr dirty="0"/>
              <a:t>, </a:t>
            </a:r>
            <a:r>
              <a:rPr dirty="0" err="1"/>
              <a:t>então</a:t>
            </a:r>
            <a:r>
              <a:rPr dirty="0"/>
              <a:t> Harry </a:t>
            </a:r>
            <a:r>
              <a:rPr dirty="0" err="1"/>
              <a:t>está</a:t>
            </a:r>
            <a:r>
              <a:rPr dirty="0"/>
              <a:t> </a:t>
            </a:r>
            <a:r>
              <a:rPr lang="pt-BR" dirty="0"/>
              <a:t>em</a:t>
            </a:r>
            <a:r>
              <a:rPr dirty="0"/>
              <a:t> casa.</a:t>
            </a:r>
          </a:p>
        </p:txBody>
      </p:sp>
      <p:sp>
        <p:nvSpPr>
          <p:cNvPr id="390" name="Line">
            <a:extLst>
              <a:ext uri="{FF2B5EF4-FFF2-40B4-BE49-F238E27FC236}">
                <a16:creationId xmlns:a16="http://schemas.microsoft.com/office/drawing/2014/main" id="{589109FE-307B-66A5-D453-7068E2D3E9C3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It is raining.">
            <a:extLst>
              <a:ext uri="{FF2B5EF4-FFF2-40B4-BE49-F238E27FC236}">
                <a16:creationId xmlns:a16="http://schemas.microsoft.com/office/drawing/2014/main" id="{3E935D76-F28E-5E3C-480E-52BE853D9427}"/>
              </a:ext>
            </a:extLst>
          </p:cNvPr>
          <p:cNvSpPr>
            <a:spLocks noGrp="1"/>
          </p:cNvSpPr>
          <p:nvPr/>
        </p:nvSpPr>
        <p:spPr>
          <a:xfrm>
            <a:off x="8603678" y="6213397"/>
            <a:ext cx="7176645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chovendo</a:t>
            </a:r>
            <a:r>
              <a:rPr dirty="0"/>
              <a:t>.</a:t>
            </a:r>
          </a:p>
        </p:txBody>
      </p:sp>
      <p:sp>
        <p:nvSpPr>
          <p:cNvPr id="3" name="Harry is inside.">
            <a:extLst>
              <a:ext uri="{FF2B5EF4-FFF2-40B4-BE49-F238E27FC236}">
                <a16:creationId xmlns:a16="http://schemas.microsoft.com/office/drawing/2014/main" id="{650CA463-E322-2D79-4596-117315B4B3EE}"/>
              </a:ext>
            </a:extLst>
          </p:cNvPr>
          <p:cNvSpPr>
            <a:spLocks noGrp="1"/>
          </p:cNvSpPr>
          <p:nvPr/>
        </p:nvSpPr>
        <p:spPr>
          <a:xfrm>
            <a:off x="7550506" y="10029069"/>
            <a:ext cx="9282989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Harry </a:t>
            </a:r>
            <a:r>
              <a:rPr dirty="0" err="1"/>
              <a:t>está</a:t>
            </a:r>
            <a:r>
              <a:rPr dirty="0"/>
              <a:t> </a:t>
            </a:r>
            <a:r>
              <a:rPr lang="pt-BR" dirty="0"/>
              <a:t>em</a:t>
            </a:r>
            <a:r>
              <a:rPr dirty="0"/>
              <a:t> casa.</a:t>
            </a:r>
          </a:p>
        </p:txBody>
      </p:sp>
      <p:sp>
        <p:nvSpPr>
          <p:cNvPr id="4" name="Modus Ponens">
            <a:extLst>
              <a:ext uri="{FF2B5EF4-FFF2-40B4-BE49-F238E27FC236}">
                <a16:creationId xmlns:a16="http://schemas.microsoft.com/office/drawing/2014/main" id="{6CBFC758-407D-A0D6-E796-FEBA75D8B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Modus Ponens</a:t>
            </a:r>
          </a:p>
        </p:txBody>
      </p:sp>
    </p:spTree>
    <p:extLst>
      <p:ext uri="{BB962C8B-B14F-4D97-AF65-F5344CB8AC3E}">
        <p14:creationId xmlns:p14="http://schemas.microsoft.com/office/powerpoint/2010/main" val="118812564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Modus Ponens">
            <a:extLst>
              <a:ext uri="{FF2B5EF4-FFF2-40B4-BE49-F238E27FC236}">
                <a16:creationId xmlns:a16="http://schemas.microsoft.com/office/drawing/2014/main" id="{E5593B57-9AAE-48A5-8643-146A70813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Modus Ponens</a:t>
            </a: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BE2988A3-4621-000E-C10F-F0A503620848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40313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DA069-1C54-77A3-8216-42805ADFD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α →  β">
            <a:extLst>
              <a:ext uri="{FF2B5EF4-FFF2-40B4-BE49-F238E27FC236}">
                <a16:creationId xmlns:a16="http://schemas.microsoft.com/office/drawing/2014/main" id="{58B74AF0-0603-79F4-AE08-A5651781A325}"/>
              </a:ext>
            </a:extLst>
          </p:cNvPr>
          <p:cNvSpPr>
            <a:spLocks noGrp="1"/>
          </p:cNvSpPr>
          <p:nvPr/>
        </p:nvSpPr>
        <p:spPr>
          <a:xfrm>
            <a:off x="10197944" y="3528544"/>
            <a:ext cx="3988111" cy="165515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α </a:t>
            </a:r>
            <a:r>
              <a:rPr>
                <a:latin typeface="Times New Roman"/>
                <a:ea typeface="Times New Roman"/>
                <a:cs typeface="Times New Roman"/>
              </a:rPr>
              <a:t>→ </a:t>
            </a:r>
            <a:r>
              <a:rPr i="1">
                <a:latin typeface="Times New Roman"/>
                <a:ea typeface="Times New Roman"/>
                <a:cs typeface="Times New Roman"/>
              </a:rPr>
              <a:t> β</a:t>
            </a:r>
          </a:p>
        </p:txBody>
      </p:sp>
      <p:sp>
        <p:nvSpPr>
          <p:cNvPr id="399" name="Modus Ponens">
            <a:extLst>
              <a:ext uri="{FF2B5EF4-FFF2-40B4-BE49-F238E27FC236}">
                <a16:creationId xmlns:a16="http://schemas.microsoft.com/office/drawing/2014/main" id="{310DC0AC-20F4-FF9F-FC94-662EDFCED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Modus Ponens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80F66BC3-1178-02C4-04E0-56935AB85F53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691658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57F5A-6E09-8264-6385-C9E3FD169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α →  β">
            <a:extLst>
              <a:ext uri="{FF2B5EF4-FFF2-40B4-BE49-F238E27FC236}">
                <a16:creationId xmlns:a16="http://schemas.microsoft.com/office/drawing/2014/main" id="{C8714015-86F9-DF38-C474-D2894E8BC7AD}"/>
              </a:ext>
            </a:extLst>
          </p:cNvPr>
          <p:cNvSpPr>
            <a:spLocks noGrp="1"/>
          </p:cNvSpPr>
          <p:nvPr/>
        </p:nvSpPr>
        <p:spPr>
          <a:xfrm>
            <a:off x="10197944" y="3528544"/>
            <a:ext cx="3988111" cy="165515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α </a:t>
            </a:r>
            <a:r>
              <a:rPr>
                <a:latin typeface="Times New Roman"/>
                <a:ea typeface="Times New Roman"/>
                <a:cs typeface="Times New Roman"/>
              </a:rPr>
              <a:t>→ </a:t>
            </a:r>
            <a:r>
              <a:rPr i="1">
                <a:latin typeface="Times New Roman"/>
                <a:ea typeface="Times New Roman"/>
                <a:cs typeface="Times New Roman"/>
              </a:rPr>
              <a:t> β</a:t>
            </a:r>
          </a:p>
        </p:txBody>
      </p:sp>
      <p:sp>
        <p:nvSpPr>
          <p:cNvPr id="397" name="α">
            <a:extLst>
              <a:ext uri="{FF2B5EF4-FFF2-40B4-BE49-F238E27FC236}">
                <a16:creationId xmlns:a16="http://schemas.microsoft.com/office/drawing/2014/main" id="{F6F94911-C4B0-5674-2352-1BB469379FED}"/>
              </a:ext>
            </a:extLst>
          </p:cNvPr>
          <p:cNvSpPr>
            <a:spLocks noGrp="1"/>
          </p:cNvSpPr>
          <p:nvPr/>
        </p:nvSpPr>
        <p:spPr>
          <a:xfrm>
            <a:off x="11768205" y="6052667"/>
            <a:ext cx="847590" cy="165515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1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i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α</a:t>
            </a:r>
          </a:p>
        </p:txBody>
      </p:sp>
      <p:sp>
        <p:nvSpPr>
          <p:cNvPr id="399" name="Modus Ponens">
            <a:extLst>
              <a:ext uri="{FF2B5EF4-FFF2-40B4-BE49-F238E27FC236}">
                <a16:creationId xmlns:a16="http://schemas.microsoft.com/office/drawing/2014/main" id="{1460E1D7-C282-4C6B-C5D8-1DF992FEB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Modus Ponens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7DCA3218-13BC-5BA1-FD12-4B9DACF8E661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633600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CCD33-8E9D-2999-480D-CAA172AE9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α →  β">
            <a:extLst>
              <a:ext uri="{FF2B5EF4-FFF2-40B4-BE49-F238E27FC236}">
                <a16:creationId xmlns:a16="http://schemas.microsoft.com/office/drawing/2014/main" id="{337F0CAF-02A8-0DEB-0BB4-2E22E0D1B704}"/>
              </a:ext>
            </a:extLst>
          </p:cNvPr>
          <p:cNvSpPr>
            <a:spLocks noGrp="1"/>
          </p:cNvSpPr>
          <p:nvPr/>
        </p:nvSpPr>
        <p:spPr>
          <a:xfrm>
            <a:off x="10197944" y="3528544"/>
            <a:ext cx="3988111" cy="165515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α </a:t>
            </a:r>
            <a:r>
              <a:rPr>
                <a:latin typeface="Times New Roman"/>
                <a:ea typeface="Times New Roman"/>
                <a:cs typeface="Times New Roman"/>
              </a:rPr>
              <a:t>→ </a:t>
            </a:r>
            <a:r>
              <a:rPr i="1">
                <a:latin typeface="Times New Roman"/>
                <a:ea typeface="Times New Roman"/>
                <a:cs typeface="Times New Roman"/>
              </a:rPr>
              <a:t> β</a:t>
            </a:r>
          </a:p>
        </p:txBody>
      </p:sp>
      <p:sp>
        <p:nvSpPr>
          <p:cNvPr id="397" name="α">
            <a:extLst>
              <a:ext uri="{FF2B5EF4-FFF2-40B4-BE49-F238E27FC236}">
                <a16:creationId xmlns:a16="http://schemas.microsoft.com/office/drawing/2014/main" id="{3A124498-ABE9-548A-FDDE-AC37D34C9BD7}"/>
              </a:ext>
            </a:extLst>
          </p:cNvPr>
          <p:cNvSpPr>
            <a:spLocks noGrp="1"/>
          </p:cNvSpPr>
          <p:nvPr/>
        </p:nvSpPr>
        <p:spPr>
          <a:xfrm>
            <a:off x="11768205" y="6052667"/>
            <a:ext cx="847590" cy="165515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1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i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α</a:t>
            </a:r>
          </a:p>
        </p:txBody>
      </p:sp>
      <p:sp>
        <p:nvSpPr>
          <p:cNvPr id="398" name="β">
            <a:extLst>
              <a:ext uri="{FF2B5EF4-FFF2-40B4-BE49-F238E27FC236}">
                <a16:creationId xmlns:a16="http://schemas.microsoft.com/office/drawing/2014/main" id="{3139C0EF-4F55-7290-7CC1-7F0D6030F459}"/>
              </a:ext>
            </a:extLst>
          </p:cNvPr>
          <p:cNvSpPr>
            <a:spLocks noGrp="1"/>
          </p:cNvSpPr>
          <p:nvPr/>
        </p:nvSpPr>
        <p:spPr>
          <a:xfrm>
            <a:off x="11786964" y="9868340"/>
            <a:ext cx="810072" cy="165515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1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i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β</a:t>
            </a:r>
          </a:p>
        </p:txBody>
      </p:sp>
      <p:sp>
        <p:nvSpPr>
          <p:cNvPr id="399" name="Modus Ponens">
            <a:extLst>
              <a:ext uri="{FF2B5EF4-FFF2-40B4-BE49-F238E27FC236}">
                <a16:creationId xmlns:a16="http://schemas.microsoft.com/office/drawing/2014/main" id="{BCD3CD28-E2D6-17C4-F979-2C5B7BDE7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Modus Ponens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8FF2BD65-ECDC-6C83-4267-B85AD3BE3AF4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088275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">
            <a:extLst>
              <a:ext uri="{FF2B5EF4-FFF2-40B4-BE49-F238E27FC236}">
                <a16:creationId xmlns:a16="http://schemas.microsoft.com/office/drawing/2014/main" id="{96E8691C-6FF2-A1D2-7912-7C702155A985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683951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87154-A7EC-EAA3-34AF-1651EFC00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">
            <a:extLst>
              <a:ext uri="{FF2B5EF4-FFF2-40B4-BE49-F238E27FC236}">
                <a16:creationId xmlns:a16="http://schemas.microsoft.com/office/drawing/2014/main" id="{77C7C81C-D4C4-2479-E69C-222D852D977B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Harry is friends with Ron and Hermione.">
            <a:extLst>
              <a:ext uri="{FF2B5EF4-FFF2-40B4-BE49-F238E27FC236}">
                <a16:creationId xmlns:a16="http://schemas.microsoft.com/office/drawing/2014/main" id="{81674851-5256-ACCF-98AF-815895A4E847}"/>
              </a:ext>
            </a:extLst>
          </p:cNvPr>
          <p:cNvSpPr>
            <a:spLocks noGrp="1"/>
          </p:cNvSpPr>
          <p:nvPr/>
        </p:nvSpPr>
        <p:spPr>
          <a:xfrm>
            <a:off x="4185802" y="4913528"/>
            <a:ext cx="16012397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Harry </a:t>
            </a:r>
            <a:r>
              <a:rPr dirty="0" err="1"/>
              <a:t>é</a:t>
            </a:r>
            <a:r>
              <a:rPr dirty="0"/>
              <a:t> amigo de Ron e Hermione.</a:t>
            </a:r>
          </a:p>
        </p:txBody>
      </p:sp>
    </p:spTree>
    <p:extLst>
      <p:ext uri="{BB962C8B-B14F-4D97-AF65-F5344CB8AC3E}">
        <p14:creationId xmlns:p14="http://schemas.microsoft.com/office/powerpoint/2010/main" val="247482726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6C6DD-BF97-972C-E599-8FB3C4B47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">
            <a:extLst>
              <a:ext uri="{FF2B5EF4-FFF2-40B4-BE49-F238E27FC236}">
                <a16:creationId xmlns:a16="http://schemas.microsoft.com/office/drawing/2014/main" id="{D9E12E3A-B245-DA45-1832-F40FBEDD524F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Harry is friends with Ron and Hermione.">
            <a:extLst>
              <a:ext uri="{FF2B5EF4-FFF2-40B4-BE49-F238E27FC236}">
                <a16:creationId xmlns:a16="http://schemas.microsoft.com/office/drawing/2014/main" id="{FD622352-A394-E12F-063C-213D00496792}"/>
              </a:ext>
            </a:extLst>
          </p:cNvPr>
          <p:cNvSpPr>
            <a:spLocks noGrp="1"/>
          </p:cNvSpPr>
          <p:nvPr/>
        </p:nvSpPr>
        <p:spPr>
          <a:xfrm>
            <a:off x="4185802" y="4913528"/>
            <a:ext cx="16012397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Harry </a:t>
            </a:r>
            <a:r>
              <a:rPr dirty="0" err="1"/>
              <a:t>é</a:t>
            </a:r>
            <a:r>
              <a:rPr dirty="0"/>
              <a:t> amigo de Ron e Hermione.</a:t>
            </a:r>
          </a:p>
        </p:txBody>
      </p:sp>
      <p:sp>
        <p:nvSpPr>
          <p:cNvPr id="3" name="Harry is friends with Hermione.">
            <a:extLst>
              <a:ext uri="{FF2B5EF4-FFF2-40B4-BE49-F238E27FC236}">
                <a16:creationId xmlns:a16="http://schemas.microsoft.com/office/drawing/2014/main" id="{5F7A8A9A-98AA-B9F4-9DB5-EA774672C4F7}"/>
              </a:ext>
            </a:extLst>
          </p:cNvPr>
          <p:cNvSpPr>
            <a:spLocks noGrp="1"/>
          </p:cNvSpPr>
          <p:nvPr/>
        </p:nvSpPr>
        <p:spPr>
          <a:xfrm>
            <a:off x="5190281" y="9654527"/>
            <a:ext cx="14003438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Harry é amigo de Hermione.</a:t>
            </a:r>
          </a:p>
        </p:txBody>
      </p:sp>
    </p:spTree>
    <p:extLst>
      <p:ext uri="{BB962C8B-B14F-4D97-AF65-F5344CB8AC3E}">
        <p14:creationId xmlns:p14="http://schemas.microsoft.com/office/powerpoint/2010/main" val="196351526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DD990-148E-0B46-C405-6BDA5E14B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">
            <a:extLst>
              <a:ext uri="{FF2B5EF4-FFF2-40B4-BE49-F238E27FC236}">
                <a16:creationId xmlns:a16="http://schemas.microsoft.com/office/drawing/2014/main" id="{AA9A5726-8E07-0ADB-48CD-1C75BAA90C71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Harry is friends with Ron and Hermione.">
            <a:extLst>
              <a:ext uri="{FF2B5EF4-FFF2-40B4-BE49-F238E27FC236}">
                <a16:creationId xmlns:a16="http://schemas.microsoft.com/office/drawing/2014/main" id="{E91F586F-8A1A-AA5C-8D23-2AF94D721A86}"/>
              </a:ext>
            </a:extLst>
          </p:cNvPr>
          <p:cNvSpPr>
            <a:spLocks noGrp="1"/>
          </p:cNvSpPr>
          <p:nvPr/>
        </p:nvSpPr>
        <p:spPr>
          <a:xfrm>
            <a:off x="4185802" y="4913528"/>
            <a:ext cx="16012397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Harry </a:t>
            </a:r>
            <a:r>
              <a:rPr dirty="0" err="1"/>
              <a:t>é</a:t>
            </a:r>
            <a:r>
              <a:rPr dirty="0"/>
              <a:t> amigo de Ron e Hermione.</a:t>
            </a:r>
          </a:p>
        </p:txBody>
      </p:sp>
      <p:sp>
        <p:nvSpPr>
          <p:cNvPr id="3" name="Harry is friends with Hermione.">
            <a:extLst>
              <a:ext uri="{FF2B5EF4-FFF2-40B4-BE49-F238E27FC236}">
                <a16:creationId xmlns:a16="http://schemas.microsoft.com/office/drawing/2014/main" id="{2C936413-E025-53F0-B643-7EB4EF0ECD29}"/>
              </a:ext>
            </a:extLst>
          </p:cNvPr>
          <p:cNvSpPr>
            <a:spLocks noGrp="1"/>
          </p:cNvSpPr>
          <p:nvPr/>
        </p:nvSpPr>
        <p:spPr>
          <a:xfrm>
            <a:off x="5190281" y="9654527"/>
            <a:ext cx="14003438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Harry é amigo de Hermione.</a:t>
            </a:r>
          </a:p>
        </p:txBody>
      </p:sp>
      <p:sp>
        <p:nvSpPr>
          <p:cNvPr id="5" name="And Elimination">
            <a:extLst>
              <a:ext uri="{FF2B5EF4-FFF2-40B4-BE49-F238E27FC236}">
                <a16:creationId xmlns:a16="http://schemas.microsoft.com/office/drawing/2014/main" id="{99F9D2D9-4790-D8A1-6E4B-9B7592FB2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Eliminação da Conjunção</a:t>
            </a:r>
          </a:p>
        </p:txBody>
      </p:sp>
    </p:spTree>
    <p:extLst>
      <p:ext uri="{BB962C8B-B14F-4D97-AF65-F5344CB8AC3E}">
        <p14:creationId xmlns:p14="http://schemas.microsoft.com/office/powerpoint/2010/main" val="419732294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5AC8E12D-CF31-7F82-2599-1DF471993CFF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" name="And Elimination">
            <a:extLst>
              <a:ext uri="{FF2B5EF4-FFF2-40B4-BE49-F238E27FC236}">
                <a16:creationId xmlns:a16="http://schemas.microsoft.com/office/drawing/2014/main" id="{A95FAB15-433F-6612-ABA6-AD44F6741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Eliminação da Conjunção</a:t>
            </a:r>
          </a:p>
        </p:txBody>
      </p:sp>
    </p:spTree>
    <p:extLst>
      <p:ext uri="{BB962C8B-B14F-4D97-AF65-F5344CB8AC3E}">
        <p14:creationId xmlns:p14="http://schemas.microsoft.com/office/powerpoint/2010/main" val="23014119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D70D0-91F7-9B7C-D8A3-9D8030941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6898EC93-4AFA-FED1-21DD-A2E284B9F6D1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And Elimination">
            <a:extLst>
              <a:ext uri="{FF2B5EF4-FFF2-40B4-BE49-F238E27FC236}">
                <a16:creationId xmlns:a16="http://schemas.microsoft.com/office/drawing/2014/main" id="{726248DE-974A-0998-7B9C-7939912C5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Eliminação da Conjunção</a:t>
            </a:r>
          </a:p>
        </p:txBody>
      </p:sp>
      <p:sp>
        <p:nvSpPr>
          <p:cNvPr id="4" name="α ∧ β">
            <a:extLst>
              <a:ext uri="{FF2B5EF4-FFF2-40B4-BE49-F238E27FC236}">
                <a16:creationId xmlns:a16="http://schemas.microsoft.com/office/drawing/2014/main" id="{E9ECFD04-EAAD-FAEF-0772-216075BC967C}"/>
              </a:ext>
            </a:extLst>
          </p:cNvPr>
          <p:cNvSpPr>
            <a:spLocks noGrp="1"/>
          </p:cNvSpPr>
          <p:nvPr/>
        </p:nvSpPr>
        <p:spPr>
          <a:xfrm>
            <a:off x="10656335" y="4911014"/>
            <a:ext cx="3071330" cy="17022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α </a:t>
            </a:r>
            <a:r>
              <a:rPr>
                <a:latin typeface="Times New Roman"/>
                <a:ea typeface="Times New Roman"/>
                <a:cs typeface="Times New Roman"/>
              </a:rPr>
              <a:t>∧ </a:t>
            </a:r>
            <a:r>
              <a:rPr i="1">
                <a:latin typeface="Times New Roman"/>
                <a:ea typeface="Times New Roman"/>
                <a:cs typeface="Times New Roman"/>
              </a:rPr>
              <a:t>β</a:t>
            </a:r>
          </a:p>
        </p:txBody>
      </p:sp>
    </p:spTree>
    <p:extLst>
      <p:ext uri="{BB962C8B-B14F-4D97-AF65-F5344CB8AC3E}">
        <p14:creationId xmlns:p14="http://schemas.microsoft.com/office/powerpoint/2010/main" val="357662624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9E8DB-F412-0ED7-D840-4B39C26F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168B815A-56CF-468A-83C1-3FA2DB6D1BF1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And Elimination">
            <a:extLst>
              <a:ext uri="{FF2B5EF4-FFF2-40B4-BE49-F238E27FC236}">
                <a16:creationId xmlns:a16="http://schemas.microsoft.com/office/drawing/2014/main" id="{B1EA723A-EF4B-C08B-CB4C-150EAEA98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Eliminação da Conjunção</a:t>
            </a:r>
          </a:p>
        </p:txBody>
      </p:sp>
      <p:sp>
        <p:nvSpPr>
          <p:cNvPr id="4" name="α ∧ β">
            <a:extLst>
              <a:ext uri="{FF2B5EF4-FFF2-40B4-BE49-F238E27FC236}">
                <a16:creationId xmlns:a16="http://schemas.microsoft.com/office/drawing/2014/main" id="{35BA2F20-EB6B-01CB-B7B2-39D9C982BA17}"/>
              </a:ext>
            </a:extLst>
          </p:cNvPr>
          <p:cNvSpPr>
            <a:spLocks noGrp="1"/>
          </p:cNvSpPr>
          <p:nvPr/>
        </p:nvSpPr>
        <p:spPr>
          <a:xfrm>
            <a:off x="10656335" y="4911014"/>
            <a:ext cx="3071330" cy="17022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 dirty="0">
                <a:latin typeface="Times New Roman"/>
                <a:ea typeface="Times New Roman"/>
                <a:cs typeface="Times New Roman"/>
              </a:rPr>
              <a:t>α </a:t>
            </a:r>
            <a:r>
              <a:rPr dirty="0">
                <a:latin typeface="Times New Roman"/>
                <a:ea typeface="Times New Roman"/>
                <a:cs typeface="Times New Roman"/>
              </a:rPr>
              <a:t>∧ </a:t>
            </a:r>
            <a:r>
              <a:rPr i="1" dirty="0">
                <a:latin typeface="Times New Roman"/>
                <a:ea typeface="Times New Roman"/>
                <a:cs typeface="Times New Roman"/>
              </a:rPr>
              <a:t>β</a:t>
            </a:r>
          </a:p>
        </p:txBody>
      </p:sp>
      <p:sp>
        <p:nvSpPr>
          <p:cNvPr id="5" name="α">
            <a:extLst>
              <a:ext uri="{FF2B5EF4-FFF2-40B4-BE49-F238E27FC236}">
                <a16:creationId xmlns:a16="http://schemas.microsoft.com/office/drawing/2014/main" id="{AF488888-0FC8-151D-DF8C-A4E561AC3207}"/>
              </a:ext>
            </a:extLst>
          </p:cNvPr>
          <p:cNvSpPr>
            <a:spLocks noGrp="1"/>
          </p:cNvSpPr>
          <p:nvPr/>
        </p:nvSpPr>
        <p:spPr>
          <a:xfrm>
            <a:off x="11768205" y="9247961"/>
            <a:ext cx="847590" cy="165515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1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i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α</a:t>
            </a:r>
          </a:p>
        </p:txBody>
      </p:sp>
    </p:spTree>
    <p:extLst>
      <p:ext uri="{BB962C8B-B14F-4D97-AF65-F5344CB8AC3E}">
        <p14:creationId xmlns:p14="http://schemas.microsoft.com/office/powerpoint/2010/main" val="373724663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B5D6C-2D1D-A610-6006-3926087F4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5A4830DD-8268-2E6C-5F8F-F60F6D1F8B8E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And Elimination">
            <a:extLst>
              <a:ext uri="{FF2B5EF4-FFF2-40B4-BE49-F238E27FC236}">
                <a16:creationId xmlns:a16="http://schemas.microsoft.com/office/drawing/2014/main" id="{993DF382-DC47-2AA8-F5F7-4908B256B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Eliminação da Conjunção</a:t>
            </a:r>
          </a:p>
        </p:txBody>
      </p:sp>
      <p:sp>
        <p:nvSpPr>
          <p:cNvPr id="4" name="α ∧ β">
            <a:extLst>
              <a:ext uri="{FF2B5EF4-FFF2-40B4-BE49-F238E27FC236}">
                <a16:creationId xmlns:a16="http://schemas.microsoft.com/office/drawing/2014/main" id="{A5B1A90B-D7D9-DBBD-F509-9E408B8B682C}"/>
              </a:ext>
            </a:extLst>
          </p:cNvPr>
          <p:cNvSpPr>
            <a:spLocks noGrp="1"/>
          </p:cNvSpPr>
          <p:nvPr/>
        </p:nvSpPr>
        <p:spPr>
          <a:xfrm>
            <a:off x="10656335" y="4911014"/>
            <a:ext cx="3071330" cy="17022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 dirty="0">
                <a:latin typeface="Times New Roman"/>
                <a:ea typeface="Times New Roman"/>
                <a:cs typeface="Times New Roman"/>
              </a:rPr>
              <a:t>α </a:t>
            </a:r>
            <a:r>
              <a:rPr dirty="0">
                <a:latin typeface="Times New Roman"/>
                <a:ea typeface="Times New Roman"/>
                <a:cs typeface="Times New Roman"/>
              </a:rPr>
              <a:t>∧ </a:t>
            </a:r>
            <a:r>
              <a:rPr i="1" dirty="0">
                <a:latin typeface="Times New Roman"/>
                <a:ea typeface="Times New Roman"/>
                <a:cs typeface="Times New Roman"/>
              </a:rPr>
              <a:t>β</a:t>
            </a:r>
          </a:p>
        </p:txBody>
      </p:sp>
      <p:sp>
        <p:nvSpPr>
          <p:cNvPr id="6" name="α ∧ β">
            <a:extLst>
              <a:ext uri="{FF2B5EF4-FFF2-40B4-BE49-F238E27FC236}">
                <a16:creationId xmlns:a16="http://schemas.microsoft.com/office/drawing/2014/main" id="{45F7E3EE-C663-3F6D-3E9F-FB61A8E2AAC2}"/>
              </a:ext>
            </a:extLst>
          </p:cNvPr>
          <p:cNvSpPr>
            <a:spLocks noGrp="1"/>
          </p:cNvSpPr>
          <p:nvPr/>
        </p:nvSpPr>
        <p:spPr>
          <a:xfrm>
            <a:off x="11768205" y="9177858"/>
            <a:ext cx="804707" cy="179536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 dirty="0">
                <a:latin typeface="Times New Roman"/>
                <a:ea typeface="Times New Roman"/>
                <a:cs typeface="Times New Roman"/>
              </a:rPr>
              <a:t>β</a:t>
            </a:r>
          </a:p>
        </p:txBody>
      </p:sp>
    </p:spTree>
    <p:extLst>
      <p:ext uri="{BB962C8B-B14F-4D97-AF65-F5344CB8AC3E}">
        <p14:creationId xmlns:p14="http://schemas.microsoft.com/office/powerpoint/2010/main" val="152640184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">
            <a:extLst>
              <a:ext uri="{FF2B5EF4-FFF2-40B4-BE49-F238E27FC236}">
                <a16:creationId xmlns:a16="http://schemas.microsoft.com/office/drawing/2014/main" id="{61868732-F6DC-E32A-3364-DB1AF5181C57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682044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54609-D584-0166-53D3-939EBA928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">
            <a:extLst>
              <a:ext uri="{FF2B5EF4-FFF2-40B4-BE49-F238E27FC236}">
                <a16:creationId xmlns:a16="http://schemas.microsoft.com/office/drawing/2014/main" id="{F55D90BE-628A-54A0-3145-D7AED830627D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It is not true that Harry did not pass the test.">
            <a:extLst>
              <a:ext uri="{FF2B5EF4-FFF2-40B4-BE49-F238E27FC236}">
                <a16:creationId xmlns:a16="http://schemas.microsoft.com/office/drawing/2014/main" id="{846E8811-8354-015B-27A6-288152F300E3}"/>
              </a:ext>
            </a:extLst>
          </p:cNvPr>
          <p:cNvSpPr>
            <a:spLocks noGrp="1"/>
          </p:cNvSpPr>
          <p:nvPr/>
        </p:nvSpPr>
        <p:spPr>
          <a:xfrm>
            <a:off x="1302801" y="4913528"/>
            <a:ext cx="21778399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Não é verdade que Harry não passou na prova.</a:t>
            </a:r>
          </a:p>
        </p:txBody>
      </p:sp>
    </p:spTree>
    <p:extLst>
      <p:ext uri="{BB962C8B-B14F-4D97-AF65-F5344CB8AC3E}">
        <p14:creationId xmlns:p14="http://schemas.microsoft.com/office/powerpoint/2010/main" val="320542851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2DE65-449A-126A-AE09-EDDA2050E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">
            <a:extLst>
              <a:ext uri="{FF2B5EF4-FFF2-40B4-BE49-F238E27FC236}">
                <a16:creationId xmlns:a16="http://schemas.microsoft.com/office/drawing/2014/main" id="{B8838EE6-3D7E-7953-F71E-CC80226F04FE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It is not true that Harry did not pass the test.">
            <a:extLst>
              <a:ext uri="{FF2B5EF4-FFF2-40B4-BE49-F238E27FC236}">
                <a16:creationId xmlns:a16="http://schemas.microsoft.com/office/drawing/2014/main" id="{174AC7F2-3685-9415-53F9-3C71140981C3}"/>
              </a:ext>
            </a:extLst>
          </p:cNvPr>
          <p:cNvSpPr>
            <a:spLocks noGrp="1"/>
          </p:cNvSpPr>
          <p:nvPr/>
        </p:nvSpPr>
        <p:spPr>
          <a:xfrm>
            <a:off x="1302801" y="4913528"/>
            <a:ext cx="21778399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Não é verdade que Harry não passou na prova.</a:t>
            </a:r>
          </a:p>
        </p:txBody>
      </p:sp>
      <p:sp>
        <p:nvSpPr>
          <p:cNvPr id="3" name="Harry passed the test.">
            <a:extLst>
              <a:ext uri="{FF2B5EF4-FFF2-40B4-BE49-F238E27FC236}">
                <a16:creationId xmlns:a16="http://schemas.microsoft.com/office/drawing/2014/main" id="{757DA7C8-46A5-66DB-8F02-9D7F894EE63D}"/>
              </a:ext>
            </a:extLst>
          </p:cNvPr>
          <p:cNvSpPr>
            <a:spLocks noGrp="1"/>
          </p:cNvSpPr>
          <p:nvPr/>
        </p:nvSpPr>
        <p:spPr>
          <a:xfrm>
            <a:off x="7165479" y="9654527"/>
            <a:ext cx="10053043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Harry passou na prova.</a:t>
            </a:r>
          </a:p>
        </p:txBody>
      </p:sp>
    </p:spTree>
    <p:extLst>
      <p:ext uri="{BB962C8B-B14F-4D97-AF65-F5344CB8AC3E}">
        <p14:creationId xmlns:p14="http://schemas.microsoft.com/office/powerpoint/2010/main" val="25744627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0A05A-AC26-6938-C08A-FB150E7D3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">
            <a:extLst>
              <a:ext uri="{FF2B5EF4-FFF2-40B4-BE49-F238E27FC236}">
                <a16:creationId xmlns:a16="http://schemas.microsoft.com/office/drawing/2014/main" id="{0219831B-64C6-C38C-B042-7F4A9CB78EDA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It is not true that Harry did not pass the test.">
            <a:extLst>
              <a:ext uri="{FF2B5EF4-FFF2-40B4-BE49-F238E27FC236}">
                <a16:creationId xmlns:a16="http://schemas.microsoft.com/office/drawing/2014/main" id="{056328BA-4EC0-D410-EFF8-E30FA1D42AD6}"/>
              </a:ext>
            </a:extLst>
          </p:cNvPr>
          <p:cNvSpPr>
            <a:spLocks noGrp="1"/>
          </p:cNvSpPr>
          <p:nvPr/>
        </p:nvSpPr>
        <p:spPr>
          <a:xfrm>
            <a:off x="1302801" y="4913528"/>
            <a:ext cx="21778399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Não é verdade que Harry não passou na prova.</a:t>
            </a:r>
          </a:p>
        </p:txBody>
      </p:sp>
      <p:sp>
        <p:nvSpPr>
          <p:cNvPr id="3" name="Harry passed the test.">
            <a:extLst>
              <a:ext uri="{FF2B5EF4-FFF2-40B4-BE49-F238E27FC236}">
                <a16:creationId xmlns:a16="http://schemas.microsoft.com/office/drawing/2014/main" id="{C8260F0A-1712-910F-FD68-9AB00F568369}"/>
              </a:ext>
            </a:extLst>
          </p:cNvPr>
          <p:cNvSpPr>
            <a:spLocks noGrp="1"/>
          </p:cNvSpPr>
          <p:nvPr/>
        </p:nvSpPr>
        <p:spPr>
          <a:xfrm>
            <a:off x="7165479" y="9654527"/>
            <a:ext cx="10053043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Harry passou na prova.</a:t>
            </a:r>
          </a:p>
        </p:txBody>
      </p:sp>
      <p:sp>
        <p:nvSpPr>
          <p:cNvPr id="5" name="Double Negation Elimination">
            <a:extLst>
              <a:ext uri="{FF2B5EF4-FFF2-40B4-BE49-F238E27FC236}">
                <a16:creationId xmlns:a16="http://schemas.microsoft.com/office/drawing/2014/main" id="{2F25C692-C574-069E-38DD-F1A624DC1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Eliminação da Dupla Negação</a:t>
            </a:r>
          </a:p>
        </p:txBody>
      </p:sp>
    </p:spTree>
    <p:extLst>
      <p:ext uri="{BB962C8B-B14F-4D97-AF65-F5344CB8AC3E}">
        <p14:creationId xmlns:p14="http://schemas.microsoft.com/office/powerpoint/2010/main" val="317583049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51929-9343-AE8F-A521-4FE024826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">
            <a:extLst>
              <a:ext uri="{FF2B5EF4-FFF2-40B4-BE49-F238E27FC236}">
                <a16:creationId xmlns:a16="http://schemas.microsoft.com/office/drawing/2014/main" id="{9E5BFAF1-E6A5-9638-ACA6-360F47BFAE53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" name="Double Negation Elimination">
            <a:extLst>
              <a:ext uri="{FF2B5EF4-FFF2-40B4-BE49-F238E27FC236}">
                <a16:creationId xmlns:a16="http://schemas.microsoft.com/office/drawing/2014/main" id="{90D89170-9E9E-1A52-D5C4-74ED125AC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rPr dirty="0" err="1"/>
              <a:t>Eliminação</a:t>
            </a:r>
            <a:r>
              <a:rPr dirty="0"/>
              <a:t> da </a:t>
            </a:r>
            <a:r>
              <a:rPr dirty="0" err="1"/>
              <a:t>Dupla</a:t>
            </a:r>
            <a:r>
              <a:rPr dirty="0"/>
              <a:t> </a:t>
            </a:r>
            <a:r>
              <a:rPr dirty="0" err="1"/>
              <a:t>Negação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586303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08E02-FC41-0C02-20A1-012779069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">
            <a:extLst>
              <a:ext uri="{FF2B5EF4-FFF2-40B4-BE49-F238E27FC236}">
                <a16:creationId xmlns:a16="http://schemas.microsoft.com/office/drawing/2014/main" id="{FBAB8830-8C7A-ADF6-32F4-82EB7D623051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" name="Double Negation Elimination">
            <a:extLst>
              <a:ext uri="{FF2B5EF4-FFF2-40B4-BE49-F238E27FC236}">
                <a16:creationId xmlns:a16="http://schemas.microsoft.com/office/drawing/2014/main" id="{7BA17121-F87E-C020-83CC-0BFFFDEBC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rPr dirty="0" err="1"/>
              <a:t>Eliminação</a:t>
            </a:r>
            <a:r>
              <a:rPr dirty="0"/>
              <a:t> da </a:t>
            </a:r>
            <a:r>
              <a:rPr dirty="0" err="1"/>
              <a:t>Dupla</a:t>
            </a:r>
            <a:r>
              <a:rPr dirty="0"/>
              <a:t> </a:t>
            </a:r>
            <a:r>
              <a:rPr dirty="0" err="1"/>
              <a:t>Negação</a:t>
            </a:r>
            <a:endParaRPr dirty="0"/>
          </a:p>
        </p:txBody>
      </p:sp>
      <p:sp>
        <p:nvSpPr>
          <p:cNvPr id="2" name="¬(¬α)">
            <a:extLst>
              <a:ext uri="{FF2B5EF4-FFF2-40B4-BE49-F238E27FC236}">
                <a16:creationId xmlns:a16="http://schemas.microsoft.com/office/drawing/2014/main" id="{8F492499-1181-890D-54C9-BBC9AB8723B0}"/>
              </a:ext>
            </a:extLst>
          </p:cNvPr>
          <p:cNvSpPr>
            <a:spLocks noGrp="1"/>
          </p:cNvSpPr>
          <p:nvPr/>
        </p:nvSpPr>
        <p:spPr>
          <a:xfrm>
            <a:off x="10515134" y="4934547"/>
            <a:ext cx="3353732" cy="165515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¬(¬</a:t>
            </a:r>
            <a:r>
              <a:rPr i="1">
                <a:latin typeface="Times New Roman"/>
                <a:ea typeface="Times New Roman"/>
                <a:cs typeface="Times New Roman"/>
              </a:rPr>
              <a:t>α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7115482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5E659-A17D-F8A0-E2C1-7DE08C540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">
            <a:extLst>
              <a:ext uri="{FF2B5EF4-FFF2-40B4-BE49-F238E27FC236}">
                <a16:creationId xmlns:a16="http://schemas.microsoft.com/office/drawing/2014/main" id="{1743A77F-219F-B4DC-52AB-D3DE7B923D71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" name="Double Negation Elimination">
            <a:extLst>
              <a:ext uri="{FF2B5EF4-FFF2-40B4-BE49-F238E27FC236}">
                <a16:creationId xmlns:a16="http://schemas.microsoft.com/office/drawing/2014/main" id="{7E9866DD-3A51-C3FD-15BE-86843CA65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rPr dirty="0" err="1"/>
              <a:t>Eliminação</a:t>
            </a:r>
            <a:r>
              <a:rPr dirty="0"/>
              <a:t> da </a:t>
            </a:r>
            <a:r>
              <a:rPr dirty="0" err="1"/>
              <a:t>Dupla</a:t>
            </a:r>
            <a:r>
              <a:rPr dirty="0"/>
              <a:t> </a:t>
            </a:r>
            <a:r>
              <a:rPr dirty="0" err="1"/>
              <a:t>Negação</a:t>
            </a:r>
            <a:endParaRPr dirty="0"/>
          </a:p>
        </p:txBody>
      </p:sp>
      <p:sp>
        <p:nvSpPr>
          <p:cNvPr id="2" name="¬(¬α)">
            <a:extLst>
              <a:ext uri="{FF2B5EF4-FFF2-40B4-BE49-F238E27FC236}">
                <a16:creationId xmlns:a16="http://schemas.microsoft.com/office/drawing/2014/main" id="{1E45C244-EAC6-866E-167A-68E3C680DEB2}"/>
              </a:ext>
            </a:extLst>
          </p:cNvPr>
          <p:cNvSpPr>
            <a:spLocks noGrp="1"/>
          </p:cNvSpPr>
          <p:nvPr/>
        </p:nvSpPr>
        <p:spPr>
          <a:xfrm>
            <a:off x="10515134" y="4934547"/>
            <a:ext cx="3353732" cy="165515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¬(¬</a:t>
            </a:r>
            <a:r>
              <a:rPr i="1">
                <a:latin typeface="Times New Roman"/>
                <a:ea typeface="Times New Roman"/>
                <a:cs typeface="Times New Roman"/>
              </a:rPr>
              <a:t>α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3" name="α">
            <a:extLst>
              <a:ext uri="{FF2B5EF4-FFF2-40B4-BE49-F238E27FC236}">
                <a16:creationId xmlns:a16="http://schemas.microsoft.com/office/drawing/2014/main" id="{0A054AE2-0260-312A-AB41-5AEDB576943F}"/>
              </a:ext>
            </a:extLst>
          </p:cNvPr>
          <p:cNvSpPr>
            <a:spLocks noGrp="1"/>
          </p:cNvSpPr>
          <p:nvPr/>
        </p:nvSpPr>
        <p:spPr>
          <a:xfrm>
            <a:off x="11768205" y="9247961"/>
            <a:ext cx="847590" cy="165515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1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i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α</a:t>
            </a:r>
          </a:p>
        </p:txBody>
      </p:sp>
    </p:spTree>
    <p:extLst>
      <p:ext uri="{BB962C8B-B14F-4D97-AF65-F5344CB8AC3E}">
        <p14:creationId xmlns:p14="http://schemas.microsoft.com/office/powerpoint/2010/main" val="201832583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54EF4CC3-4BB9-D0D7-73B9-0D4900CB0A84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890717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51809-C942-F779-F872-5EC86A7B0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56B20D0D-006F-639F-7DBF-4EE6EA91A8E3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If it is raining, then Harry is inside.">
            <a:extLst>
              <a:ext uri="{FF2B5EF4-FFF2-40B4-BE49-F238E27FC236}">
                <a16:creationId xmlns:a16="http://schemas.microsoft.com/office/drawing/2014/main" id="{6E9F01F6-D904-16E4-9828-A43ABDEEB161}"/>
              </a:ext>
            </a:extLst>
          </p:cNvPr>
          <p:cNvSpPr>
            <a:spLocks noGrp="1"/>
          </p:cNvSpPr>
          <p:nvPr/>
        </p:nvSpPr>
        <p:spPr>
          <a:xfrm>
            <a:off x="1189790" y="4913528"/>
            <a:ext cx="22004422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Se </a:t>
            </a:r>
            <a:r>
              <a:rPr dirty="0" err="1"/>
              <a:t>estiver</a:t>
            </a:r>
            <a:r>
              <a:rPr dirty="0"/>
              <a:t> </a:t>
            </a:r>
            <a:r>
              <a:rPr dirty="0" err="1"/>
              <a:t>chovendo</a:t>
            </a:r>
            <a:r>
              <a:rPr dirty="0"/>
              <a:t>, </a:t>
            </a:r>
            <a:r>
              <a:rPr dirty="0" err="1"/>
              <a:t>então</a:t>
            </a:r>
            <a:r>
              <a:rPr dirty="0"/>
              <a:t> Harry </a:t>
            </a:r>
            <a:r>
              <a:rPr dirty="0" err="1"/>
              <a:t>está</a:t>
            </a:r>
            <a:r>
              <a:rPr dirty="0"/>
              <a:t> </a:t>
            </a:r>
            <a:r>
              <a:rPr lang="pt-BR" dirty="0"/>
              <a:t>em </a:t>
            </a:r>
            <a:r>
              <a:rPr dirty="0"/>
              <a:t>casa.</a:t>
            </a:r>
          </a:p>
        </p:txBody>
      </p:sp>
    </p:spTree>
    <p:extLst>
      <p:ext uri="{BB962C8B-B14F-4D97-AF65-F5344CB8AC3E}">
        <p14:creationId xmlns:p14="http://schemas.microsoft.com/office/powerpoint/2010/main" val="108995957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6996C-5709-CA85-807C-E2C88C383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B8F1DF3E-3D50-D28A-2B1E-E97D6B655E7B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If it is raining, then Harry is inside.">
            <a:extLst>
              <a:ext uri="{FF2B5EF4-FFF2-40B4-BE49-F238E27FC236}">
                <a16:creationId xmlns:a16="http://schemas.microsoft.com/office/drawing/2014/main" id="{B7C42779-371F-5481-9C08-42E3725F73EF}"/>
              </a:ext>
            </a:extLst>
          </p:cNvPr>
          <p:cNvSpPr>
            <a:spLocks noGrp="1"/>
          </p:cNvSpPr>
          <p:nvPr/>
        </p:nvSpPr>
        <p:spPr>
          <a:xfrm>
            <a:off x="1189790" y="4913528"/>
            <a:ext cx="22004422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Se </a:t>
            </a:r>
            <a:r>
              <a:rPr dirty="0" err="1"/>
              <a:t>estiver</a:t>
            </a:r>
            <a:r>
              <a:rPr dirty="0"/>
              <a:t> </a:t>
            </a:r>
            <a:r>
              <a:rPr dirty="0" err="1"/>
              <a:t>chovendo</a:t>
            </a:r>
            <a:r>
              <a:rPr dirty="0"/>
              <a:t>, </a:t>
            </a:r>
            <a:r>
              <a:rPr dirty="0" err="1"/>
              <a:t>então</a:t>
            </a:r>
            <a:r>
              <a:rPr dirty="0"/>
              <a:t> Harry </a:t>
            </a:r>
            <a:r>
              <a:rPr dirty="0" err="1"/>
              <a:t>está</a:t>
            </a:r>
            <a:r>
              <a:rPr dirty="0"/>
              <a:t> </a:t>
            </a:r>
            <a:r>
              <a:rPr lang="pt-BR" dirty="0"/>
              <a:t>em </a:t>
            </a:r>
            <a:r>
              <a:rPr dirty="0"/>
              <a:t>casa.</a:t>
            </a:r>
          </a:p>
        </p:txBody>
      </p:sp>
      <p:sp>
        <p:nvSpPr>
          <p:cNvPr id="4" name="It is not raining or Harry is inside.">
            <a:extLst>
              <a:ext uri="{FF2B5EF4-FFF2-40B4-BE49-F238E27FC236}">
                <a16:creationId xmlns:a16="http://schemas.microsoft.com/office/drawing/2014/main" id="{0A544B7A-0E46-E3E0-8B4D-B29DF25EA8E1}"/>
              </a:ext>
            </a:extLst>
          </p:cNvPr>
          <p:cNvSpPr>
            <a:spLocks noGrp="1"/>
          </p:cNvSpPr>
          <p:nvPr/>
        </p:nvSpPr>
        <p:spPr>
          <a:xfrm>
            <a:off x="2273420" y="9648079"/>
            <a:ext cx="19837161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chovendo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Harry </a:t>
            </a:r>
            <a:r>
              <a:rPr dirty="0" err="1"/>
              <a:t>está</a:t>
            </a:r>
            <a:r>
              <a:rPr dirty="0"/>
              <a:t> </a:t>
            </a:r>
            <a:r>
              <a:rPr lang="pt-BR" dirty="0"/>
              <a:t>em</a:t>
            </a:r>
            <a:r>
              <a:rPr dirty="0"/>
              <a:t> casa.</a:t>
            </a:r>
          </a:p>
        </p:txBody>
      </p:sp>
    </p:spTree>
    <p:extLst>
      <p:ext uri="{BB962C8B-B14F-4D97-AF65-F5344CB8AC3E}">
        <p14:creationId xmlns:p14="http://schemas.microsoft.com/office/powerpoint/2010/main" val="418310981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D03FD-5C06-0AD9-17A6-7935C2770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AA5E7664-9F4C-526E-A1C9-B16A2A05625A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If it is raining, then Harry is inside.">
            <a:extLst>
              <a:ext uri="{FF2B5EF4-FFF2-40B4-BE49-F238E27FC236}">
                <a16:creationId xmlns:a16="http://schemas.microsoft.com/office/drawing/2014/main" id="{3C18C08F-8623-334D-4025-5E783457F940}"/>
              </a:ext>
            </a:extLst>
          </p:cNvPr>
          <p:cNvSpPr>
            <a:spLocks noGrp="1"/>
          </p:cNvSpPr>
          <p:nvPr/>
        </p:nvSpPr>
        <p:spPr>
          <a:xfrm>
            <a:off x="1189790" y="4913528"/>
            <a:ext cx="22004422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Se </a:t>
            </a:r>
            <a:r>
              <a:rPr dirty="0" err="1"/>
              <a:t>estiver</a:t>
            </a:r>
            <a:r>
              <a:rPr dirty="0"/>
              <a:t> </a:t>
            </a:r>
            <a:r>
              <a:rPr dirty="0" err="1"/>
              <a:t>chovendo</a:t>
            </a:r>
            <a:r>
              <a:rPr dirty="0"/>
              <a:t>, </a:t>
            </a:r>
            <a:r>
              <a:rPr dirty="0" err="1"/>
              <a:t>então</a:t>
            </a:r>
            <a:r>
              <a:rPr dirty="0"/>
              <a:t> Harry </a:t>
            </a:r>
            <a:r>
              <a:rPr dirty="0" err="1"/>
              <a:t>está</a:t>
            </a:r>
            <a:r>
              <a:rPr dirty="0"/>
              <a:t> </a:t>
            </a:r>
            <a:r>
              <a:rPr lang="pt-BR" dirty="0"/>
              <a:t>em </a:t>
            </a:r>
            <a:r>
              <a:rPr dirty="0"/>
              <a:t>casa.</a:t>
            </a:r>
          </a:p>
        </p:txBody>
      </p:sp>
      <p:sp>
        <p:nvSpPr>
          <p:cNvPr id="4" name="It is not raining or Harry is inside.">
            <a:extLst>
              <a:ext uri="{FF2B5EF4-FFF2-40B4-BE49-F238E27FC236}">
                <a16:creationId xmlns:a16="http://schemas.microsoft.com/office/drawing/2014/main" id="{62C19A9C-3CF1-F324-C6F8-042C3EF5D9C1}"/>
              </a:ext>
            </a:extLst>
          </p:cNvPr>
          <p:cNvSpPr>
            <a:spLocks noGrp="1"/>
          </p:cNvSpPr>
          <p:nvPr/>
        </p:nvSpPr>
        <p:spPr>
          <a:xfrm>
            <a:off x="2273420" y="9648079"/>
            <a:ext cx="19837161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chovendo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Harry </a:t>
            </a:r>
            <a:r>
              <a:rPr dirty="0" err="1"/>
              <a:t>está</a:t>
            </a:r>
            <a:r>
              <a:rPr dirty="0"/>
              <a:t> </a:t>
            </a:r>
            <a:r>
              <a:rPr lang="pt-BR" dirty="0"/>
              <a:t>em</a:t>
            </a:r>
            <a:r>
              <a:rPr dirty="0"/>
              <a:t> casa.</a:t>
            </a:r>
          </a:p>
        </p:txBody>
      </p:sp>
      <p:sp>
        <p:nvSpPr>
          <p:cNvPr id="5" name="Implication Elimination">
            <a:extLst>
              <a:ext uri="{FF2B5EF4-FFF2-40B4-BE49-F238E27FC236}">
                <a16:creationId xmlns:a16="http://schemas.microsoft.com/office/drawing/2014/main" id="{958658AA-75FF-C1E4-15C1-C8B2AC8AE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Eliminação da Implicação</a:t>
            </a:r>
          </a:p>
        </p:txBody>
      </p:sp>
    </p:spTree>
    <p:extLst>
      <p:ext uri="{BB962C8B-B14F-4D97-AF65-F5344CB8AC3E}">
        <p14:creationId xmlns:p14="http://schemas.microsoft.com/office/powerpoint/2010/main" val="37735883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1413A-18C1-6658-60B3-6614957EF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40649856-9CE0-06C9-486E-6A23983FEA98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" name="Implication Elimination">
            <a:extLst>
              <a:ext uri="{FF2B5EF4-FFF2-40B4-BE49-F238E27FC236}">
                <a16:creationId xmlns:a16="http://schemas.microsoft.com/office/drawing/2014/main" id="{857DA03E-F1A5-82A5-8F1A-7A47AB7D9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Eliminação da Implicação</a:t>
            </a:r>
          </a:p>
        </p:txBody>
      </p:sp>
    </p:spTree>
    <p:extLst>
      <p:ext uri="{BB962C8B-B14F-4D97-AF65-F5344CB8AC3E}">
        <p14:creationId xmlns:p14="http://schemas.microsoft.com/office/powerpoint/2010/main" val="136925820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48702-F9E8-850A-09B7-DDD915CB0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8B580A88-0315-6E13-8B50-52C251E4CAF1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" name="Implication Elimination">
            <a:extLst>
              <a:ext uri="{FF2B5EF4-FFF2-40B4-BE49-F238E27FC236}">
                <a16:creationId xmlns:a16="http://schemas.microsoft.com/office/drawing/2014/main" id="{5A9D05C8-18A8-D5B9-FAFB-4E368F5BE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Eliminação da Implicação</a:t>
            </a:r>
          </a:p>
        </p:txBody>
      </p:sp>
      <p:sp>
        <p:nvSpPr>
          <p:cNvPr id="2" name="α →  β">
            <a:extLst>
              <a:ext uri="{FF2B5EF4-FFF2-40B4-BE49-F238E27FC236}">
                <a16:creationId xmlns:a16="http://schemas.microsoft.com/office/drawing/2014/main" id="{FF7EF7DA-5379-DCC8-B5C6-AF4DAAB97985}"/>
              </a:ext>
            </a:extLst>
          </p:cNvPr>
          <p:cNvSpPr>
            <a:spLocks noGrp="1"/>
          </p:cNvSpPr>
          <p:nvPr/>
        </p:nvSpPr>
        <p:spPr>
          <a:xfrm>
            <a:off x="10197944" y="4934547"/>
            <a:ext cx="3988111" cy="165515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α </a:t>
            </a:r>
            <a:r>
              <a:rPr>
                <a:latin typeface="Times New Roman"/>
                <a:ea typeface="Times New Roman"/>
                <a:cs typeface="Times New Roman"/>
              </a:rPr>
              <a:t>→ </a:t>
            </a:r>
            <a:r>
              <a:rPr i="1">
                <a:latin typeface="Times New Roman"/>
                <a:ea typeface="Times New Roman"/>
                <a:cs typeface="Times New Roman"/>
              </a:rPr>
              <a:t> β</a:t>
            </a:r>
          </a:p>
        </p:txBody>
      </p:sp>
    </p:spTree>
    <p:extLst>
      <p:ext uri="{BB962C8B-B14F-4D97-AF65-F5344CB8AC3E}">
        <p14:creationId xmlns:p14="http://schemas.microsoft.com/office/powerpoint/2010/main" val="210138000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A97B9-17CE-1B23-C8ED-8A1A3D614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C796DF38-246F-ACFA-F33A-BE3950858C5F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" name="Implication Elimination">
            <a:extLst>
              <a:ext uri="{FF2B5EF4-FFF2-40B4-BE49-F238E27FC236}">
                <a16:creationId xmlns:a16="http://schemas.microsoft.com/office/drawing/2014/main" id="{B5763AA3-316F-B936-9FE3-2993B77EC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Eliminação da Implicação</a:t>
            </a:r>
          </a:p>
        </p:txBody>
      </p:sp>
      <p:sp>
        <p:nvSpPr>
          <p:cNvPr id="2" name="α →  β">
            <a:extLst>
              <a:ext uri="{FF2B5EF4-FFF2-40B4-BE49-F238E27FC236}">
                <a16:creationId xmlns:a16="http://schemas.microsoft.com/office/drawing/2014/main" id="{BE255F79-C1C8-A186-B0E6-7DC4F0D12D8B}"/>
              </a:ext>
            </a:extLst>
          </p:cNvPr>
          <p:cNvSpPr>
            <a:spLocks noGrp="1"/>
          </p:cNvSpPr>
          <p:nvPr/>
        </p:nvSpPr>
        <p:spPr>
          <a:xfrm>
            <a:off x="10197944" y="4934547"/>
            <a:ext cx="3988111" cy="165515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α </a:t>
            </a:r>
            <a:r>
              <a:rPr>
                <a:latin typeface="Times New Roman"/>
                <a:ea typeface="Times New Roman"/>
                <a:cs typeface="Times New Roman"/>
              </a:rPr>
              <a:t>→ </a:t>
            </a:r>
            <a:r>
              <a:rPr i="1">
                <a:latin typeface="Times New Roman"/>
                <a:ea typeface="Times New Roman"/>
                <a:cs typeface="Times New Roman"/>
              </a:rPr>
              <a:t> β</a:t>
            </a:r>
          </a:p>
        </p:txBody>
      </p:sp>
      <p:sp>
        <p:nvSpPr>
          <p:cNvPr id="4" name="¬α ∨ β">
            <a:extLst>
              <a:ext uri="{FF2B5EF4-FFF2-40B4-BE49-F238E27FC236}">
                <a16:creationId xmlns:a16="http://schemas.microsoft.com/office/drawing/2014/main" id="{58B22255-724A-EB05-85E8-7959028F328C}"/>
              </a:ext>
            </a:extLst>
          </p:cNvPr>
          <p:cNvSpPr>
            <a:spLocks noGrp="1"/>
          </p:cNvSpPr>
          <p:nvPr/>
        </p:nvSpPr>
        <p:spPr>
          <a:xfrm>
            <a:off x="10262406" y="9224428"/>
            <a:ext cx="3859188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¬</a:t>
            </a:r>
            <a:r>
              <a:rPr i="1">
                <a:latin typeface="Times New Roman"/>
                <a:ea typeface="Times New Roman"/>
                <a:cs typeface="Times New Roman"/>
              </a:rPr>
              <a:t>α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β</a:t>
            </a:r>
          </a:p>
        </p:txBody>
      </p:sp>
    </p:spTree>
    <p:extLst>
      <p:ext uri="{BB962C8B-B14F-4D97-AF65-F5344CB8AC3E}">
        <p14:creationId xmlns:p14="http://schemas.microsoft.com/office/powerpoint/2010/main" val="173943926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B9733-A52A-FF29-6F78-46F9D0BD6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B2F6AF57-2BEB-8940-3603-07A25B228C4F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998226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ADAE3-C13B-0A5D-6795-53043F7C8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3FBCA8D3-7C61-386A-D963-626988C9337D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It is raining if and only if Harry is inside.">
            <a:extLst>
              <a:ext uri="{FF2B5EF4-FFF2-40B4-BE49-F238E27FC236}">
                <a16:creationId xmlns:a16="http://schemas.microsoft.com/office/drawing/2014/main" id="{359CFD12-A4E5-7206-0F26-AD7812CBE961}"/>
              </a:ext>
            </a:extLst>
          </p:cNvPr>
          <p:cNvSpPr>
            <a:spLocks noGrp="1"/>
          </p:cNvSpPr>
          <p:nvPr/>
        </p:nvSpPr>
        <p:spPr>
          <a:xfrm>
            <a:off x="3643199" y="4297975"/>
            <a:ext cx="17097629" cy="256480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lang="pt-BR" dirty="0"/>
              <a:t>Harry está em casa, se e somente se</a:t>
            </a:r>
          </a:p>
          <a:p>
            <a:pPr algn="ctr">
              <a:buNone/>
            </a:pPr>
            <a:r>
              <a:rPr lang="pt-BR" dirty="0"/>
              <a:t>estiver chovendo.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033214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4DA92-41B2-ABD6-CBD6-656A56388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E2C79C1A-C5FC-3A49-ACC7-5CE319943941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It is raining if and only if Harry is inside.">
            <a:extLst>
              <a:ext uri="{FF2B5EF4-FFF2-40B4-BE49-F238E27FC236}">
                <a16:creationId xmlns:a16="http://schemas.microsoft.com/office/drawing/2014/main" id="{1EDD1348-B535-5D35-6FA2-9955AE21859A}"/>
              </a:ext>
            </a:extLst>
          </p:cNvPr>
          <p:cNvSpPr>
            <a:spLocks noGrp="1"/>
          </p:cNvSpPr>
          <p:nvPr/>
        </p:nvSpPr>
        <p:spPr>
          <a:xfrm>
            <a:off x="3643199" y="4297975"/>
            <a:ext cx="17097629" cy="256480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lang="pt-BR" dirty="0"/>
              <a:t>Harry está em casa, se e somente se</a:t>
            </a:r>
          </a:p>
          <a:p>
            <a:pPr algn="ctr">
              <a:buNone/>
            </a:pPr>
            <a:r>
              <a:rPr lang="pt-BR" dirty="0"/>
              <a:t>estiver chovendo.</a:t>
            </a:r>
            <a:endParaRPr dirty="0"/>
          </a:p>
        </p:txBody>
      </p:sp>
      <p:sp>
        <p:nvSpPr>
          <p:cNvPr id="4" name="If it is raining, then Harry is inside,…">
            <a:extLst>
              <a:ext uri="{FF2B5EF4-FFF2-40B4-BE49-F238E27FC236}">
                <a16:creationId xmlns:a16="http://schemas.microsoft.com/office/drawing/2014/main" id="{B4B3D760-7099-273C-9260-9ABAFC3F2A3B}"/>
              </a:ext>
            </a:extLst>
          </p:cNvPr>
          <p:cNvSpPr>
            <a:spLocks noGrp="1"/>
          </p:cNvSpPr>
          <p:nvPr/>
        </p:nvSpPr>
        <p:spPr>
          <a:xfrm>
            <a:off x="1189805" y="9635775"/>
            <a:ext cx="22004422" cy="256480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lang="pt-BR" dirty="0"/>
              <a:t>Se Harry está em casa, então está chovendo, e</a:t>
            </a:r>
          </a:p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lang="pt-BR" dirty="0"/>
              <a:t>se estiver chovendo, então Harry está em casa.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63315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DEAB9-245A-7DF8-2413-AAEF5E372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7355059F-78B6-2212-2CD8-8A79D772324F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It is raining if and only if Harry is inside.">
            <a:extLst>
              <a:ext uri="{FF2B5EF4-FFF2-40B4-BE49-F238E27FC236}">
                <a16:creationId xmlns:a16="http://schemas.microsoft.com/office/drawing/2014/main" id="{F7B7EBBF-2EEF-4307-5EB6-4165538C76C5}"/>
              </a:ext>
            </a:extLst>
          </p:cNvPr>
          <p:cNvSpPr>
            <a:spLocks noGrp="1"/>
          </p:cNvSpPr>
          <p:nvPr/>
        </p:nvSpPr>
        <p:spPr>
          <a:xfrm>
            <a:off x="3643199" y="4297975"/>
            <a:ext cx="17097629" cy="256480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lang="pt-BR" dirty="0"/>
              <a:t>Harry está em casa, se e somente se</a:t>
            </a:r>
          </a:p>
          <a:p>
            <a:pPr algn="ctr">
              <a:buNone/>
            </a:pPr>
            <a:r>
              <a:rPr lang="pt-BR" dirty="0"/>
              <a:t>estiver chovendo.</a:t>
            </a:r>
            <a:endParaRPr dirty="0"/>
          </a:p>
        </p:txBody>
      </p:sp>
      <p:sp>
        <p:nvSpPr>
          <p:cNvPr id="4" name="If it is raining, then Harry is inside,…">
            <a:extLst>
              <a:ext uri="{FF2B5EF4-FFF2-40B4-BE49-F238E27FC236}">
                <a16:creationId xmlns:a16="http://schemas.microsoft.com/office/drawing/2014/main" id="{F0B465C9-5C0B-2546-8999-A905DD5F2423}"/>
              </a:ext>
            </a:extLst>
          </p:cNvPr>
          <p:cNvSpPr>
            <a:spLocks noGrp="1"/>
          </p:cNvSpPr>
          <p:nvPr/>
        </p:nvSpPr>
        <p:spPr>
          <a:xfrm>
            <a:off x="1189805" y="9635775"/>
            <a:ext cx="22004422" cy="256480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lang="pt-BR" dirty="0"/>
              <a:t>Se Harry está em casa, então está chovendo, e</a:t>
            </a:r>
          </a:p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lang="pt-BR" dirty="0"/>
              <a:t>se estiver chovendo, então Harry está em casa.</a:t>
            </a:r>
            <a:endParaRPr dirty="0"/>
          </a:p>
        </p:txBody>
      </p:sp>
      <p:sp>
        <p:nvSpPr>
          <p:cNvPr id="5" name="Biconditional Elimination">
            <a:extLst>
              <a:ext uri="{FF2B5EF4-FFF2-40B4-BE49-F238E27FC236}">
                <a16:creationId xmlns:a16="http://schemas.microsoft.com/office/drawing/2014/main" id="{FF3D16BF-3938-C6CA-7DBA-7AE9D1DDB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Eliminação do Bicondicional</a:t>
            </a:r>
          </a:p>
        </p:txBody>
      </p:sp>
    </p:spTree>
    <p:extLst>
      <p:ext uri="{BB962C8B-B14F-4D97-AF65-F5344CB8AC3E}">
        <p14:creationId xmlns:p14="http://schemas.microsoft.com/office/powerpoint/2010/main" val="153344459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3839D-1DD8-0EF3-C706-AA80F7EF0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34EDA988-3269-DFE8-F827-086D5A35949A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" name="Biconditional Elimination">
            <a:extLst>
              <a:ext uri="{FF2B5EF4-FFF2-40B4-BE49-F238E27FC236}">
                <a16:creationId xmlns:a16="http://schemas.microsoft.com/office/drawing/2014/main" id="{FB3FE2D4-30D7-34B8-4E06-B6ED40F45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Eliminação do Bicondicional</a:t>
            </a:r>
          </a:p>
        </p:txBody>
      </p:sp>
    </p:spTree>
    <p:extLst>
      <p:ext uri="{BB962C8B-B14F-4D97-AF65-F5344CB8AC3E}">
        <p14:creationId xmlns:p14="http://schemas.microsoft.com/office/powerpoint/2010/main" val="254239577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2448B-399B-B430-547F-0837E26DE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576844FC-B3A7-3518-8F4C-9ED5345DF61C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" name="Biconditional Elimination">
            <a:extLst>
              <a:ext uri="{FF2B5EF4-FFF2-40B4-BE49-F238E27FC236}">
                <a16:creationId xmlns:a16="http://schemas.microsoft.com/office/drawing/2014/main" id="{971A4F78-5CEF-9FBE-A86A-48E110A73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Eliminação do Bicondicional</a:t>
            </a:r>
          </a:p>
        </p:txBody>
      </p:sp>
      <p:sp>
        <p:nvSpPr>
          <p:cNvPr id="2" name="α ↔  β">
            <a:extLst>
              <a:ext uri="{FF2B5EF4-FFF2-40B4-BE49-F238E27FC236}">
                <a16:creationId xmlns:a16="http://schemas.microsoft.com/office/drawing/2014/main" id="{A494B300-6473-1864-0A58-54F603F62E89}"/>
              </a:ext>
            </a:extLst>
          </p:cNvPr>
          <p:cNvSpPr>
            <a:spLocks noGrp="1"/>
          </p:cNvSpPr>
          <p:nvPr/>
        </p:nvSpPr>
        <p:spPr>
          <a:xfrm>
            <a:off x="10197944" y="4934547"/>
            <a:ext cx="3988111" cy="165515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α </a:t>
            </a:r>
            <a:r>
              <a:rPr>
                <a:latin typeface="Times New Roman"/>
                <a:ea typeface="Times New Roman"/>
                <a:cs typeface="Times New Roman"/>
              </a:rPr>
              <a:t>↔ </a:t>
            </a:r>
            <a:r>
              <a:rPr i="1">
                <a:latin typeface="Times New Roman"/>
                <a:ea typeface="Times New Roman"/>
                <a:cs typeface="Times New Roman"/>
              </a:rPr>
              <a:t> β</a:t>
            </a:r>
          </a:p>
        </p:txBody>
      </p:sp>
    </p:spTree>
    <p:extLst>
      <p:ext uri="{BB962C8B-B14F-4D97-AF65-F5344CB8AC3E}">
        <p14:creationId xmlns:p14="http://schemas.microsoft.com/office/powerpoint/2010/main" val="18630450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1D15D-8617-4F17-E348-D7E9F88F5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B6E6E7C8-EBE5-E162-4209-D58FD261E34D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" name="Biconditional Elimination">
            <a:extLst>
              <a:ext uri="{FF2B5EF4-FFF2-40B4-BE49-F238E27FC236}">
                <a16:creationId xmlns:a16="http://schemas.microsoft.com/office/drawing/2014/main" id="{646F8B36-99B2-BB6F-552B-8494C55D7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Eliminação do Bicondicional</a:t>
            </a:r>
          </a:p>
        </p:txBody>
      </p:sp>
      <p:sp>
        <p:nvSpPr>
          <p:cNvPr id="2" name="α ↔  β">
            <a:extLst>
              <a:ext uri="{FF2B5EF4-FFF2-40B4-BE49-F238E27FC236}">
                <a16:creationId xmlns:a16="http://schemas.microsoft.com/office/drawing/2014/main" id="{F47242DA-5135-9D27-0D0B-9939CF0D8986}"/>
              </a:ext>
            </a:extLst>
          </p:cNvPr>
          <p:cNvSpPr>
            <a:spLocks noGrp="1"/>
          </p:cNvSpPr>
          <p:nvPr/>
        </p:nvSpPr>
        <p:spPr>
          <a:xfrm>
            <a:off x="10185040" y="4864444"/>
            <a:ext cx="4013919" cy="179536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 dirty="0">
                <a:latin typeface="Times New Roman"/>
                <a:ea typeface="Times New Roman"/>
                <a:cs typeface="Times New Roman"/>
              </a:rPr>
              <a:t>α </a:t>
            </a:r>
            <a:r>
              <a:rPr dirty="0">
                <a:latin typeface="Times New Roman"/>
                <a:ea typeface="Times New Roman"/>
                <a:cs typeface="Times New Roman"/>
              </a:rPr>
              <a:t>↔ </a:t>
            </a:r>
            <a:r>
              <a:rPr i="1" dirty="0">
                <a:latin typeface="Times New Roman"/>
                <a:ea typeface="Times New Roman"/>
                <a:cs typeface="Times New Roman"/>
              </a:rPr>
              <a:t> β</a:t>
            </a:r>
          </a:p>
        </p:txBody>
      </p:sp>
      <p:sp>
        <p:nvSpPr>
          <p:cNvPr id="4" name="(α →  β) ∧ (β → α)">
            <a:extLst>
              <a:ext uri="{FF2B5EF4-FFF2-40B4-BE49-F238E27FC236}">
                <a16:creationId xmlns:a16="http://schemas.microsoft.com/office/drawing/2014/main" id="{A6FFE8B4-B995-2764-196B-B3339F57226E}"/>
              </a:ext>
            </a:extLst>
          </p:cNvPr>
          <p:cNvSpPr>
            <a:spLocks noGrp="1"/>
          </p:cNvSpPr>
          <p:nvPr/>
        </p:nvSpPr>
        <p:spPr>
          <a:xfrm>
            <a:off x="6741256" y="9224428"/>
            <a:ext cx="10901488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α </a:t>
            </a:r>
            <a:r>
              <a:rPr>
                <a:latin typeface="Times New Roman"/>
                <a:ea typeface="Times New Roman"/>
                <a:cs typeface="Times New Roman"/>
              </a:rPr>
              <a:t>→ </a:t>
            </a:r>
            <a:r>
              <a:rPr i="1">
                <a:latin typeface="Times New Roman"/>
                <a:ea typeface="Times New Roman"/>
                <a:cs typeface="Times New Roman"/>
              </a:rPr>
              <a:t> β</a:t>
            </a:r>
            <a:r>
              <a:rPr>
                <a:latin typeface="Times New Roman"/>
                <a:ea typeface="Times New Roman"/>
                <a:cs typeface="Times New Roman"/>
              </a:rPr>
              <a:t>) ∧ (</a:t>
            </a:r>
            <a:r>
              <a:rPr i="1">
                <a:latin typeface="Times New Roman"/>
                <a:ea typeface="Times New Roman"/>
                <a:cs typeface="Times New Roman"/>
              </a:rPr>
              <a:t>β </a:t>
            </a:r>
            <a:r>
              <a:rPr>
                <a:latin typeface="Times New Roman"/>
                <a:ea typeface="Times New Roman"/>
                <a:cs typeface="Times New Roman"/>
              </a:rPr>
              <a:t>→ </a:t>
            </a:r>
            <a:r>
              <a:rPr i="1">
                <a:latin typeface="Times New Roman"/>
                <a:ea typeface="Times New Roman"/>
                <a:cs typeface="Times New Roman"/>
              </a:rPr>
              <a:t>α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7446891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5F75C-C1B4-F756-5F98-AA0264900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25B61637-851A-68C5-91A2-86A1096A3997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794113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BFAAF-FE63-CFED-90ED-A5F80203A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BB1BC726-AF88-DC00-7220-BCFB6C3C44C5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It is not true that both Harry and Ron passed the test.">
            <a:extLst>
              <a:ext uri="{FF2B5EF4-FFF2-40B4-BE49-F238E27FC236}">
                <a16:creationId xmlns:a16="http://schemas.microsoft.com/office/drawing/2014/main" id="{12F75D49-22C4-4A27-6C25-1C85059DC1C6}"/>
              </a:ext>
            </a:extLst>
          </p:cNvPr>
          <p:cNvSpPr>
            <a:spLocks noGrp="1"/>
          </p:cNvSpPr>
          <p:nvPr/>
        </p:nvSpPr>
        <p:spPr>
          <a:xfrm>
            <a:off x="5809644" y="4297974"/>
            <a:ext cx="12764712" cy="256480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verdade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Harry </a:t>
            </a:r>
            <a:r>
              <a:rPr lang="pt-BR" dirty="0"/>
              <a:t>e </a:t>
            </a:r>
          </a:p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/>
              <a:t>Ron </a:t>
            </a:r>
            <a:r>
              <a:rPr dirty="0" err="1"/>
              <a:t>passaram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prova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537483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8473D-7961-8D71-5079-FB0CC0F43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B121683A-0F9D-B880-C7CF-A3B24858D0EF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It is not true that both Harry and Ron passed the test.">
            <a:extLst>
              <a:ext uri="{FF2B5EF4-FFF2-40B4-BE49-F238E27FC236}">
                <a16:creationId xmlns:a16="http://schemas.microsoft.com/office/drawing/2014/main" id="{408B59B3-FC31-626C-56D4-A28F33CBCD87}"/>
              </a:ext>
            </a:extLst>
          </p:cNvPr>
          <p:cNvSpPr>
            <a:spLocks noGrp="1"/>
          </p:cNvSpPr>
          <p:nvPr/>
        </p:nvSpPr>
        <p:spPr>
          <a:xfrm>
            <a:off x="5809644" y="4297974"/>
            <a:ext cx="12764712" cy="256480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verdade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Harry </a:t>
            </a:r>
            <a:r>
              <a:rPr lang="pt-BR" dirty="0"/>
              <a:t>e </a:t>
            </a:r>
          </a:p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/>
              <a:t>Ron </a:t>
            </a:r>
            <a:r>
              <a:rPr dirty="0" err="1"/>
              <a:t>passaram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prova</a:t>
            </a:r>
            <a:r>
              <a:rPr dirty="0"/>
              <a:t>.</a:t>
            </a:r>
          </a:p>
        </p:txBody>
      </p:sp>
      <p:sp>
        <p:nvSpPr>
          <p:cNvPr id="4" name="Harry did not pass the test…">
            <a:extLst>
              <a:ext uri="{FF2B5EF4-FFF2-40B4-BE49-F238E27FC236}">
                <a16:creationId xmlns:a16="http://schemas.microsoft.com/office/drawing/2014/main" id="{6724DFEE-6270-25AA-718D-256877C5DB95}"/>
              </a:ext>
            </a:extLst>
          </p:cNvPr>
          <p:cNvSpPr>
            <a:spLocks noGrp="1"/>
          </p:cNvSpPr>
          <p:nvPr/>
        </p:nvSpPr>
        <p:spPr>
          <a:xfrm>
            <a:off x="5408893" y="9032525"/>
            <a:ext cx="13566214" cy="256480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/>
              <a:t>Harry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passou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prova</a:t>
            </a:r>
            <a:r>
              <a:rPr lang="pt-BR" dirty="0"/>
              <a:t>,</a:t>
            </a:r>
            <a:endParaRPr dirty="0"/>
          </a:p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 err="1"/>
              <a:t>ou</a:t>
            </a:r>
            <a:r>
              <a:rPr dirty="0"/>
              <a:t> Ron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passou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prova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879982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160C1-C9E5-5D42-76AB-DBF1850EE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04C22EC4-C1A1-7FB5-B830-5B90C16C286F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It is not true that both Harry and Ron passed the test.">
            <a:extLst>
              <a:ext uri="{FF2B5EF4-FFF2-40B4-BE49-F238E27FC236}">
                <a16:creationId xmlns:a16="http://schemas.microsoft.com/office/drawing/2014/main" id="{BCF2C3EF-14EA-A8EB-5BAD-2A89BED81314}"/>
              </a:ext>
            </a:extLst>
          </p:cNvPr>
          <p:cNvSpPr>
            <a:spLocks noGrp="1"/>
          </p:cNvSpPr>
          <p:nvPr/>
        </p:nvSpPr>
        <p:spPr>
          <a:xfrm>
            <a:off x="5809644" y="4297974"/>
            <a:ext cx="12764712" cy="256480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verdade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Harry </a:t>
            </a:r>
            <a:r>
              <a:rPr lang="pt-BR" dirty="0"/>
              <a:t>e </a:t>
            </a:r>
          </a:p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/>
              <a:t>Ron </a:t>
            </a:r>
            <a:r>
              <a:rPr dirty="0" err="1"/>
              <a:t>passaram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prova</a:t>
            </a:r>
            <a:r>
              <a:rPr dirty="0"/>
              <a:t>.</a:t>
            </a:r>
          </a:p>
        </p:txBody>
      </p:sp>
      <p:sp>
        <p:nvSpPr>
          <p:cNvPr id="4" name="Harry did not pass the test…">
            <a:extLst>
              <a:ext uri="{FF2B5EF4-FFF2-40B4-BE49-F238E27FC236}">
                <a16:creationId xmlns:a16="http://schemas.microsoft.com/office/drawing/2014/main" id="{E5A86D42-6927-B1BC-9CDB-D0A471D7B447}"/>
              </a:ext>
            </a:extLst>
          </p:cNvPr>
          <p:cNvSpPr>
            <a:spLocks noGrp="1"/>
          </p:cNvSpPr>
          <p:nvPr/>
        </p:nvSpPr>
        <p:spPr>
          <a:xfrm>
            <a:off x="5408893" y="9032525"/>
            <a:ext cx="13566214" cy="256480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/>
              <a:t>Harry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passou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prova</a:t>
            </a:r>
            <a:r>
              <a:rPr lang="pt-BR" dirty="0"/>
              <a:t>,</a:t>
            </a:r>
            <a:endParaRPr dirty="0"/>
          </a:p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 err="1"/>
              <a:t>ou</a:t>
            </a:r>
            <a:r>
              <a:rPr dirty="0"/>
              <a:t> Ron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passou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prova</a:t>
            </a:r>
            <a:r>
              <a:rPr dirty="0"/>
              <a:t>.</a:t>
            </a:r>
          </a:p>
        </p:txBody>
      </p:sp>
      <p:sp>
        <p:nvSpPr>
          <p:cNvPr id="5" name="De Morgan's Law">
            <a:extLst>
              <a:ext uri="{FF2B5EF4-FFF2-40B4-BE49-F238E27FC236}">
                <a16:creationId xmlns:a16="http://schemas.microsoft.com/office/drawing/2014/main" id="{1B52752E-16B2-3CE2-DC90-3CC6DA305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Lei de De Morgan</a:t>
            </a:r>
          </a:p>
        </p:txBody>
      </p:sp>
    </p:spTree>
    <p:extLst>
      <p:ext uri="{BB962C8B-B14F-4D97-AF65-F5344CB8AC3E}">
        <p14:creationId xmlns:p14="http://schemas.microsoft.com/office/powerpoint/2010/main" val="374166035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75785-D351-E4A5-7C5A-7F6C71EC4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8CCF22D5-5F26-C6B2-5ED1-3B285DA8FC0D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" name="De Morgan's Law">
            <a:extLst>
              <a:ext uri="{FF2B5EF4-FFF2-40B4-BE49-F238E27FC236}">
                <a16:creationId xmlns:a16="http://schemas.microsoft.com/office/drawing/2014/main" id="{6CA1C5EC-3F67-552C-A0BD-285E9DFD0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Lei de De Morgan</a:t>
            </a:r>
          </a:p>
        </p:txBody>
      </p:sp>
    </p:spTree>
    <p:extLst>
      <p:ext uri="{BB962C8B-B14F-4D97-AF65-F5344CB8AC3E}">
        <p14:creationId xmlns:p14="http://schemas.microsoft.com/office/powerpoint/2010/main" val="419647566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EA6FD-02A0-D97C-1BB7-37008EDA6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0572CCED-7ABC-8112-2D0F-4982730989F3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" name="De Morgan's Law">
            <a:extLst>
              <a:ext uri="{FF2B5EF4-FFF2-40B4-BE49-F238E27FC236}">
                <a16:creationId xmlns:a16="http://schemas.microsoft.com/office/drawing/2014/main" id="{FDC84390-8510-7C52-C285-823EBAC28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Lei de De Morgan</a:t>
            </a:r>
          </a:p>
        </p:txBody>
      </p:sp>
      <p:sp>
        <p:nvSpPr>
          <p:cNvPr id="2" name="¬(α ∧ β)">
            <a:extLst>
              <a:ext uri="{FF2B5EF4-FFF2-40B4-BE49-F238E27FC236}">
                <a16:creationId xmlns:a16="http://schemas.microsoft.com/office/drawing/2014/main" id="{AEE40023-2253-6595-A962-F2CE65A452DA}"/>
              </a:ext>
            </a:extLst>
          </p:cNvPr>
          <p:cNvSpPr>
            <a:spLocks noGrp="1"/>
          </p:cNvSpPr>
          <p:nvPr/>
        </p:nvSpPr>
        <p:spPr>
          <a:xfrm>
            <a:off x="9797194" y="4911014"/>
            <a:ext cx="4789612" cy="17022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¬(</a:t>
            </a:r>
            <a:r>
              <a:rPr i="1">
                <a:latin typeface="Times New Roman"/>
                <a:ea typeface="Times New Roman"/>
                <a:cs typeface="Times New Roman"/>
              </a:rPr>
              <a:t>α </a:t>
            </a:r>
            <a:r>
              <a:rPr>
                <a:latin typeface="Times New Roman"/>
                <a:ea typeface="Times New Roman"/>
                <a:cs typeface="Times New Roman"/>
              </a:rPr>
              <a:t>∧ </a:t>
            </a:r>
            <a:r>
              <a:rPr i="1">
                <a:latin typeface="Times New Roman"/>
                <a:ea typeface="Times New Roman"/>
                <a:cs typeface="Times New Roman"/>
              </a:rPr>
              <a:t>β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5505872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0F90D-E0E0-390F-F3A2-3817A3133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C9AB8F62-922D-2A83-8C4A-C2AD55BF0D01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" name="De Morgan's Law">
            <a:extLst>
              <a:ext uri="{FF2B5EF4-FFF2-40B4-BE49-F238E27FC236}">
                <a16:creationId xmlns:a16="http://schemas.microsoft.com/office/drawing/2014/main" id="{5F88D10D-49FA-F38E-3C64-4EDEEB213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Lei de De Morgan</a:t>
            </a:r>
          </a:p>
        </p:txBody>
      </p:sp>
      <p:sp>
        <p:nvSpPr>
          <p:cNvPr id="2" name="¬(α ∧ β)">
            <a:extLst>
              <a:ext uri="{FF2B5EF4-FFF2-40B4-BE49-F238E27FC236}">
                <a16:creationId xmlns:a16="http://schemas.microsoft.com/office/drawing/2014/main" id="{D8C72E32-269A-4A9B-F240-04C7F2D1A44A}"/>
              </a:ext>
            </a:extLst>
          </p:cNvPr>
          <p:cNvSpPr>
            <a:spLocks noGrp="1"/>
          </p:cNvSpPr>
          <p:nvPr/>
        </p:nvSpPr>
        <p:spPr>
          <a:xfrm>
            <a:off x="9797194" y="4911014"/>
            <a:ext cx="4789612" cy="17022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¬(</a:t>
            </a:r>
            <a:r>
              <a:rPr i="1">
                <a:latin typeface="Times New Roman"/>
                <a:ea typeface="Times New Roman"/>
                <a:cs typeface="Times New Roman"/>
              </a:rPr>
              <a:t>α </a:t>
            </a:r>
            <a:r>
              <a:rPr>
                <a:latin typeface="Times New Roman"/>
                <a:ea typeface="Times New Roman"/>
                <a:cs typeface="Times New Roman"/>
              </a:rPr>
              <a:t>∧ </a:t>
            </a:r>
            <a:r>
              <a:rPr i="1">
                <a:latin typeface="Times New Roman"/>
                <a:ea typeface="Times New Roman"/>
                <a:cs typeface="Times New Roman"/>
              </a:rPr>
              <a:t>β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4" name="¬α ∨ ¬β">
            <a:extLst>
              <a:ext uri="{FF2B5EF4-FFF2-40B4-BE49-F238E27FC236}">
                <a16:creationId xmlns:a16="http://schemas.microsoft.com/office/drawing/2014/main" id="{7F823241-77E9-FA82-E55B-D7F45F56973F}"/>
              </a:ext>
            </a:extLst>
          </p:cNvPr>
          <p:cNvSpPr>
            <a:spLocks noGrp="1"/>
          </p:cNvSpPr>
          <p:nvPr/>
        </p:nvSpPr>
        <p:spPr>
          <a:xfrm>
            <a:off x="9868476" y="9224428"/>
            <a:ext cx="4647048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¬</a:t>
            </a:r>
            <a:r>
              <a:rPr i="1">
                <a:latin typeface="Times New Roman"/>
                <a:ea typeface="Times New Roman"/>
                <a:cs typeface="Times New Roman"/>
              </a:rPr>
              <a:t>α </a:t>
            </a:r>
            <a:r>
              <a:rPr>
                <a:latin typeface="Times New Roman"/>
                <a:ea typeface="Times New Roman"/>
                <a:cs typeface="Times New Roman"/>
              </a:rPr>
              <a:t>∨ ¬</a:t>
            </a:r>
            <a:r>
              <a:rPr i="1">
                <a:latin typeface="Times New Roman"/>
                <a:ea typeface="Times New Roman"/>
                <a:cs typeface="Times New Roman"/>
              </a:rPr>
              <a:t>β</a:t>
            </a:r>
          </a:p>
        </p:txBody>
      </p:sp>
    </p:spTree>
    <p:extLst>
      <p:ext uri="{BB962C8B-B14F-4D97-AF65-F5344CB8AC3E}">
        <p14:creationId xmlns:p14="http://schemas.microsoft.com/office/powerpoint/2010/main" val="124449249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03D99-A17F-C1CB-FD9E-E23EF0EAE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2F0C24B9-A7AC-8299-612D-AF0924D90016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" name="De Morgan's Law">
            <a:extLst>
              <a:ext uri="{FF2B5EF4-FFF2-40B4-BE49-F238E27FC236}">
                <a16:creationId xmlns:a16="http://schemas.microsoft.com/office/drawing/2014/main" id="{844B167B-10B6-3386-6136-FB12D7690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Lei de De Morgan</a:t>
            </a:r>
          </a:p>
        </p:txBody>
      </p:sp>
    </p:spTree>
    <p:extLst>
      <p:ext uri="{BB962C8B-B14F-4D97-AF65-F5344CB8AC3E}">
        <p14:creationId xmlns:p14="http://schemas.microsoft.com/office/powerpoint/2010/main" val="135028977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AF5D7-281E-290F-D6ED-D7F883173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FB353ED8-3F28-F59F-2058-DDA2EF67A231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" name="De Morgan's Law">
            <a:extLst>
              <a:ext uri="{FF2B5EF4-FFF2-40B4-BE49-F238E27FC236}">
                <a16:creationId xmlns:a16="http://schemas.microsoft.com/office/drawing/2014/main" id="{98B0F16D-0205-8BBA-CC1D-A6C80F4CB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Lei de De Morgan</a:t>
            </a:r>
          </a:p>
        </p:txBody>
      </p:sp>
      <p:sp>
        <p:nvSpPr>
          <p:cNvPr id="2" name="It is not true that…">
            <a:extLst>
              <a:ext uri="{FF2B5EF4-FFF2-40B4-BE49-F238E27FC236}">
                <a16:creationId xmlns:a16="http://schemas.microsoft.com/office/drawing/2014/main" id="{700188CA-9E91-0DE6-6B51-2900BE6345D3}"/>
              </a:ext>
            </a:extLst>
          </p:cNvPr>
          <p:cNvSpPr>
            <a:spLocks noGrp="1"/>
          </p:cNvSpPr>
          <p:nvPr/>
        </p:nvSpPr>
        <p:spPr>
          <a:xfrm>
            <a:off x="5524309" y="4297974"/>
            <a:ext cx="13335382" cy="256480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verdade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Harry </a:t>
            </a:r>
            <a:r>
              <a:rPr dirty="0" err="1"/>
              <a:t>ou</a:t>
            </a:r>
            <a:r>
              <a:rPr dirty="0"/>
              <a:t> </a:t>
            </a:r>
            <a:endParaRPr lang="pt-BR" dirty="0"/>
          </a:p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/>
              <a:t>Ron </a:t>
            </a:r>
            <a:r>
              <a:rPr dirty="0" err="1"/>
              <a:t>passaram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prova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93086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6A390-5BDD-0F74-9181-81D9C755A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C8F2F6E2-0D70-3110-10C1-C7D078C57696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" name="De Morgan's Law">
            <a:extLst>
              <a:ext uri="{FF2B5EF4-FFF2-40B4-BE49-F238E27FC236}">
                <a16:creationId xmlns:a16="http://schemas.microsoft.com/office/drawing/2014/main" id="{F20F3970-7D63-DCE5-F0E4-D9F27935E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Lei de De Morgan</a:t>
            </a:r>
          </a:p>
        </p:txBody>
      </p:sp>
      <p:sp>
        <p:nvSpPr>
          <p:cNvPr id="2" name="It is not true that…">
            <a:extLst>
              <a:ext uri="{FF2B5EF4-FFF2-40B4-BE49-F238E27FC236}">
                <a16:creationId xmlns:a16="http://schemas.microsoft.com/office/drawing/2014/main" id="{E142891A-DFA2-1648-476E-BAD2E37450A9}"/>
              </a:ext>
            </a:extLst>
          </p:cNvPr>
          <p:cNvSpPr>
            <a:spLocks noGrp="1"/>
          </p:cNvSpPr>
          <p:nvPr/>
        </p:nvSpPr>
        <p:spPr>
          <a:xfrm>
            <a:off x="5524309" y="4297974"/>
            <a:ext cx="13335382" cy="256480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verdade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Harry </a:t>
            </a:r>
            <a:r>
              <a:rPr dirty="0" err="1"/>
              <a:t>ou</a:t>
            </a:r>
            <a:r>
              <a:rPr dirty="0"/>
              <a:t> </a:t>
            </a:r>
            <a:endParaRPr lang="pt-BR" dirty="0"/>
          </a:p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/>
              <a:t>Ron </a:t>
            </a:r>
            <a:r>
              <a:rPr dirty="0" err="1"/>
              <a:t>passaram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prova</a:t>
            </a:r>
            <a:r>
              <a:rPr dirty="0"/>
              <a:t>.</a:t>
            </a:r>
          </a:p>
        </p:txBody>
      </p:sp>
      <p:sp>
        <p:nvSpPr>
          <p:cNvPr id="4" name="Harry did not pass the test…">
            <a:extLst>
              <a:ext uri="{FF2B5EF4-FFF2-40B4-BE49-F238E27FC236}">
                <a16:creationId xmlns:a16="http://schemas.microsoft.com/office/drawing/2014/main" id="{2237E43B-81F7-CFF5-A2F9-EF56081E91BE}"/>
              </a:ext>
            </a:extLst>
          </p:cNvPr>
          <p:cNvSpPr>
            <a:spLocks noGrp="1"/>
          </p:cNvSpPr>
          <p:nvPr/>
        </p:nvSpPr>
        <p:spPr>
          <a:xfrm>
            <a:off x="5694227" y="9032525"/>
            <a:ext cx="12995545" cy="256480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t>Harry não passou na prova</a:t>
            </a:r>
          </a:p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t>e Ron não passou na prova.</a:t>
            </a:r>
          </a:p>
        </p:txBody>
      </p:sp>
    </p:spTree>
    <p:extLst>
      <p:ext uri="{BB962C8B-B14F-4D97-AF65-F5344CB8AC3E}">
        <p14:creationId xmlns:p14="http://schemas.microsoft.com/office/powerpoint/2010/main" val="385225349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15DB2-E94D-E938-F165-F6084E0B9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F595F931-4D4C-9662-7B3D-FA6252F571C5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" name="De Morgan's Law">
            <a:extLst>
              <a:ext uri="{FF2B5EF4-FFF2-40B4-BE49-F238E27FC236}">
                <a16:creationId xmlns:a16="http://schemas.microsoft.com/office/drawing/2014/main" id="{CE9B9E91-FCF1-5A99-D6FE-F4145482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Lei de De Morgan</a:t>
            </a:r>
          </a:p>
        </p:txBody>
      </p:sp>
    </p:spTree>
    <p:extLst>
      <p:ext uri="{BB962C8B-B14F-4D97-AF65-F5344CB8AC3E}">
        <p14:creationId xmlns:p14="http://schemas.microsoft.com/office/powerpoint/2010/main" val="320876373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54C6D-CF22-A5C8-41A6-6E449E1E8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E4EB9FEE-95DC-433C-50A8-7771EF721B79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" name="De Morgan's Law">
            <a:extLst>
              <a:ext uri="{FF2B5EF4-FFF2-40B4-BE49-F238E27FC236}">
                <a16:creationId xmlns:a16="http://schemas.microsoft.com/office/drawing/2014/main" id="{93D88D81-CF39-9D29-1104-7FE8661E3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Lei de De Morgan</a:t>
            </a:r>
          </a:p>
        </p:txBody>
      </p:sp>
      <p:sp>
        <p:nvSpPr>
          <p:cNvPr id="2" name="¬(α ∨ β)">
            <a:extLst>
              <a:ext uri="{FF2B5EF4-FFF2-40B4-BE49-F238E27FC236}">
                <a16:creationId xmlns:a16="http://schemas.microsoft.com/office/drawing/2014/main" id="{DC78BB26-2716-3306-DE8C-8DC87754D973}"/>
              </a:ext>
            </a:extLst>
          </p:cNvPr>
          <p:cNvSpPr>
            <a:spLocks noGrp="1"/>
          </p:cNvSpPr>
          <p:nvPr/>
        </p:nvSpPr>
        <p:spPr>
          <a:xfrm>
            <a:off x="9797194" y="4911014"/>
            <a:ext cx="4789612" cy="17022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dirty="0">
                <a:latin typeface="Times New Roman"/>
                <a:ea typeface="Times New Roman"/>
                <a:cs typeface="Times New Roman"/>
              </a:rPr>
              <a:t>¬(</a:t>
            </a:r>
            <a:r>
              <a:rPr i="1" dirty="0">
                <a:latin typeface="Times New Roman"/>
                <a:ea typeface="Times New Roman"/>
                <a:cs typeface="Times New Roman"/>
              </a:rPr>
              <a:t>α </a:t>
            </a:r>
            <a:r>
              <a:rPr dirty="0">
                <a:latin typeface="Times New Roman"/>
                <a:ea typeface="Times New Roman"/>
                <a:cs typeface="Times New Roman"/>
              </a:rPr>
              <a:t>∨ </a:t>
            </a:r>
            <a:r>
              <a:rPr i="1" dirty="0">
                <a:latin typeface="Times New Roman"/>
                <a:ea typeface="Times New Roman"/>
                <a:cs typeface="Times New Roman"/>
              </a:rPr>
              <a:t>β</a:t>
            </a:r>
            <a:r>
              <a:rPr dirty="0"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363655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10ED2-ECD1-EE42-78AF-532711809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56F4A7A7-6FDA-197F-0B4F-B14B115C5B52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" name="De Morgan's Law">
            <a:extLst>
              <a:ext uri="{FF2B5EF4-FFF2-40B4-BE49-F238E27FC236}">
                <a16:creationId xmlns:a16="http://schemas.microsoft.com/office/drawing/2014/main" id="{71FB7BE7-732F-7FB5-E720-82262B913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Lei de De Morgan</a:t>
            </a:r>
          </a:p>
        </p:txBody>
      </p:sp>
      <p:sp>
        <p:nvSpPr>
          <p:cNvPr id="2" name="¬(α ∨ β)">
            <a:extLst>
              <a:ext uri="{FF2B5EF4-FFF2-40B4-BE49-F238E27FC236}">
                <a16:creationId xmlns:a16="http://schemas.microsoft.com/office/drawing/2014/main" id="{7658560D-6FF0-A5C0-45E2-346261DE4BE8}"/>
              </a:ext>
            </a:extLst>
          </p:cNvPr>
          <p:cNvSpPr>
            <a:spLocks noGrp="1"/>
          </p:cNvSpPr>
          <p:nvPr/>
        </p:nvSpPr>
        <p:spPr>
          <a:xfrm>
            <a:off x="9797194" y="4911014"/>
            <a:ext cx="4789612" cy="17022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dirty="0">
                <a:latin typeface="Times New Roman"/>
                <a:ea typeface="Times New Roman"/>
                <a:cs typeface="Times New Roman"/>
              </a:rPr>
              <a:t>¬(</a:t>
            </a:r>
            <a:r>
              <a:rPr i="1" dirty="0">
                <a:latin typeface="Times New Roman"/>
                <a:ea typeface="Times New Roman"/>
                <a:cs typeface="Times New Roman"/>
              </a:rPr>
              <a:t>α </a:t>
            </a:r>
            <a:r>
              <a:rPr dirty="0">
                <a:latin typeface="Times New Roman"/>
                <a:ea typeface="Times New Roman"/>
                <a:cs typeface="Times New Roman"/>
              </a:rPr>
              <a:t>∨ </a:t>
            </a:r>
            <a:r>
              <a:rPr i="1" dirty="0">
                <a:latin typeface="Times New Roman"/>
                <a:ea typeface="Times New Roman"/>
                <a:cs typeface="Times New Roman"/>
              </a:rPr>
              <a:t>β</a:t>
            </a:r>
            <a:r>
              <a:rPr dirty="0"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4" name="¬α ∧ ¬β">
            <a:extLst>
              <a:ext uri="{FF2B5EF4-FFF2-40B4-BE49-F238E27FC236}">
                <a16:creationId xmlns:a16="http://schemas.microsoft.com/office/drawing/2014/main" id="{E6703CC9-89CA-26F1-7F79-2020BBBD3292}"/>
              </a:ext>
            </a:extLst>
          </p:cNvPr>
          <p:cNvSpPr>
            <a:spLocks noGrp="1"/>
          </p:cNvSpPr>
          <p:nvPr/>
        </p:nvSpPr>
        <p:spPr>
          <a:xfrm>
            <a:off x="9868476" y="9224428"/>
            <a:ext cx="4647048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¬</a:t>
            </a:r>
            <a:r>
              <a:rPr i="1">
                <a:latin typeface="Times New Roman"/>
                <a:ea typeface="Times New Roman"/>
                <a:cs typeface="Times New Roman"/>
              </a:rPr>
              <a:t>α </a:t>
            </a:r>
            <a:r>
              <a:rPr>
                <a:latin typeface="Times New Roman"/>
                <a:ea typeface="Times New Roman"/>
                <a:cs typeface="Times New Roman"/>
              </a:rPr>
              <a:t>∧ ¬</a:t>
            </a:r>
            <a:r>
              <a:rPr i="1">
                <a:latin typeface="Times New Roman"/>
                <a:ea typeface="Times New Roman"/>
                <a:cs typeface="Times New Roman"/>
              </a:rPr>
              <a:t>β</a:t>
            </a:r>
          </a:p>
        </p:txBody>
      </p:sp>
    </p:spTree>
    <p:extLst>
      <p:ext uri="{BB962C8B-B14F-4D97-AF65-F5344CB8AC3E}">
        <p14:creationId xmlns:p14="http://schemas.microsoft.com/office/powerpoint/2010/main" val="81158162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32E33-30ED-0FE7-ADCB-DA1D14386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B3D3466E-6B31-0381-0CF2-3FBBBBE956D7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" name="Distributive Property">
            <a:extLst>
              <a:ext uri="{FF2B5EF4-FFF2-40B4-BE49-F238E27FC236}">
                <a16:creationId xmlns:a16="http://schemas.microsoft.com/office/drawing/2014/main" id="{6DA6E30F-574F-1217-C781-F14AB820F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rPr dirty="0" err="1"/>
              <a:t>Propriedade</a:t>
            </a:r>
            <a:r>
              <a:rPr dirty="0"/>
              <a:t> </a:t>
            </a:r>
            <a:r>
              <a:rPr dirty="0" err="1"/>
              <a:t>Distributiva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809176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62A87-0859-BD7C-9814-AD134E77F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3AE6A606-5BDD-A0AE-035F-9A2F8CC99503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" name="Distributive Property">
            <a:extLst>
              <a:ext uri="{FF2B5EF4-FFF2-40B4-BE49-F238E27FC236}">
                <a16:creationId xmlns:a16="http://schemas.microsoft.com/office/drawing/2014/main" id="{977420AB-FC31-FC8F-3D3C-3CE715611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rPr dirty="0" err="1"/>
              <a:t>Propriedade</a:t>
            </a:r>
            <a:r>
              <a:rPr dirty="0"/>
              <a:t> </a:t>
            </a:r>
            <a:r>
              <a:rPr dirty="0" err="1"/>
              <a:t>Distributiva</a:t>
            </a:r>
            <a:endParaRPr dirty="0"/>
          </a:p>
        </p:txBody>
      </p:sp>
      <p:sp>
        <p:nvSpPr>
          <p:cNvPr id="9" name="(α ∧ (β ∨ γ))">
            <a:extLst>
              <a:ext uri="{FF2B5EF4-FFF2-40B4-BE49-F238E27FC236}">
                <a16:creationId xmlns:a16="http://schemas.microsoft.com/office/drawing/2014/main" id="{217D6687-A855-E4D0-4DA7-8493FA3FC4FC}"/>
              </a:ext>
            </a:extLst>
          </p:cNvPr>
          <p:cNvSpPr>
            <a:spLocks noGrp="1"/>
          </p:cNvSpPr>
          <p:nvPr/>
        </p:nvSpPr>
        <p:spPr>
          <a:xfrm>
            <a:off x="8653264" y="4911014"/>
            <a:ext cx="7077472" cy="17022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α </a:t>
            </a:r>
            <a:r>
              <a:rPr>
                <a:latin typeface="Times New Roman"/>
                <a:ea typeface="Times New Roman"/>
                <a:cs typeface="Times New Roman"/>
              </a:rPr>
              <a:t>∧ (</a:t>
            </a:r>
            <a:r>
              <a:rPr i="1">
                <a:latin typeface="Times New Roman"/>
                <a:ea typeface="Times New Roman"/>
                <a:cs typeface="Times New Roman"/>
              </a:rPr>
              <a:t>β </a:t>
            </a:r>
            <a:r>
              <a:rPr>
                <a:latin typeface="Times New Roman"/>
                <a:ea typeface="Times New Roman"/>
                <a:cs typeface="Times New Roman"/>
              </a:rPr>
              <a:t>∨ γ))</a:t>
            </a:r>
          </a:p>
        </p:txBody>
      </p:sp>
    </p:spTree>
    <p:extLst>
      <p:ext uri="{BB962C8B-B14F-4D97-AF65-F5344CB8AC3E}">
        <p14:creationId xmlns:p14="http://schemas.microsoft.com/office/powerpoint/2010/main" val="24762727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9A0D0-2715-250B-F019-DC6FF9F7B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5A414FF7-7492-B4D2-6C42-C775897E6F68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" name="Distributive Property">
            <a:extLst>
              <a:ext uri="{FF2B5EF4-FFF2-40B4-BE49-F238E27FC236}">
                <a16:creationId xmlns:a16="http://schemas.microsoft.com/office/drawing/2014/main" id="{8C3DA74B-BFA1-805C-3BEB-B4C45B24E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rPr dirty="0" err="1"/>
              <a:t>Propriedade</a:t>
            </a:r>
            <a:r>
              <a:rPr dirty="0"/>
              <a:t> </a:t>
            </a:r>
            <a:r>
              <a:rPr dirty="0" err="1"/>
              <a:t>Distributiva</a:t>
            </a:r>
            <a:endParaRPr dirty="0"/>
          </a:p>
        </p:txBody>
      </p:sp>
      <p:sp>
        <p:nvSpPr>
          <p:cNvPr id="9" name="(α ∧ (β ∨ γ))">
            <a:extLst>
              <a:ext uri="{FF2B5EF4-FFF2-40B4-BE49-F238E27FC236}">
                <a16:creationId xmlns:a16="http://schemas.microsoft.com/office/drawing/2014/main" id="{C2AD43DD-723C-AA8A-1CED-67AB044C15EF}"/>
              </a:ext>
            </a:extLst>
          </p:cNvPr>
          <p:cNvSpPr>
            <a:spLocks noGrp="1"/>
          </p:cNvSpPr>
          <p:nvPr/>
        </p:nvSpPr>
        <p:spPr>
          <a:xfrm>
            <a:off x="8653264" y="4911014"/>
            <a:ext cx="7077472" cy="17022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α </a:t>
            </a:r>
            <a:r>
              <a:rPr>
                <a:latin typeface="Times New Roman"/>
                <a:ea typeface="Times New Roman"/>
                <a:cs typeface="Times New Roman"/>
              </a:rPr>
              <a:t>∧ (</a:t>
            </a:r>
            <a:r>
              <a:rPr i="1">
                <a:latin typeface="Times New Roman"/>
                <a:ea typeface="Times New Roman"/>
                <a:cs typeface="Times New Roman"/>
              </a:rPr>
              <a:t>β </a:t>
            </a:r>
            <a:r>
              <a:rPr>
                <a:latin typeface="Times New Roman"/>
                <a:ea typeface="Times New Roman"/>
                <a:cs typeface="Times New Roman"/>
              </a:rPr>
              <a:t>∨ γ))</a:t>
            </a:r>
          </a:p>
        </p:txBody>
      </p:sp>
      <p:sp>
        <p:nvSpPr>
          <p:cNvPr id="2" name="(α ∧ β) ∨  (α ∧ γ)">
            <a:extLst>
              <a:ext uri="{FF2B5EF4-FFF2-40B4-BE49-F238E27FC236}">
                <a16:creationId xmlns:a16="http://schemas.microsoft.com/office/drawing/2014/main" id="{4EED0AD1-E521-58D6-CD49-43D2FD386B35}"/>
              </a:ext>
            </a:extLst>
          </p:cNvPr>
          <p:cNvSpPr>
            <a:spLocks noGrp="1"/>
          </p:cNvSpPr>
          <p:nvPr/>
        </p:nvSpPr>
        <p:spPr>
          <a:xfrm>
            <a:off x="7348010" y="9224428"/>
            <a:ext cx="9687980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α </a:t>
            </a:r>
            <a:r>
              <a:rPr>
                <a:latin typeface="Times New Roman"/>
                <a:ea typeface="Times New Roman"/>
                <a:cs typeface="Times New Roman"/>
              </a:rPr>
              <a:t>∧ </a:t>
            </a:r>
            <a:r>
              <a:rPr i="1">
                <a:latin typeface="Times New Roman"/>
                <a:ea typeface="Times New Roman"/>
                <a:cs typeface="Times New Roman"/>
              </a:rPr>
              <a:t>β</a:t>
            </a:r>
            <a:r>
              <a:rPr>
                <a:latin typeface="Times New Roman"/>
                <a:ea typeface="Times New Roman"/>
                <a:cs typeface="Times New Roman"/>
              </a:rPr>
              <a:t>) ∨  (</a:t>
            </a:r>
            <a:r>
              <a:rPr i="1">
                <a:latin typeface="Times New Roman"/>
                <a:ea typeface="Times New Roman"/>
                <a:cs typeface="Times New Roman"/>
              </a:rPr>
              <a:t>α </a:t>
            </a:r>
            <a:r>
              <a:rPr>
                <a:latin typeface="Times New Roman"/>
                <a:ea typeface="Times New Roman"/>
                <a:cs typeface="Times New Roman"/>
              </a:rPr>
              <a:t>∧ γ)</a:t>
            </a:r>
          </a:p>
        </p:txBody>
      </p:sp>
    </p:spTree>
    <p:extLst>
      <p:ext uri="{BB962C8B-B14F-4D97-AF65-F5344CB8AC3E}">
        <p14:creationId xmlns:p14="http://schemas.microsoft.com/office/powerpoint/2010/main" val="292787230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C8324-12CA-6336-D562-40FFB82AA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46D47528-EEDC-7A95-8DED-E06AAB347881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" name="Distributive Property">
            <a:extLst>
              <a:ext uri="{FF2B5EF4-FFF2-40B4-BE49-F238E27FC236}">
                <a16:creationId xmlns:a16="http://schemas.microsoft.com/office/drawing/2014/main" id="{1D3A06DB-5014-71D9-8644-37E53E3F8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rPr dirty="0" err="1"/>
              <a:t>Propriedade</a:t>
            </a:r>
            <a:r>
              <a:rPr dirty="0"/>
              <a:t> </a:t>
            </a:r>
            <a:r>
              <a:rPr dirty="0" err="1"/>
              <a:t>Distributiva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385945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F8302-80F7-3A9A-5364-C44439B72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852F22CA-6851-B680-3834-D2AA470A661D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" name="Distributive Property">
            <a:extLst>
              <a:ext uri="{FF2B5EF4-FFF2-40B4-BE49-F238E27FC236}">
                <a16:creationId xmlns:a16="http://schemas.microsoft.com/office/drawing/2014/main" id="{ED4BA023-061B-1AC7-6353-555184619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rPr dirty="0" err="1"/>
              <a:t>Propriedade</a:t>
            </a:r>
            <a:r>
              <a:rPr dirty="0"/>
              <a:t> </a:t>
            </a:r>
            <a:r>
              <a:rPr dirty="0" err="1"/>
              <a:t>Distributiva</a:t>
            </a:r>
            <a:endParaRPr dirty="0"/>
          </a:p>
        </p:txBody>
      </p:sp>
      <p:sp>
        <p:nvSpPr>
          <p:cNvPr id="2" name="(α ∨ (β ∧ γ))">
            <a:extLst>
              <a:ext uri="{FF2B5EF4-FFF2-40B4-BE49-F238E27FC236}">
                <a16:creationId xmlns:a16="http://schemas.microsoft.com/office/drawing/2014/main" id="{B5B371C7-BC31-08F8-08CD-5A792198C4BD}"/>
              </a:ext>
            </a:extLst>
          </p:cNvPr>
          <p:cNvSpPr>
            <a:spLocks noGrp="1"/>
          </p:cNvSpPr>
          <p:nvPr/>
        </p:nvSpPr>
        <p:spPr>
          <a:xfrm>
            <a:off x="8653264" y="4911014"/>
            <a:ext cx="7077472" cy="17022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α </a:t>
            </a:r>
            <a:r>
              <a:rPr>
                <a:latin typeface="Times New Roman"/>
                <a:ea typeface="Times New Roman"/>
                <a:cs typeface="Times New Roman"/>
              </a:rPr>
              <a:t>∨ (</a:t>
            </a:r>
            <a:r>
              <a:rPr i="1">
                <a:latin typeface="Times New Roman"/>
                <a:ea typeface="Times New Roman"/>
                <a:cs typeface="Times New Roman"/>
              </a:rPr>
              <a:t>β </a:t>
            </a:r>
            <a:r>
              <a:rPr>
                <a:latin typeface="Times New Roman"/>
                <a:ea typeface="Times New Roman"/>
                <a:cs typeface="Times New Roman"/>
              </a:rPr>
              <a:t>∧ γ))</a:t>
            </a:r>
          </a:p>
        </p:txBody>
      </p:sp>
    </p:spTree>
    <p:extLst>
      <p:ext uri="{BB962C8B-B14F-4D97-AF65-F5344CB8AC3E}">
        <p14:creationId xmlns:p14="http://schemas.microsoft.com/office/powerpoint/2010/main" val="102350412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C10C7-CC98-8C48-1026-8CB777E29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72568993-94B6-2D41-6910-0BF34A063FEC}"/>
              </a:ext>
            </a:extLst>
          </p:cNvPr>
          <p:cNvSpPr>
            <a:spLocks noGrp="1"/>
          </p:cNvSpPr>
          <p:nvPr/>
        </p:nvSpPr>
        <p:spPr>
          <a:xfrm>
            <a:off x="6697362" y="8582653"/>
            <a:ext cx="10983153" cy="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" name="Distributive Property">
            <a:extLst>
              <a:ext uri="{FF2B5EF4-FFF2-40B4-BE49-F238E27FC236}">
                <a16:creationId xmlns:a16="http://schemas.microsoft.com/office/drawing/2014/main" id="{3B18A0D7-54AD-CC01-9395-F1F90A748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rPr dirty="0" err="1"/>
              <a:t>Propriedade</a:t>
            </a:r>
            <a:r>
              <a:rPr dirty="0"/>
              <a:t> </a:t>
            </a:r>
            <a:r>
              <a:rPr dirty="0" err="1"/>
              <a:t>Distributiva</a:t>
            </a:r>
            <a:endParaRPr dirty="0"/>
          </a:p>
        </p:txBody>
      </p:sp>
      <p:sp>
        <p:nvSpPr>
          <p:cNvPr id="2" name="(α ∨ (β ∧ γ))">
            <a:extLst>
              <a:ext uri="{FF2B5EF4-FFF2-40B4-BE49-F238E27FC236}">
                <a16:creationId xmlns:a16="http://schemas.microsoft.com/office/drawing/2014/main" id="{5F8D80C5-02B2-BA8D-9173-FD45D0B6C2D1}"/>
              </a:ext>
            </a:extLst>
          </p:cNvPr>
          <p:cNvSpPr>
            <a:spLocks noGrp="1"/>
          </p:cNvSpPr>
          <p:nvPr/>
        </p:nvSpPr>
        <p:spPr>
          <a:xfrm>
            <a:off x="8653264" y="4911014"/>
            <a:ext cx="7077472" cy="17022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α </a:t>
            </a:r>
            <a:r>
              <a:rPr>
                <a:latin typeface="Times New Roman"/>
                <a:ea typeface="Times New Roman"/>
                <a:cs typeface="Times New Roman"/>
              </a:rPr>
              <a:t>∨ (</a:t>
            </a:r>
            <a:r>
              <a:rPr i="1">
                <a:latin typeface="Times New Roman"/>
                <a:ea typeface="Times New Roman"/>
                <a:cs typeface="Times New Roman"/>
              </a:rPr>
              <a:t>β </a:t>
            </a:r>
            <a:r>
              <a:rPr>
                <a:latin typeface="Times New Roman"/>
                <a:ea typeface="Times New Roman"/>
                <a:cs typeface="Times New Roman"/>
              </a:rPr>
              <a:t>∧ γ))</a:t>
            </a:r>
          </a:p>
        </p:txBody>
      </p:sp>
      <p:sp>
        <p:nvSpPr>
          <p:cNvPr id="4" name="(α ∨ β) ∧ (α ∨ γ)">
            <a:extLst>
              <a:ext uri="{FF2B5EF4-FFF2-40B4-BE49-F238E27FC236}">
                <a16:creationId xmlns:a16="http://schemas.microsoft.com/office/drawing/2014/main" id="{634C9B3D-9FAF-6906-B849-7E5C9F9B1A8A}"/>
              </a:ext>
            </a:extLst>
          </p:cNvPr>
          <p:cNvSpPr>
            <a:spLocks noGrp="1"/>
          </p:cNvSpPr>
          <p:nvPr/>
        </p:nvSpPr>
        <p:spPr>
          <a:xfrm>
            <a:off x="7522635" y="9224428"/>
            <a:ext cx="9338730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α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β</a:t>
            </a:r>
            <a:r>
              <a:rPr>
                <a:latin typeface="Times New Roman"/>
                <a:ea typeface="Times New Roman"/>
                <a:cs typeface="Times New Roman"/>
              </a:rPr>
              <a:t>) ∧ (</a:t>
            </a:r>
            <a:r>
              <a:rPr i="1">
                <a:latin typeface="Times New Roman"/>
                <a:ea typeface="Times New Roman"/>
                <a:cs typeface="Times New Roman"/>
              </a:rPr>
              <a:t>α </a:t>
            </a:r>
            <a:r>
              <a:rPr>
                <a:latin typeface="Times New Roman"/>
                <a:ea typeface="Times New Roman"/>
                <a:cs typeface="Times New Roman"/>
              </a:rPr>
              <a:t>∨ γ)</a:t>
            </a:r>
          </a:p>
        </p:txBody>
      </p:sp>
    </p:spTree>
    <p:extLst>
      <p:ext uri="{BB962C8B-B14F-4D97-AF65-F5344CB8AC3E}">
        <p14:creationId xmlns:p14="http://schemas.microsoft.com/office/powerpoint/2010/main" val="443385349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earch Problems">
            <a:extLst>
              <a:ext uri="{FF2B5EF4-FFF2-40B4-BE49-F238E27FC236}">
                <a16:creationId xmlns:a16="http://schemas.microsoft.com/office/drawing/2014/main" id="{C1CBC1E2-0E4A-4D6A-8DDD-658D46F6C08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Problemas de Busca</a:t>
            </a:r>
          </a:p>
        </p:txBody>
      </p:sp>
    </p:spTree>
    <p:extLst>
      <p:ext uri="{BB962C8B-B14F-4D97-AF65-F5344CB8AC3E}">
        <p14:creationId xmlns:p14="http://schemas.microsoft.com/office/powerpoint/2010/main" val="55808898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99418-B286-DF65-97DB-3694C575A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earch Problems">
            <a:extLst>
              <a:ext uri="{FF2B5EF4-FFF2-40B4-BE49-F238E27FC236}">
                <a16:creationId xmlns:a16="http://schemas.microsoft.com/office/drawing/2014/main" id="{4E4A4915-1D26-F2DD-187B-9DA02459BA7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Problemas de Busca</a:t>
            </a:r>
          </a:p>
        </p:txBody>
      </p:sp>
      <p:sp>
        <p:nvSpPr>
          <p:cNvPr id="472" name="initial state…">
            <a:extLst>
              <a:ext uri="{FF2B5EF4-FFF2-40B4-BE49-F238E27FC236}">
                <a16:creationId xmlns:a16="http://schemas.microsoft.com/office/drawing/2014/main" id="{3C522FF8-3144-9F17-B161-B97DBF7BD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inicial</a:t>
            </a:r>
            <a:endParaRPr dirty="0"/>
          </a:p>
          <a:p>
            <a:r>
              <a:rPr dirty="0" err="1"/>
              <a:t>ações</a:t>
            </a:r>
            <a:endParaRPr dirty="0"/>
          </a:p>
          <a:p>
            <a:r>
              <a:rPr dirty="0" err="1"/>
              <a:t>modelo</a:t>
            </a:r>
            <a:r>
              <a:rPr dirty="0"/>
              <a:t> de </a:t>
            </a:r>
            <a:r>
              <a:rPr dirty="0" err="1"/>
              <a:t>transição</a:t>
            </a:r>
            <a:endParaRPr dirty="0"/>
          </a:p>
          <a:p>
            <a:r>
              <a:rPr dirty="0"/>
              <a:t>teste de </a:t>
            </a:r>
            <a:r>
              <a:rPr dirty="0" err="1"/>
              <a:t>objetivo</a:t>
            </a:r>
            <a:endParaRPr dirty="0"/>
          </a:p>
          <a:p>
            <a:r>
              <a:rPr dirty="0" err="1"/>
              <a:t>função</a:t>
            </a:r>
            <a:r>
              <a:rPr dirty="0"/>
              <a:t> de </a:t>
            </a:r>
            <a:r>
              <a:rPr dirty="0" err="1"/>
              <a:t>custo</a:t>
            </a:r>
            <a:r>
              <a:rPr dirty="0"/>
              <a:t> do </a:t>
            </a:r>
            <a:r>
              <a:rPr dirty="0" err="1"/>
              <a:t>caminho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488148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9F1F3-FD15-4A64-4C0D-7504EDB16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earch Problems">
            <a:extLst>
              <a:ext uri="{FF2B5EF4-FFF2-40B4-BE49-F238E27FC236}">
                <a16:creationId xmlns:a16="http://schemas.microsoft.com/office/drawing/2014/main" id="{457592E1-F142-7E64-2B88-0FB4C85B29D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Problemas de Busca</a:t>
            </a:r>
          </a:p>
        </p:txBody>
      </p:sp>
      <p:sp>
        <p:nvSpPr>
          <p:cNvPr id="472" name="initial state…">
            <a:extLst>
              <a:ext uri="{FF2B5EF4-FFF2-40B4-BE49-F238E27FC236}">
                <a16:creationId xmlns:a16="http://schemas.microsoft.com/office/drawing/2014/main" id="{E4B8F8ED-D571-A8C0-9FDA-5C7643EB5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inicial</a:t>
            </a:r>
            <a:r>
              <a:rPr lang="pt-BR" dirty="0"/>
              <a:t>: base de conhecimento inicial</a:t>
            </a:r>
            <a:endParaRPr dirty="0"/>
          </a:p>
          <a:p>
            <a:r>
              <a:rPr lang="en-US" dirty="0" err="1"/>
              <a:t>a</a:t>
            </a:r>
            <a:r>
              <a:rPr dirty="0" err="1"/>
              <a:t>ções</a:t>
            </a:r>
            <a:r>
              <a:rPr lang="pt-BR" dirty="0"/>
              <a:t>: regras de inferência</a:t>
            </a:r>
            <a:endParaRPr dirty="0"/>
          </a:p>
          <a:p>
            <a:r>
              <a:rPr dirty="0" err="1"/>
              <a:t>modelo</a:t>
            </a:r>
            <a:r>
              <a:rPr dirty="0"/>
              <a:t> de </a:t>
            </a:r>
            <a:r>
              <a:rPr dirty="0" err="1"/>
              <a:t>transição</a:t>
            </a:r>
            <a:r>
              <a:rPr lang="pt-BR" dirty="0"/>
              <a:t>: nova KB após a inferência</a:t>
            </a:r>
            <a:endParaRPr dirty="0"/>
          </a:p>
          <a:p>
            <a:r>
              <a:rPr dirty="0"/>
              <a:t>teste de </a:t>
            </a:r>
            <a:r>
              <a:rPr dirty="0" err="1"/>
              <a:t>objetivo</a:t>
            </a:r>
            <a:r>
              <a:rPr lang="pt-BR" dirty="0"/>
              <a:t>: proposição que estamos avaliando</a:t>
            </a:r>
            <a:endParaRPr dirty="0"/>
          </a:p>
          <a:p>
            <a:r>
              <a:rPr dirty="0" err="1"/>
              <a:t>função</a:t>
            </a:r>
            <a:r>
              <a:rPr dirty="0"/>
              <a:t> de </a:t>
            </a:r>
            <a:r>
              <a:rPr dirty="0" err="1"/>
              <a:t>custo</a:t>
            </a:r>
            <a:r>
              <a:rPr dirty="0"/>
              <a:t> do </a:t>
            </a:r>
            <a:r>
              <a:rPr dirty="0" err="1"/>
              <a:t>caminho</a:t>
            </a:r>
            <a:r>
              <a:rPr lang="pt-BR" dirty="0"/>
              <a:t>: número de etapas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236655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Resolution">
            <a:extLst>
              <a:ext uri="{FF2B5EF4-FFF2-40B4-BE49-F238E27FC236}">
                <a16:creationId xmlns:a16="http://schemas.microsoft.com/office/drawing/2014/main" id="{D13E449E-B941-4E29-8161-2B3B32319DA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Resolução</a:t>
            </a:r>
          </a:p>
        </p:txBody>
      </p:sp>
    </p:spTree>
    <p:extLst>
      <p:ext uri="{BB962C8B-B14F-4D97-AF65-F5344CB8AC3E}">
        <p14:creationId xmlns:p14="http://schemas.microsoft.com/office/powerpoint/2010/main" val="19148786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C08FE7-1499-1F49-18D9-4AE027F97C33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3174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69F64-989F-1E1D-9209-2EC79CE01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553A196-FCDB-6C91-517C-B9D0EB885E7F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(Ron is in the Great Hall) ∨ (Hermione is in the library)">
            <a:extLst>
              <a:ext uri="{FF2B5EF4-FFF2-40B4-BE49-F238E27FC236}">
                <a16:creationId xmlns:a16="http://schemas.microsoft.com/office/drawing/2014/main" id="{B909CC87-812A-A8A1-B221-1CCB7D4AD18D}"/>
              </a:ext>
            </a:extLst>
          </p:cNvPr>
          <p:cNvSpPr>
            <a:spLocks noGrp="1"/>
          </p:cNvSpPr>
          <p:nvPr/>
        </p:nvSpPr>
        <p:spPr>
          <a:xfrm>
            <a:off x="615914" y="3161994"/>
            <a:ext cx="23152172" cy="11182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6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(Ron está no Salão Principal) ∨ (Hermione está na biblioteca)</a:t>
            </a:r>
          </a:p>
        </p:txBody>
      </p:sp>
    </p:spTree>
    <p:extLst>
      <p:ext uri="{BB962C8B-B14F-4D97-AF65-F5344CB8AC3E}">
        <p14:creationId xmlns:p14="http://schemas.microsoft.com/office/powerpoint/2010/main" val="236462299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7D46-5190-5A82-A963-C35594995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79094D1-B022-7573-F9C4-E54304C7B376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(Ron is in the Great Hall) ∨ (Hermione is in the library)">
            <a:extLst>
              <a:ext uri="{FF2B5EF4-FFF2-40B4-BE49-F238E27FC236}">
                <a16:creationId xmlns:a16="http://schemas.microsoft.com/office/drawing/2014/main" id="{B4D3C425-6FE9-A9D5-A5E7-903E817BAC47}"/>
              </a:ext>
            </a:extLst>
          </p:cNvPr>
          <p:cNvSpPr>
            <a:spLocks noGrp="1"/>
          </p:cNvSpPr>
          <p:nvPr/>
        </p:nvSpPr>
        <p:spPr>
          <a:xfrm>
            <a:off x="615914" y="3161994"/>
            <a:ext cx="23152172" cy="11182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6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(Ron está no Salão Principal) ∨ (Hermione está na biblioteca)</a:t>
            </a:r>
          </a:p>
        </p:txBody>
      </p:sp>
      <p:sp>
        <p:nvSpPr>
          <p:cNvPr id="3" name="Ron is not in the Great Hall">
            <a:extLst>
              <a:ext uri="{FF2B5EF4-FFF2-40B4-BE49-F238E27FC236}">
                <a16:creationId xmlns:a16="http://schemas.microsoft.com/office/drawing/2014/main" id="{C7434DBA-331F-754F-C077-C8D9367B36C1}"/>
              </a:ext>
            </a:extLst>
          </p:cNvPr>
          <p:cNvSpPr>
            <a:spLocks noGrp="1"/>
          </p:cNvSpPr>
          <p:nvPr/>
        </p:nvSpPr>
        <p:spPr>
          <a:xfrm>
            <a:off x="5964439" y="5738806"/>
            <a:ext cx="12203662" cy="11182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6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Ron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no </a:t>
            </a:r>
            <a:r>
              <a:rPr dirty="0" err="1"/>
              <a:t>Salão</a:t>
            </a:r>
            <a:r>
              <a:rPr dirty="0"/>
              <a:t> Principal</a:t>
            </a:r>
          </a:p>
        </p:txBody>
      </p:sp>
    </p:spTree>
    <p:extLst>
      <p:ext uri="{BB962C8B-B14F-4D97-AF65-F5344CB8AC3E}">
        <p14:creationId xmlns:p14="http://schemas.microsoft.com/office/powerpoint/2010/main" val="72189382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BAE14-C764-7C2D-C38E-C381712A8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651470C-C81D-78B7-ACFC-7C43684A1095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(Ron is in the Great Hall) ∨ (Hermione is in the library)">
            <a:extLst>
              <a:ext uri="{FF2B5EF4-FFF2-40B4-BE49-F238E27FC236}">
                <a16:creationId xmlns:a16="http://schemas.microsoft.com/office/drawing/2014/main" id="{F6E327D3-17AB-FC3C-9CB4-6632B2681C77}"/>
              </a:ext>
            </a:extLst>
          </p:cNvPr>
          <p:cNvSpPr>
            <a:spLocks noGrp="1"/>
          </p:cNvSpPr>
          <p:nvPr/>
        </p:nvSpPr>
        <p:spPr>
          <a:xfrm>
            <a:off x="615914" y="3161994"/>
            <a:ext cx="23152172" cy="11182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6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(Ron está no Salão Principal) ∨ (Hermione está na biblioteca)</a:t>
            </a:r>
          </a:p>
        </p:txBody>
      </p:sp>
      <p:sp>
        <p:nvSpPr>
          <p:cNvPr id="3" name="Ron is not in the Great Hall">
            <a:extLst>
              <a:ext uri="{FF2B5EF4-FFF2-40B4-BE49-F238E27FC236}">
                <a16:creationId xmlns:a16="http://schemas.microsoft.com/office/drawing/2014/main" id="{25344782-5358-E4E6-F828-383C2B74650D}"/>
              </a:ext>
            </a:extLst>
          </p:cNvPr>
          <p:cNvSpPr>
            <a:spLocks noGrp="1"/>
          </p:cNvSpPr>
          <p:nvPr/>
        </p:nvSpPr>
        <p:spPr>
          <a:xfrm>
            <a:off x="5964439" y="5738806"/>
            <a:ext cx="12203662" cy="11182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6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Ron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no </a:t>
            </a:r>
            <a:r>
              <a:rPr dirty="0" err="1"/>
              <a:t>Salão</a:t>
            </a:r>
            <a:r>
              <a:rPr dirty="0"/>
              <a:t> Principal</a:t>
            </a:r>
          </a:p>
        </p:txBody>
      </p:sp>
      <p:sp>
        <p:nvSpPr>
          <p:cNvPr id="5" name="Hermione is in the library">
            <a:extLst>
              <a:ext uri="{FF2B5EF4-FFF2-40B4-BE49-F238E27FC236}">
                <a16:creationId xmlns:a16="http://schemas.microsoft.com/office/drawing/2014/main" id="{0C93D9E9-5688-48FD-6A2A-0B5B01B42FC5}"/>
              </a:ext>
            </a:extLst>
          </p:cNvPr>
          <p:cNvSpPr>
            <a:spLocks noGrp="1"/>
          </p:cNvSpPr>
          <p:nvPr/>
        </p:nvSpPr>
        <p:spPr>
          <a:xfrm>
            <a:off x="6765139" y="9503060"/>
            <a:ext cx="10602262" cy="11182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6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Hermione está na biblioteca</a:t>
            </a:r>
          </a:p>
        </p:txBody>
      </p:sp>
    </p:spTree>
    <p:extLst>
      <p:ext uri="{BB962C8B-B14F-4D97-AF65-F5344CB8AC3E}">
        <p14:creationId xmlns:p14="http://schemas.microsoft.com/office/powerpoint/2010/main" val="332714243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10052-3E12-793F-155B-1124912A3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D268F91-0CDC-B6A6-19B0-C324E3C2A5A5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001188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593E8-C9B5-B17E-AD70-DD50B4893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0502AE-5986-B9AA-B17F-6C0898CABD40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 ∨ Q">
            <a:extLst>
              <a:ext uri="{FF2B5EF4-FFF2-40B4-BE49-F238E27FC236}">
                <a16:creationId xmlns:a16="http://schemas.microsoft.com/office/drawing/2014/main" id="{04127A66-2687-8907-D62C-F5C933ABC3EC}"/>
              </a:ext>
            </a:extLst>
          </p:cNvPr>
          <p:cNvSpPr>
            <a:spLocks noGrp="1"/>
          </p:cNvSpPr>
          <p:nvPr/>
        </p:nvSpPr>
        <p:spPr>
          <a:xfrm>
            <a:off x="10439759" y="2870010"/>
            <a:ext cx="3504482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94682514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1E1D1-1F79-48BB-92D7-A4BC6491E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B51712-6B8B-15C2-3072-1CA5D248D41D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¬P">
            <a:extLst>
              <a:ext uri="{FF2B5EF4-FFF2-40B4-BE49-F238E27FC236}">
                <a16:creationId xmlns:a16="http://schemas.microsoft.com/office/drawing/2014/main" id="{5C257DAA-9913-318D-44E6-14CD96CC0AEB}"/>
              </a:ext>
            </a:extLst>
          </p:cNvPr>
          <p:cNvSpPr>
            <a:spLocks noGrp="1"/>
          </p:cNvSpPr>
          <p:nvPr/>
        </p:nvSpPr>
        <p:spPr>
          <a:xfrm>
            <a:off x="11314248" y="5417668"/>
            <a:ext cx="1755504" cy="16551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¬</a:t>
            </a: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3" name="P ∨ Q">
            <a:extLst>
              <a:ext uri="{FF2B5EF4-FFF2-40B4-BE49-F238E27FC236}">
                <a16:creationId xmlns:a16="http://schemas.microsoft.com/office/drawing/2014/main" id="{B7927531-15AC-17DE-E362-7DF4C456163E}"/>
              </a:ext>
            </a:extLst>
          </p:cNvPr>
          <p:cNvSpPr>
            <a:spLocks noGrp="1"/>
          </p:cNvSpPr>
          <p:nvPr/>
        </p:nvSpPr>
        <p:spPr>
          <a:xfrm>
            <a:off x="10439759" y="2870010"/>
            <a:ext cx="3504482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234566430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D6D89-102E-7FB6-AD90-7FB6F7FCD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25B4CBA-3DFF-04B4-7CFC-96472DAF378A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¬P">
            <a:extLst>
              <a:ext uri="{FF2B5EF4-FFF2-40B4-BE49-F238E27FC236}">
                <a16:creationId xmlns:a16="http://schemas.microsoft.com/office/drawing/2014/main" id="{59E1CFED-0E9F-D840-2977-13AD6E6DC91E}"/>
              </a:ext>
            </a:extLst>
          </p:cNvPr>
          <p:cNvSpPr>
            <a:spLocks noGrp="1"/>
          </p:cNvSpPr>
          <p:nvPr/>
        </p:nvSpPr>
        <p:spPr>
          <a:xfrm>
            <a:off x="11314248" y="5417668"/>
            <a:ext cx="1755504" cy="16551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¬</a:t>
            </a: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3" name="P ∨ Q">
            <a:extLst>
              <a:ext uri="{FF2B5EF4-FFF2-40B4-BE49-F238E27FC236}">
                <a16:creationId xmlns:a16="http://schemas.microsoft.com/office/drawing/2014/main" id="{4BC2DFFF-5191-190F-C506-5B4E45FA1E7A}"/>
              </a:ext>
            </a:extLst>
          </p:cNvPr>
          <p:cNvSpPr>
            <a:spLocks noGrp="1"/>
          </p:cNvSpPr>
          <p:nvPr/>
        </p:nvSpPr>
        <p:spPr>
          <a:xfrm>
            <a:off x="10439759" y="2870010"/>
            <a:ext cx="3504482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5" name="Q">
            <a:extLst>
              <a:ext uri="{FF2B5EF4-FFF2-40B4-BE49-F238E27FC236}">
                <a16:creationId xmlns:a16="http://schemas.microsoft.com/office/drawing/2014/main" id="{7DF79A2B-FBD3-135B-BA48-46995E32B94A}"/>
              </a:ext>
            </a:extLst>
          </p:cNvPr>
          <p:cNvSpPr>
            <a:spLocks noGrp="1"/>
          </p:cNvSpPr>
          <p:nvPr/>
        </p:nvSpPr>
        <p:spPr>
          <a:xfrm>
            <a:off x="11630415" y="9233340"/>
            <a:ext cx="1123170" cy="165515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1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i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3273182000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2CB62-635F-CB87-8F16-A36B90C7F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235599-7CE9-803D-F368-975C3C564F28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99549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38C5B-2865-2ADB-590E-FC3A0481F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B7A3C02-1FC2-F4C0-37DE-0C63BEB8E482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 ∨ Q1 ∨ Q2 ∨ ...∨ Qn">
            <a:extLst>
              <a:ext uri="{FF2B5EF4-FFF2-40B4-BE49-F238E27FC236}">
                <a16:creationId xmlns:a16="http://schemas.microsoft.com/office/drawing/2014/main" id="{9AFBD015-7624-A621-FA84-D8557592D1C7}"/>
              </a:ext>
            </a:extLst>
          </p:cNvPr>
          <p:cNvSpPr>
            <a:spLocks noGrp="1"/>
          </p:cNvSpPr>
          <p:nvPr/>
        </p:nvSpPr>
        <p:spPr>
          <a:xfrm>
            <a:off x="6052306" y="2818138"/>
            <a:ext cx="12279388" cy="180596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Q1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Q2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...∨ </a:t>
            </a:r>
            <a:r>
              <a:rPr i="1">
                <a:latin typeface="Times New Roman"/>
                <a:ea typeface="Times New Roman"/>
                <a:cs typeface="Times New Roman"/>
              </a:rPr>
              <a:t>Qn</a:t>
            </a:r>
          </a:p>
        </p:txBody>
      </p:sp>
    </p:spTree>
    <p:extLst>
      <p:ext uri="{BB962C8B-B14F-4D97-AF65-F5344CB8AC3E}">
        <p14:creationId xmlns:p14="http://schemas.microsoft.com/office/powerpoint/2010/main" val="149285884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A9E1E-1C6B-C36C-9741-DDBE017DA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94CFFD-BC48-E61F-C2D3-BC0AAF59AB13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 ∨ Q1 ∨ Q2 ∨ ...∨ Qn">
            <a:extLst>
              <a:ext uri="{FF2B5EF4-FFF2-40B4-BE49-F238E27FC236}">
                <a16:creationId xmlns:a16="http://schemas.microsoft.com/office/drawing/2014/main" id="{F974EA46-39CE-FAD5-A8A7-66D17B91CA9E}"/>
              </a:ext>
            </a:extLst>
          </p:cNvPr>
          <p:cNvSpPr>
            <a:spLocks noGrp="1"/>
          </p:cNvSpPr>
          <p:nvPr/>
        </p:nvSpPr>
        <p:spPr>
          <a:xfrm>
            <a:off x="6052306" y="2818138"/>
            <a:ext cx="12279388" cy="180596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Q1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Q2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...∨ </a:t>
            </a:r>
            <a:r>
              <a:rPr i="1">
                <a:latin typeface="Times New Roman"/>
                <a:ea typeface="Times New Roman"/>
                <a:cs typeface="Times New Roman"/>
              </a:rPr>
              <a:t>Qn</a:t>
            </a:r>
          </a:p>
        </p:txBody>
      </p:sp>
      <p:sp>
        <p:nvSpPr>
          <p:cNvPr id="2" name="¬P">
            <a:extLst>
              <a:ext uri="{FF2B5EF4-FFF2-40B4-BE49-F238E27FC236}">
                <a16:creationId xmlns:a16="http://schemas.microsoft.com/office/drawing/2014/main" id="{B9651A6F-F39F-F37C-CD6A-A58C97757A98}"/>
              </a:ext>
            </a:extLst>
          </p:cNvPr>
          <p:cNvSpPr>
            <a:spLocks noGrp="1"/>
          </p:cNvSpPr>
          <p:nvPr/>
        </p:nvSpPr>
        <p:spPr>
          <a:xfrm>
            <a:off x="11314248" y="5417668"/>
            <a:ext cx="1755504" cy="16551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¬</a:t>
            </a: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316181561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6F8D6-F9F9-2E9A-76C3-B9E84A22E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2DACFCD-9F69-A9D0-8BBF-24A6E7CB379A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 ∨ Q1 ∨ Q2 ∨ ...∨ Qn">
            <a:extLst>
              <a:ext uri="{FF2B5EF4-FFF2-40B4-BE49-F238E27FC236}">
                <a16:creationId xmlns:a16="http://schemas.microsoft.com/office/drawing/2014/main" id="{4B56A079-C40E-576D-D75C-2C8EA6880555}"/>
              </a:ext>
            </a:extLst>
          </p:cNvPr>
          <p:cNvSpPr>
            <a:spLocks noGrp="1"/>
          </p:cNvSpPr>
          <p:nvPr/>
        </p:nvSpPr>
        <p:spPr>
          <a:xfrm>
            <a:off x="6052306" y="2818138"/>
            <a:ext cx="12279388" cy="180596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Q1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Q2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...∨ </a:t>
            </a:r>
            <a:r>
              <a:rPr i="1">
                <a:latin typeface="Times New Roman"/>
                <a:ea typeface="Times New Roman"/>
                <a:cs typeface="Times New Roman"/>
              </a:rPr>
              <a:t>Qn</a:t>
            </a:r>
          </a:p>
        </p:txBody>
      </p:sp>
      <p:sp>
        <p:nvSpPr>
          <p:cNvPr id="2" name="¬P">
            <a:extLst>
              <a:ext uri="{FF2B5EF4-FFF2-40B4-BE49-F238E27FC236}">
                <a16:creationId xmlns:a16="http://schemas.microsoft.com/office/drawing/2014/main" id="{67100BC3-D7F8-12E9-A9CE-C49D2AB798C9}"/>
              </a:ext>
            </a:extLst>
          </p:cNvPr>
          <p:cNvSpPr>
            <a:spLocks noGrp="1"/>
          </p:cNvSpPr>
          <p:nvPr/>
        </p:nvSpPr>
        <p:spPr>
          <a:xfrm>
            <a:off x="11314248" y="5417668"/>
            <a:ext cx="1755504" cy="16551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¬</a:t>
            </a: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5" name="Q1 ∨ Q2 ∨ ...∨ Qn">
            <a:extLst>
              <a:ext uri="{FF2B5EF4-FFF2-40B4-BE49-F238E27FC236}">
                <a16:creationId xmlns:a16="http://schemas.microsoft.com/office/drawing/2014/main" id="{D83A7E58-6019-146B-F071-E0B13F3B1840}"/>
              </a:ext>
            </a:extLst>
          </p:cNvPr>
          <p:cNvSpPr>
            <a:spLocks noGrp="1"/>
          </p:cNvSpPr>
          <p:nvPr/>
        </p:nvSpPr>
        <p:spPr>
          <a:xfrm>
            <a:off x="7242962" y="9157934"/>
            <a:ext cx="9898076" cy="180596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Q1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Q2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...∨ </a:t>
            </a:r>
            <a:r>
              <a:rPr i="1">
                <a:latin typeface="Times New Roman"/>
                <a:ea typeface="Times New Roman"/>
                <a:cs typeface="Times New Roman"/>
              </a:rPr>
              <a:t>Qn</a:t>
            </a:r>
          </a:p>
        </p:txBody>
      </p:sp>
    </p:spTree>
    <p:extLst>
      <p:ext uri="{BB962C8B-B14F-4D97-AF65-F5344CB8AC3E}">
        <p14:creationId xmlns:p14="http://schemas.microsoft.com/office/powerpoint/2010/main" val="2567991523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AAEB8-3EF1-5126-B841-E12243046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1D2089-96EE-10D2-5F29-4D8F9367779E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763627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2C7D5-FE5A-A51F-CC80-006421684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AAF6C1-6C22-02EC-49AA-7E39C57FCF66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(Ron is in the Great Hall) ∨ (Hermione is in the library)">
            <a:extLst>
              <a:ext uri="{FF2B5EF4-FFF2-40B4-BE49-F238E27FC236}">
                <a16:creationId xmlns:a16="http://schemas.microsoft.com/office/drawing/2014/main" id="{2F51746A-CB5C-83A8-6AC6-65BB35B2E0DC}"/>
              </a:ext>
            </a:extLst>
          </p:cNvPr>
          <p:cNvSpPr>
            <a:spLocks noGrp="1"/>
          </p:cNvSpPr>
          <p:nvPr/>
        </p:nvSpPr>
        <p:spPr>
          <a:xfrm>
            <a:off x="615914" y="3161994"/>
            <a:ext cx="23152172" cy="11182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6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(Ron está no Salão Principal) ∨ (Hermione está na biblioteca)</a:t>
            </a:r>
          </a:p>
        </p:txBody>
      </p:sp>
    </p:spTree>
    <p:extLst>
      <p:ext uri="{BB962C8B-B14F-4D97-AF65-F5344CB8AC3E}">
        <p14:creationId xmlns:p14="http://schemas.microsoft.com/office/powerpoint/2010/main" val="4209392264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D8BAA-0293-6AC6-C5A6-29CA84A9E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DCDAD5C-66AA-E0F5-7D83-CA9F3ED39BDC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(Ron is in the Great Hall) ∨ (Hermione is in the library)">
            <a:extLst>
              <a:ext uri="{FF2B5EF4-FFF2-40B4-BE49-F238E27FC236}">
                <a16:creationId xmlns:a16="http://schemas.microsoft.com/office/drawing/2014/main" id="{49692AE0-97C3-F772-9859-3400383BEE1C}"/>
              </a:ext>
            </a:extLst>
          </p:cNvPr>
          <p:cNvSpPr>
            <a:spLocks noGrp="1"/>
          </p:cNvSpPr>
          <p:nvPr/>
        </p:nvSpPr>
        <p:spPr>
          <a:xfrm>
            <a:off x="615914" y="3161994"/>
            <a:ext cx="23152172" cy="11182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6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(Ron está no Salão Principal) ∨ (Hermione está na biblioteca)</a:t>
            </a:r>
          </a:p>
        </p:txBody>
      </p:sp>
      <p:sp>
        <p:nvSpPr>
          <p:cNvPr id="3" name="(Ron is not in the Great Hall) ∨ (Harry is sleeping)">
            <a:extLst>
              <a:ext uri="{FF2B5EF4-FFF2-40B4-BE49-F238E27FC236}">
                <a16:creationId xmlns:a16="http://schemas.microsoft.com/office/drawing/2014/main" id="{E1FE7014-BA05-919F-BD4B-6F2C9D7F54AA}"/>
              </a:ext>
            </a:extLst>
          </p:cNvPr>
          <p:cNvSpPr>
            <a:spLocks noGrp="1"/>
          </p:cNvSpPr>
          <p:nvPr/>
        </p:nvSpPr>
        <p:spPr>
          <a:xfrm>
            <a:off x="1078486" y="5737536"/>
            <a:ext cx="21975568" cy="11182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6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(Ron não está no Salão Principal) ∨ (Harry está dormindo)</a:t>
            </a:r>
          </a:p>
        </p:txBody>
      </p:sp>
    </p:spTree>
    <p:extLst>
      <p:ext uri="{BB962C8B-B14F-4D97-AF65-F5344CB8AC3E}">
        <p14:creationId xmlns:p14="http://schemas.microsoft.com/office/powerpoint/2010/main" val="3300285722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6E17F-78D5-6389-AB99-D40F8C7F1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ECB6153-BA54-A75E-09C5-12E2C0FEDB86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(Ron is in the Great Hall) ∨ (Hermione is in the library)">
            <a:extLst>
              <a:ext uri="{FF2B5EF4-FFF2-40B4-BE49-F238E27FC236}">
                <a16:creationId xmlns:a16="http://schemas.microsoft.com/office/drawing/2014/main" id="{E1FAFD6B-4752-5D8D-6E28-15C5692B11E5}"/>
              </a:ext>
            </a:extLst>
          </p:cNvPr>
          <p:cNvSpPr>
            <a:spLocks noGrp="1"/>
          </p:cNvSpPr>
          <p:nvPr/>
        </p:nvSpPr>
        <p:spPr>
          <a:xfrm>
            <a:off x="615914" y="3161994"/>
            <a:ext cx="23152172" cy="11182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6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(Ron está no Salão Principal) ∨ (Hermione está na biblioteca)</a:t>
            </a:r>
          </a:p>
        </p:txBody>
      </p:sp>
      <p:sp>
        <p:nvSpPr>
          <p:cNvPr id="3" name="(Ron is not in the Great Hall) ∨ (Harry is sleeping)">
            <a:extLst>
              <a:ext uri="{FF2B5EF4-FFF2-40B4-BE49-F238E27FC236}">
                <a16:creationId xmlns:a16="http://schemas.microsoft.com/office/drawing/2014/main" id="{3B1B32B6-FBC5-44E4-8900-A4A46FC5B143}"/>
              </a:ext>
            </a:extLst>
          </p:cNvPr>
          <p:cNvSpPr>
            <a:spLocks noGrp="1"/>
          </p:cNvSpPr>
          <p:nvPr/>
        </p:nvSpPr>
        <p:spPr>
          <a:xfrm>
            <a:off x="1078486" y="5737536"/>
            <a:ext cx="21975568" cy="11182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6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(Ron não está no Salão Principal) ∨ (Harry está dormindo)</a:t>
            </a:r>
          </a:p>
        </p:txBody>
      </p:sp>
      <p:sp>
        <p:nvSpPr>
          <p:cNvPr id="5" name="(Hermione is in the library) ∨ (Harry is sleeping)">
            <a:extLst>
              <a:ext uri="{FF2B5EF4-FFF2-40B4-BE49-F238E27FC236}">
                <a16:creationId xmlns:a16="http://schemas.microsoft.com/office/drawing/2014/main" id="{BE267041-A5A8-0238-D351-A9EDAE5D9EF2}"/>
              </a:ext>
            </a:extLst>
          </p:cNvPr>
          <p:cNvSpPr>
            <a:spLocks noGrp="1"/>
          </p:cNvSpPr>
          <p:nvPr/>
        </p:nvSpPr>
        <p:spPr>
          <a:xfrm>
            <a:off x="1879187" y="9501790"/>
            <a:ext cx="20374167" cy="11182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6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(Hermione está na biblioteca) ∨ (Harry está dormindo)</a:t>
            </a:r>
          </a:p>
        </p:txBody>
      </p:sp>
    </p:spTree>
    <p:extLst>
      <p:ext uri="{BB962C8B-B14F-4D97-AF65-F5344CB8AC3E}">
        <p14:creationId xmlns:p14="http://schemas.microsoft.com/office/powerpoint/2010/main" val="3854977865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248EC-CC5D-E796-75A3-6F11774CD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0C570D2-09C7-429F-B8CA-BCB3DD1AC395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158518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56E92-1AAF-C652-09BE-389A8732A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688A538-A181-7980-81B6-026F1DC8A918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 ∨ Q">
            <a:extLst>
              <a:ext uri="{FF2B5EF4-FFF2-40B4-BE49-F238E27FC236}">
                <a16:creationId xmlns:a16="http://schemas.microsoft.com/office/drawing/2014/main" id="{6A445D4F-A727-7A44-F90A-54A4ED6D3502}"/>
              </a:ext>
            </a:extLst>
          </p:cNvPr>
          <p:cNvSpPr>
            <a:spLocks noGrp="1"/>
          </p:cNvSpPr>
          <p:nvPr/>
        </p:nvSpPr>
        <p:spPr>
          <a:xfrm>
            <a:off x="10439759" y="2870010"/>
            <a:ext cx="3504482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188942008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A78F1-C1B0-4B79-DF44-15012D2ED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ECB790-3537-8055-CEE7-E5994C9D28F6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 ∨ Q">
            <a:extLst>
              <a:ext uri="{FF2B5EF4-FFF2-40B4-BE49-F238E27FC236}">
                <a16:creationId xmlns:a16="http://schemas.microsoft.com/office/drawing/2014/main" id="{EA389919-5DF0-CB09-EBE2-2D6A7BD8DF35}"/>
              </a:ext>
            </a:extLst>
          </p:cNvPr>
          <p:cNvSpPr>
            <a:spLocks noGrp="1"/>
          </p:cNvSpPr>
          <p:nvPr/>
        </p:nvSpPr>
        <p:spPr>
          <a:xfrm>
            <a:off x="10439759" y="2870010"/>
            <a:ext cx="3504482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3" name="¬P ∨ R">
            <a:extLst>
              <a:ext uri="{FF2B5EF4-FFF2-40B4-BE49-F238E27FC236}">
                <a16:creationId xmlns:a16="http://schemas.microsoft.com/office/drawing/2014/main" id="{7B4A1CA1-A599-366F-18C2-DA49EA176402}"/>
              </a:ext>
            </a:extLst>
          </p:cNvPr>
          <p:cNvSpPr>
            <a:spLocks noGrp="1"/>
          </p:cNvSpPr>
          <p:nvPr/>
        </p:nvSpPr>
        <p:spPr>
          <a:xfrm>
            <a:off x="10123592" y="5394134"/>
            <a:ext cx="4136816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¬</a:t>
            </a: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92639891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B9D77-B9F1-0182-008A-20B1501DF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256C59-E5AB-F1B0-FD6B-4862A05100BD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 ∨ Q">
            <a:extLst>
              <a:ext uri="{FF2B5EF4-FFF2-40B4-BE49-F238E27FC236}">
                <a16:creationId xmlns:a16="http://schemas.microsoft.com/office/drawing/2014/main" id="{6AF5B62F-9641-C7E0-2FDD-FBB72E5DB48C}"/>
              </a:ext>
            </a:extLst>
          </p:cNvPr>
          <p:cNvSpPr>
            <a:spLocks noGrp="1"/>
          </p:cNvSpPr>
          <p:nvPr/>
        </p:nvSpPr>
        <p:spPr>
          <a:xfrm>
            <a:off x="10439759" y="2870010"/>
            <a:ext cx="3504482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3" name="Q ∨ R">
            <a:extLst>
              <a:ext uri="{FF2B5EF4-FFF2-40B4-BE49-F238E27FC236}">
                <a16:creationId xmlns:a16="http://schemas.microsoft.com/office/drawing/2014/main" id="{204A0CB2-A07A-7701-2426-841A14418BD5}"/>
              </a:ext>
            </a:extLst>
          </p:cNvPr>
          <p:cNvSpPr>
            <a:spLocks noGrp="1"/>
          </p:cNvSpPr>
          <p:nvPr/>
        </p:nvSpPr>
        <p:spPr>
          <a:xfrm>
            <a:off x="10439759" y="9209806"/>
            <a:ext cx="3504482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Q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5" name="¬P ∨ R">
            <a:extLst>
              <a:ext uri="{FF2B5EF4-FFF2-40B4-BE49-F238E27FC236}">
                <a16:creationId xmlns:a16="http://schemas.microsoft.com/office/drawing/2014/main" id="{1BDDB195-25BA-BBA1-414C-D5BD41A49EE2}"/>
              </a:ext>
            </a:extLst>
          </p:cNvPr>
          <p:cNvSpPr>
            <a:spLocks noGrp="1"/>
          </p:cNvSpPr>
          <p:nvPr/>
        </p:nvSpPr>
        <p:spPr>
          <a:xfrm>
            <a:off x="10123592" y="5394134"/>
            <a:ext cx="4136816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¬</a:t>
            </a: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69236986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E1D31-9FE7-A37C-88D4-950448E71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FAE1C7-CD1C-4E01-3666-EB4E10006F69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868667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188E-85A6-2F3A-C64F-FD62D450E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733F750-D89C-38C1-7051-2937480FF846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 ∨ Q1 ∨ Q2 ∨ ...∨ Qn">
            <a:extLst>
              <a:ext uri="{FF2B5EF4-FFF2-40B4-BE49-F238E27FC236}">
                <a16:creationId xmlns:a16="http://schemas.microsoft.com/office/drawing/2014/main" id="{A427F27A-D3DD-BFC7-C97E-19F109302C21}"/>
              </a:ext>
            </a:extLst>
          </p:cNvPr>
          <p:cNvSpPr>
            <a:spLocks noGrp="1"/>
          </p:cNvSpPr>
          <p:nvPr/>
        </p:nvSpPr>
        <p:spPr>
          <a:xfrm>
            <a:off x="5656557" y="2823440"/>
            <a:ext cx="13070887" cy="179536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Q1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Q2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...∨ </a:t>
            </a:r>
            <a:r>
              <a:rPr i="1">
                <a:latin typeface="Times New Roman"/>
                <a:ea typeface="Times New Roman"/>
                <a:cs typeface="Times New Roman"/>
              </a:rPr>
              <a:t>Qn</a:t>
            </a:r>
          </a:p>
        </p:txBody>
      </p:sp>
    </p:spTree>
    <p:extLst>
      <p:ext uri="{BB962C8B-B14F-4D97-AF65-F5344CB8AC3E}">
        <p14:creationId xmlns:p14="http://schemas.microsoft.com/office/powerpoint/2010/main" val="60986615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E73BC-EA4B-D08E-8302-D29921E7A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9B67AA-F4BB-59C8-F129-C7C63D320845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 ∨ Q1 ∨ Q2 ∨ ...∨ Qn">
            <a:extLst>
              <a:ext uri="{FF2B5EF4-FFF2-40B4-BE49-F238E27FC236}">
                <a16:creationId xmlns:a16="http://schemas.microsoft.com/office/drawing/2014/main" id="{2D7CFBF2-4E24-6F96-D552-93CFF99358B4}"/>
              </a:ext>
            </a:extLst>
          </p:cNvPr>
          <p:cNvSpPr>
            <a:spLocks noGrp="1"/>
          </p:cNvSpPr>
          <p:nvPr/>
        </p:nvSpPr>
        <p:spPr>
          <a:xfrm>
            <a:off x="5656557" y="2823440"/>
            <a:ext cx="13070887" cy="179536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Q1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Q2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...∨ </a:t>
            </a:r>
            <a:r>
              <a:rPr i="1">
                <a:latin typeface="Times New Roman"/>
                <a:ea typeface="Times New Roman"/>
                <a:cs typeface="Times New Roman"/>
              </a:rPr>
              <a:t>Qn</a:t>
            </a:r>
          </a:p>
        </p:txBody>
      </p:sp>
      <p:sp>
        <p:nvSpPr>
          <p:cNvPr id="3" name="¬P ∨ R1 ∨ R2 ∨ ...∨ Rm">
            <a:extLst>
              <a:ext uri="{FF2B5EF4-FFF2-40B4-BE49-F238E27FC236}">
                <a16:creationId xmlns:a16="http://schemas.microsoft.com/office/drawing/2014/main" id="{2C9109A9-10C2-8EA3-E922-0A356AF5F0E1}"/>
              </a:ext>
            </a:extLst>
          </p:cNvPr>
          <p:cNvSpPr>
            <a:spLocks noGrp="1"/>
          </p:cNvSpPr>
          <p:nvPr/>
        </p:nvSpPr>
        <p:spPr>
          <a:xfrm>
            <a:off x="5318324" y="5347564"/>
            <a:ext cx="13747353" cy="179536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¬</a:t>
            </a: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R1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R2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...∨ </a:t>
            </a:r>
            <a:r>
              <a:rPr i="1">
                <a:latin typeface="Times New Roman"/>
                <a:ea typeface="Times New Roman"/>
                <a:cs typeface="Times New Roman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4128057791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AD9E1-CAD4-EA27-5841-B945BE602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161F23-1B2B-0106-249B-CE0131FFEE12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 ∨ Q1 ∨ Q2 ∨ ...∨ Qn">
            <a:extLst>
              <a:ext uri="{FF2B5EF4-FFF2-40B4-BE49-F238E27FC236}">
                <a16:creationId xmlns:a16="http://schemas.microsoft.com/office/drawing/2014/main" id="{4EB7EF6E-D950-2216-CCD2-9B941317021C}"/>
              </a:ext>
            </a:extLst>
          </p:cNvPr>
          <p:cNvSpPr>
            <a:spLocks noGrp="1"/>
          </p:cNvSpPr>
          <p:nvPr/>
        </p:nvSpPr>
        <p:spPr>
          <a:xfrm>
            <a:off x="5656557" y="2823440"/>
            <a:ext cx="13070887" cy="179536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Q1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Q2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...∨ </a:t>
            </a:r>
            <a:r>
              <a:rPr i="1">
                <a:latin typeface="Times New Roman"/>
                <a:ea typeface="Times New Roman"/>
                <a:cs typeface="Times New Roman"/>
              </a:rPr>
              <a:t>Qn</a:t>
            </a:r>
          </a:p>
        </p:txBody>
      </p:sp>
      <p:sp>
        <p:nvSpPr>
          <p:cNvPr id="3" name="¬P ∨ R1 ∨ R2 ∨ ...∨ Rm">
            <a:extLst>
              <a:ext uri="{FF2B5EF4-FFF2-40B4-BE49-F238E27FC236}">
                <a16:creationId xmlns:a16="http://schemas.microsoft.com/office/drawing/2014/main" id="{D5D9C1AA-2DED-66D6-A3E7-FB0985A15FDF}"/>
              </a:ext>
            </a:extLst>
          </p:cNvPr>
          <p:cNvSpPr>
            <a:spLocks noGrp="1"/>
          </p:cNvSpPr>
          <p:nvPr/>
        </p:nvSpPr>
        <p:spPr>
          <a:xfrm>
            <a:off x="5318324" y="5347564"/>
            <a:ext cx="13747353" cy="179536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¬</a:t>
            </a: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R1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R2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...∨ </a:t>
            </a:r>
            <a:r>
              <a:rPr i="1">
                <a:latin typeface="Times New Roman"/>
                <a:ea typeface="Times New Roman"/>
                <a:cs typeface="Times New Roman"/>
              </a:rPr>
              <a:t>Rm</a:t>
            </a:r>
          </a:p>
        </p:txBody>
      </p:sp>
      <p:sp>
        <p:nvSpPr>
          <p:cNvPr id="5" name="Q1 ∨ Q2 ∨ ...∨ Qn ∨ R1 ∨ R2 ∨ ...∨ Rm">
            <a:extLst>
              <a:ext uri="{FF2B5EF4-FFF2-40B4-BE49-F238E27FC236}">
                <a16:creationId xmlns:a16="http://schemas.microsoft.com/office/drawing/2014/main" id="{78BCBBB7-E234-DEA8-2789-7348BF47F40A}"/>
              </a:ext>
            </a:extLst>
          </p:cNvPr>
          <p:cNvSpPr>
            <a:spLocks noGrp="1"/>
          </p:cNvSpPr>
          <p:nvPr/>
        </p:nvSpPr>
        <p:spPr>
          <a:xfrm>
            <a:off x="882013" y="9031157"/>
            <a:ext cx="22619975" cy="179536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Q1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Q2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...∨ </a:t>
            </a:r>
            <a:r>
              <a:rPr i="1">
                <a:latin typeface="Times New Roman"/>
                <a:ea typeface="Times New Roman"/>
                <a:cs typeface="Times New Roman"/>
              </a:rPr>
              <a:t>Qn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R1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R2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...∨ </a:t>
            </a:r>
            <a:r>
              <a:rPr i="1">
                <a:latin typeface="Times New Roman"/>
                <a:ea typeface="Times New Roman"/>
                <a:cs typeface="Times New Roman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4220326855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clause">
            <a:extLst>
              <a:ext uri="{FF2B5EF4-FFF2-40B4-BE49-F238E27FC236}">
                <a16:creationId xmlns:a16="http://schemas.microsoft.com/office/drawing/2014/main" id="{0DDA9EF0-5BBD-4341-A2BB-70B0D41E5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cláusula</a:t>
            </a:r>
          </a:p>
        </p:txBody>
      </p:sp>
      <p:sp>
        <p:nvSpPr>
          <p:cNvPr id="510" name="a disjunction of literals…">
            <a:extLst>
              <a:ext uri="{FF2B5EF4-FFF2-40B4-BE49-F238E27FC236}">
                <a16:creationId xmlns:a16="http://schemas.microsoft.com/office/drawing/2014/main" id="{4876EE89-3C2F-4F06-B9DB-7E71F755B9EE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disjunção</a:t>
            </a:r>
            <a:r>
              <a:rPr dirty="0"/>
              <a:t> de </a:t>
            </a:r>
            <a:r>
              <a:rPr lang="pt-BR" dirty="0"/>
              <a:t>proposições (</a:t>
            </a:r>
            <a:r>
              <a:rPr dirty="0" err="1"/>
              <a:t>literais</a:t>
            </a:r>
            <a:r>
              <a:rPr lang="pt-BR" dirty="0"/>
              <a:t>)</a:t>
            </a:r>
            <a:endParaRPr dirty="0"/>
          </a:p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endParaRPr dirty="0"/>
          </a:p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exemplo</a:t>
            </a:r>
            <a:r>
              <a:rPr lang="pt-BR" dirty="0"/>
              <a:t>:</a:t>
            </a:r>
            <a:r>
              <a:rPr dirty="0"/>
              <a:t> </a:t>
            </a:r>
            <a:r>
              <a:rPr i="1" dirty="0"/>
              <a:t>P</a:t>
            </a:r>
            <a:r>
              <a:rPr dirty="0"/>
              <a:t> ∨ </a:t>
            </a:r>
            <a:r>
              <a:rPr i="1" dirty="0"/>
              <a:t>Q</a:t>
            </a:r>
            <a:r>
              <a:rPr dirty="0"/>
              <a:t> ∨ </a:t>
            </a:r>
            <a:r>
              <a:rPr i="1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26263122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conjunctive normal form">
            <a:extLst>
              <a:ext uri="{FF2B5EF4-FFF2-40B4-BE49-F238E27FC236}">
                <a16:creationId xmlns:a16="http://schemas.microsoft.com/office/drawing/2014/main" id="{A2F2AC55-AE53-4743-AD64-E3BD76CA9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rPr dirty="0"/>
              <a:t>forma normal </a:t>
            </a:r>
            <a:r>
              <a:rPr dirty="0" err="1"/>
              <a:t>conjuntiva</a:t>
            </a:r>
            <a:r>
              <a:rPr lang="pt-BR" dirty="0"/>
              <a:t> (CNF)</a:t>
            </a:r>
            <a:endParaRPr dirty="0"/>
          </a:p>
        </p:txBody>
      </p:sp>
      <p:sp>
        <p:nvSpPr>
          <p:cNvPr id="513" name="logical sentence that is a conjunction of clauses…">
            <a:extLst>
              <a:ext uri="{FF2B5EF4-FFF2-40B4-BE49-F238E27FC236}">
                <a16:creationId xmlns:a16="http://schemas.microsoft.com/office/drawing/2014/main" id="{934C0191-3F00-4BF6-AC31-6F1FEFA85E70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5524545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rPr dirty="0" err="1"/>
              <a:t>sentença</a:t>
            </a:r>
            <a:r>
              <a:rPr dirty="0"/>
              <a:t> </a:t>
            </a:r>
            <a:r>
              <a:rPr dirty="0" err="1"/>
              <a:t>lógica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conjunção</a:t>
            </a:r>
            <a:r>
              <a:rPr dirty="0"/>
              <a:t> de </a:t>
            </a:r>
            <a:r>
              <a:rPr dirty="0" err="1"/>
              <a:t>cláusulas</a:t>
            </a:r>
            <a:endParaRPr dirty="0"/>
          </a:p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endParaRPr dirty="0"/>
          </a:p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exemplo</a:t>
            </a:r>
            <a:r>
              <a:rPr lang="pt-BR" dirty="0"/>
              <a:t>:</a:t>
            </a:r>
            <a:r>
              <a:rPr dirty="0"/>
              <a:t> (</a:t>
            </a:r>
            <a:r>
              <a:rPr i="1" dirty="0"/>
              <a:t>A</a:t>
            </a:r>
            <a:r>
              <a:rPr dirty="0"/>
              <a:t> ∨ </a:t>
            </a:r>
            <a:r>
              <a:rPr i="1" dirty="0"/>
              <a:t>B</a:t>
            </a:r>
            <a:r>
              <a:rPr dirty="0"/>
              <a:t> ∨ </a:t>
            </a:r>
            <a:r>
              <a:rPr i="1" dirty="0"/>
              <a:t>C</a:t>
            </a:r>
            <a:r>
              <a:rPr dirty="0"/>
              <a:t>) ∧ (</a:t>
            </a:r>
            <a:r>
              <a:rPr i="1" dirty="0"/>
              <a:t>D</a:t>
            </a:r>
            <a:r>
              <a:rPr dirty="0"/>
              <a:t> ∨ </a:t>
            </a:r>
            <a:r>
              <a:rPr i="1" dirty="0"/>
              <a:t>¬E</a:t>
            </a:r>
            <a:r>
              <a:rPr dirty="0"/>
              <a:t>) ∧ (</a:t>
            </a:r>
            <a:r>
              <a:rPr i="1" dirty="0"/>
              <a:t>F</a:t>
            </a:r>
            <a:r>
              <a:rPr dirty="0"/>
              <a:t> ∨ </a:t>
            </a:r>
            <a:r>
              <a:rPr i="1" dirty="0"/>
              <a:t>G</a:t>
            </a:r>
            <a:r>
              <a:rPr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69115815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Conversion to CNF">
            <a:extLst>
              <a:ext uri="{FF2B5EF4-FFF2-40B4-BE49-F238E27FC236}">
                <a16:creationId xmlns:a16="http://schemas.microsoft.com/office/drawing/2014/main" id="{E077D275-67EA-4466-AED7-9B4EB13A5D4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 err="1"/>
              <a:t>Conversão</a:t>
            </a:r>
            <a:r>
              <a:rPr dirty="0"/>
              <a:t> para CNF</a:t>
            </a:r>
          </a:p>
        </p:txBody>
      </p:sp>
    </p:spTree>
    <p:extLst>
      <p:ext uri="{BB962C8B-B14F-4D97-AF65-F5344CB8AC3E}">
        <p14:creationId xmlns:p14="http://schemas.microsoft.com/office/powerpoint/2010/main" val="64060798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51E22-D1D9-9EA8-0E4D-2CCCB3F97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Conversion to CNF">
            <a:extLst>
              <a:ext uri="{FF2B5EF4-FFF2-40B4-BE49-F238E27FC236}">
                <a16:creationId xmlns:a16="http://schemas.microsoft.com/office/drawing/2014/main" id="{E405AC73-8C16-6965-52A1-CA9973B4438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 err="1"/>
              <a:t>Conversão</a:t>
            </a:r>
            <a:r>
              <a:rPr dirty="0"/>
              <a:t> para CNF</a:t>
            </a:r>
          </a:p>
        </p:txBody>
      </p:sp>
      <p:sp>
        <p:nvSpPr>
          <p:cNvPr id="516" name="Eliminate biconditionals…">
            <a:extLst>
              <a:ext uri="{FF2B5EF4-FFF2-40B4-BE49-F238E27FC236}">
                <a16:creationId xmlns:a16="http://schemas.microsoft.com/office/drawing/2014/main" id="{D637B3E9-986E-89E7-4071-2EB018B00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 anchorCtr="0"/>
          <a:lstStyle/>
          <a:p>
            <a:r>
              <a:rPr dirty="0"/>
              <a:t>Elimine </a:t>
            </a:r>
            <a:r>
              <a:rPr dirty="0" err="1"/>
              <a:t>bicondicionais</a:t>
            </a:r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2970989731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C6E92-1A40-25E4-4420-2447A8E0A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Conversion to CNF">
            <a:extLst>
              <a:ext uri="{FF2B5EF4-FFF2-40B4-BE49-F238E27FC236}">
                <a16:creationId xmlns:a16="http://schemas.microsoft.com/office/drawing/2014/main" id="{4148DFE6-626F-8AF7-7E8D-CDB616E34AD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 err="1"/>
              <a:t>Conversão</a:t>
            </a:r>
            <a:r>
              <a:rPr dirty="0"/>
              <a:t> para CNF</a:t>
            </a:r>
          </a:p>
        </p:txBody>
      </p:sp>
      <p:sp>
        <p:nvSpPr>
          <p:cNvPr id="516" name="Eliminate biconditionals…">
            <a:extLst>
              <a:ext uri="{FF2B5EF4-FFF2-40B4-BE49-F238E27FC236}">
                <a16:creationId xmlns:a16="http://schemas.microsoft.com/office/drawing/2014/main" id="{0AF80972-7DF5-866D-BC5F-570148137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 anchorCtr="0"/>
          <a:lstStyle/>
          <a:p>
            <a:r>
              <a:rPr dirty="0"/>
              <a:t>Elimine </a:t>
            </a:r>
            <a:r>
              <a:rPr dirty="0" err="1"/>
              <a:t>bicondicionais</a:t>
            </a:r>
            <a:endParaRPr lang="en-BR" dirty="0"/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 err="1"/>
              <a:t>transforme</a:t>
            </a:r>
            <a:r>
              <a:rPr lang="en-US" dirty="0"/>
              <a:t> (</a:t>
            </a:r>
            <a:r>
              <a:rPr lang="el-GR" i="1" dirty="0"/>
              <a:t>α</a:t>
            </a:r>
            <a:r>
              <a:rPr lang="el-GR" dirty="0"/>
              <a:t> </a:t>
            </a:r>
            <a:r>
              <a:rPr lang="el-GR" i="1" dirty="0">
                <a:latin typeface="Times New Roman"/>
                <a:ea typeface="Times New Roman"/>
                <a:cs typeface="Times New Roman"/>
              </a:rPr>
              <a:t>↔</a:t>
            </a:r>
            <a:r>
              <a:rPr lang="el-GR" dirty="0"/>
              <a:t> </a:t>
            </a:r>
            <a:r>
              <a:rPr lang="el-GR" i="1" dirty="0"/>
              <a:t>β</a:t>
            </a:r>
            <a:r>
              <a:rPr lang="el-GR" dirty="0"/>
              <a:t>) </a:t>
            </a:r>
            <a:r>
              <a:rPr lang="en-US" dirty="0" err="1"/>
              <a:t>em</a:t>
            </a:r>
            <a:r>
              <a:rPr lang="en-US" dirty="0"/>
              <a:t> (</a:t>
            </a:r>
            <a:r>
              <a:rPr lang="el-GR" i="1" dirty="0"/>
              <a:t>α</a:t>
            </a:r>
            <a:r>
              <a:rPr lang="el-GR" dirty="0"/>
              <a:t> →  </a:t>
            </a:r>
            <a:r>
              <a:rPr lang="el-GR" i="1" dirty="0"/>
              <a:t>β</a:t>
            </a:r>
            <a:r>
              <a:rPr lang="el-GR" dirty="0"/>
              <a:t>) ∧ (</a:t>
            </a:r>
            <a:r>
              <a:rPr lang="el-GR" i="1" dirty="0"/>
              <a:t>β</a:t>
            </a:r>
            <a:r>
              <a:rPr lang="el-GR" dirty="0"/>
              <a:t> → </a:t>
            </a:r>
            <a:r>
              <a:rPr lang="el-GR" i="1" dirty="0"/>
              <a:t>α</a:t>
            </a:r>
            <a:r>
              <a:rPr lang="el-G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32429819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88F8B-4C10-B67A-B03F-B9C1342A0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Conversion to CNF">
            <a:extLst>
              <a:ext uri="{FF2B5EF4-FFF2-40B4-BE49-F238E27FC236}">
                <a16:creationId xmlns:a16="http://schemas.microsoft.com/office/drawing/2014/main" id="{0573A924-11C8-4437-13EA-95BB8582A39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 err="1"/>
              <a:t>Conversão</a:t>
            </a:r>
            <a:r>
              <a:rPr dirty="0"/>
              <a:t> para CNF</a:t>
            </a:r>
          </a:p>
        </p:txBody>
      </p:sp>
      <p:sp>
        <p:nvSpPr>
          <p:cNvPr id="516" name="Eliminate biconditionals…">
            <a:extLst>
              <a:ext uri="{FF2B5EF4-FFF2-40B4-BE49-F238E27FC236}">
                <a16:creationId xmlns:a16="http://schemas.microsoft.com/office/drawing/2014/main" id="{FA1B2D2C-F386-070F-91DE-01FC9126F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 anchorCtr="0"/>
          <a:lstStyle/>
          <a:p>
            <a:r>
              <a:rPr dirty="0"/>
              <a:t>Elimine </a:t>
            </a:r>
            <a:r>
              <a:rPr dirty="0" err="1"/>
              <a:t>bicondicionais</a:t>
            </a:r>
            <a:endParaRPr lang="en-BR" dirty="0"/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 err="1"/>
              <a:t>transforme</a:t>
            </a:r>
            <a:r>
              <a:rPr lang="en-US" dirty="0"/>
              <a:t> (</a:t>
            </a:r>
            <a:r>
              <a:rPr lang="el-GR" i="1" dirty="0"/>
              <a:t>α</a:t>
            </a:r>
            <a:r>
              <a:rPr lang="el-GR" dirty="0"/>
              <a:t> </a:t>
            </a:r>
            <a:r>
              <a:rPr lang="el-GR" i="1" dirty="0">
                <a:latin typeface="Times New Roman"/>
                <a:ea typeface="Times New Roman"/>
                <a:cs typeface="Times New Roman"/>
              </a:rPr>
              <a:t>↔</a:t>
            </a:r>
            <a:r>
              <a:rPr lang="el-GR" dirty="0"/>
              <a:t> </a:t>
            </a:r>
            <a:r>
              <a:rPr lang="el-GR" i="1" dirty="0"/>
              <a:t>β</a:t>
            </a:r>
            <a:r>
              <a:rPr lang="el-GR" dirty="0"/>
              <a:t>) </a:t>
            </a:r>
            <a:r>
              <a:rPr lang="en-US" dirty="0" err="1"/>
              <a:t>em</a:t>
            </a:r>
            <a:r>
              <a:rPr lang="en-US" dirty="0"/>
              <a:t> (</a:t>
            </a:r>
            <a:r>
              <a:rPr lang="el-GR" i="1" dirty="0"/>
              <a:t>α</a:t>
            </a:r>
            <a:r>
              <a:rPr lang="el-GR" dirty="0"/>
              <a:t> →  </a:t>
            </a:r>
            <a:r>
              <a:rPr lang="el-GR" i="1" dirty="0"/>
              <a:t>β</a:t>
            </a:r>
            <a:r>
              <a:rPr lang="el-GR" dirty="0"/>
              <a:t>) ∧ (</a:t>
            </a:r>
            <a:r>
              <a:rPr lang="el-GR" i="1" dirty="0"/>
              <a:t>β</a:t>
            </a:r>
            <a:r>
              <a:rPr lang="el-GR" dirty="0"/>
              <a:t> → </a:t>
            </a:r>
            <a:r>
              <a:rPr lang="el-GR" i="1" dirty="0"/>
              <a:t>α</a:t>
            </a:r>
            <a:r>
              <a:rPr lang="el-GR" dirty="0"/>
              <a:t>)</a:t>
            </a:r>
          </a:p>
          <a:p>
            <a:r>
              <a:rPr lang="en-US" dirty="0"/>
              <a:t>Elimine </a:t>
            </a:r>
            <a:r>
              <a:rPr lang="en-US" dirty="0" err="1"/>
              <a:t>implicações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485310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67DD7-B241-13E5-69AD-2D0D1960A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Conversion to CNF">
            <a:extLst>
              <a:ext uri="{FF2B5EF4-FFF2-40B4-BE49-F238E27FC236}">
                <a16:creationId xmlns:a16="http://schemas.microsoft.com/office/drawing/2014/main" id="{92660377-E6AA-F245-8F15-1A68232FA41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 err="1"/>
              <a:t>Conversão</a:t>
            </a:r>
            <a:r>
              <a:rPr dirty="0"/>
              <a:t> para CNF</a:t>
            </a:r>
          </a:p>
        </p:txBody>
      </p:sp>
      <p:sp>
        <p:nvSpPr>
          <p:cNvPr id="516" name="Eliminate biconditionals…">
            <a:extLst>
              <a:ext uri="{FF2B5EF4-FFF2-40B4-BE49-F238E27FC236}">
                <a16:creationId xmlns:a16="http://schemas.microsoft.com/office/drawing/2014/main" id="{F45800B3-8E1A-0C15-E6D4-C7679E4D1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 anchorCtr="0"/>
          <a:lstStyle/>
          <a:p>
            <a:r>
              <a:rPr dirty="0"/>
              <a:t>Elimine </a:t>
            </a:r>
            <a:r>
              <a:rPr dirty="0" err="1"/>
              <a:t>bicondicionais</a:t>
            </a:r>
            <a:endParaRPr lang="en-BR" dirty="0"/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 err="1"/>
              <a:t>transforme</a:t>
            </a:r>
            <a:r>
              <a:rPr lang="en-US" dirty="0"/>
              <a:t> (</a:t>
            </a:r>
            <a:r>
              <a:rPr lang="el-GR" i="1" dirty="0"/>
              <a:t>α</a:t>
            </a:r>
            <a:r>
              <a:rPr lang="el-GR" dirty="0"/>
              <a:t> </a:t>
            </a:r>
            <a:r>
              <a:rPr lang="el-GR" i="1" dirty="0">
                <a:latin typeface="Times New Roman"/>
                <a:ea typeface="Times New Roman"/>
                <a:cs typeface="Times New Roman"/>
              </a:rPr>
              <a:t>↔</a:t>
            </a:r>
            <a:r>
              <a:rPr lang="el-GR" dirty="0"/>
              <a:t> </a:t>
            </a:r>
            <a:r>
              <a:rPr lang="el-GR" i="1" dirty="0"/>
              <a:t>β</a:t>
            </a:r>
            <a:r>
              <a:rPr lang="el-GR" dirty="0"/>
              <a:t>) </a:t>
            </a:r>
            <a:r>
              <a:rPr lang="en-US" dirty="0" err="1"/>
              <a:t>em</a:t>
            </a:r>
            <a:r>
              <a:rPr lang="en-US" dirty="0"/>
              <a:t> (</a:t>
            </a:r>
            <a:r>
              <a:rPr lang="el-GR" i="1" dirty="0"/>
              <a:t>α</a:t>
            </a:r>
            <a:r>
              <a:rPr lang="el-GR" dirty="0"/>
              <a:t> →  </a:t>
            </a:r>
            <a:r>
              <a:rPr lang="el-GR" i="1" dirty="0"/>
              <a:t>β</a:t>
            </a:r>
            <a:r>
              <a:rPr lang="el-GR" dirty="0"/>
              <a:t>) ∧ (</a:t>
            </a:r>
            <a:r>
              <a:rPr lang="el-GR" i="1" dirty="0"/>
              <a:t>β</a:t>
            </a:r>
            <a:r>
              <a:rPr lang="el-GR" dirty="0"/>
              <a:t> → </a:t>
            </a:r>
            <a:r>
              <a:rPr lang="el-GR" i="1" dirty="0"/>
              <a:t>α</a:t>
            </a:r>
            <a:r>
              <a:rPr lang="el-GR" dirty="0"/>
              <a:t>)</a:t>
            </a:r>
          </a:p>
          <a:p>
            <a:r>
              <a:rPr lang="en-US" dirty="0"/>
              <a:t>Elimine </a:t>
            </a:r>
            <a:r>
              <a:rPr lang="en-US" dirty="0" err="1"/>
              <a:t>implicações</a:t>
            </a:r>
            <a:endParaRPr lang="en-US" dirty="0"/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 err="1"/>
              <a:t>transforme</a:t>
            </a:r>
            <a:r>
              <a:rPr lang="en-US" dirty="0"/>
              <a:t> (</a:t>
            </a:r>
            <a:r>
              <a:rPr lang="el-GR" i="1" dirty="0"/>
              <a:t>α</a:t>
            </a:r>
            <a:r>
              <a:rPr lang="el-GR" dirty="0"/>
              <a:t> →  </a:t>
            </a:r>
            <a:r>
              <a:rPr lang="el-GR" i="1" dirty="0"/>
              <a:t>β</a:t>
            </a:r>
            <a:r>
              <a:rPr lang="el-GR" dirty="0"/>
              <a:t>) </a:t>
            </a:r>
            <a:r>
              <a:rPr lang="en-US" dirty="0" err="1"/>
              <a:t>em</a:t>
            </a:r>
            <a:r>
              <a:rPr lang="en-US" dirty="0"/>
              <a:t> ¬</a:t>
            </a:r>
            <a:r>
              <a:rPr lang="el-GR" i="1" dirty="0"/>
              <a:t>α</a:t>
            </a:r>
            <a:r>
              <a:rPr lang="el-GR" dirty="0"/>
              <a:t> ∨ </a:t>
            </a:r>
            <a:r>
              <a:rPr lang="el-GR" i="1" dirty="0"/>
              <a:t>β</a:t>
            </a:r>
          </a:p>
        </p:txBody>
      </p:sp>
    </p:spTree>
    <p:extLst>
      <p:ext uri="{BB962C8B-B14F-4D97-AF65-F5344CB8AC3E}">
        <p14:creationId xmlns:p14="http://schemas.microsoft.com/office/powerpoint/2010/main" val="1711974732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E30A7-BF7F-60EA-0ABD-7D0AF7525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Conversion to CNF">
            <a:extLst>
              <a:ext uri="{FF2B5EF4-FFF2-40B4-BE49-F238E27FC236}">
                <a16:creationId xmlns:a16="http://schemas.microsoft.com/office/drawing/2014/main" id="{7FAAC050-B8CC-195D-80AF-353AAD5B809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 err="1"/>
              <a:t>Conversão</a:t>
            </a:r>
            <a:r>
              <a:rPr dirty="0"/>
              <a:t> para CNF</a:t>
            </a:r>
          </a:p>
        </p:txBody>
      </p:sp>
      <p:sp>
        <p:nvSpPr>
          <p:cNvPr id="516" name="Eliminate biconditionals…">
            <a:extLst>
              <a:ext uri="{FF2B5EF4-FFF2-40B4-BE49-F238E27FC236}">
                <a16:creationId xmlns:a16="http://schemas.microsoft.com/office/drawing/2014/main" id="{32C7B3DA-602D-0C25-045A-4656187DB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 anchorCtr="0"/>
          <a:lstStyle/>
          <a:p>
            <a:r>
              <a:rPr dirty="0"/>
              <a:t>Elimine </a:t>
            </a:r>
            <a:r>
              <a:rPr dirty="0" err="1"/>
              <a:t>bicondicionais</a:t>
            </a:r>
            <a:endParaRPr lang="en-BR" dirty="0"/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 err="1"/>
              <a:t>transforme</a:t>
            </a:r>
            <a:r>
              <a:rPr lang="en-US" dirty="0"/>
              <a:t> (</a:t>
            </a:r>
            <a:r>
              <a:rPr lang="el-GR" i="1" dirty="0"/>
              <a:t>α</a:t>
            </a:r>
            <a:r>
              <a:rPr lang="el-GR" dirty="0"/>
              <a:t> </a:t>
            </a:r>
            <a:r>
              <a:rPr lang="el-GR" i="1" dirty="0">
                <a:latin typeface="Times New Roman"/>
                <a:ea typeface="Times New Roman"/>
                <a:cs typeface="Times New Roman"/>
              </a:rPr>
              <a:t>↔</a:t>
            </a:r>
            <a:r>
              <a:rPr lang="el-GR" dirty="0"/>
              <a:t> </a:t>
            </a:r>
            <a:r>
              <a:rPr lang="el-GR" i="1" dirty="0"/>
              <a:t>β</a:t>
            </a:r>
            <a:r>
              <a:rPr lang="el-GR" dirty="0"/>
              <a:t>) </a:t>
            </a:r>
            <a:r>
              <a:rPr lang="en-US" dirty="0" err="1"/>
              <a:t>em</a:t>
            </a:r>
            <a:r>
              <a:rPr lang="en-US" dirty="0"/>
              <a:t> (</a:t>
            </a:r>
            <a:r>
              <a:rPr lang="el-GR" i="1" dirty="0"/>
              <a:t>α</a:t>
            </a:r>
            <a:r>
              <a:rPr lang="el-GR" dirty="0"/>
              <a:t> →  </a:t>
            </a:r>
            <a:r>
              <a:rPr lang="el-GR" i="1" dirty="0"/>
              <a:t>β</a:t>
            </a:r>
            <a:r>
              <a:rPr lang="el-GR" dirty="0"/>
              <a:t>) ∧ (</a:t>
            </a:r>
            <a:r>
              <a:rPr lang="el-GR" i="1" dirty="0"/>
              <a:t>β</a:t>
            </a:r>
            <a:r>
              <a:rPr lang="el-GR" dirty="0"/>
              <a:t> → </a:t>
            </a:r>
            <a:r>
              <a:rPr lang="el-GR" i="1" dirty="0"/>
              <a:t>α</a:t>
            </a:r>
            <a:r>
              <a:rPr lang="el-GR" dirty="0"/>
              <a:t>)</a:t>
            </a:r>
          </a:p>
          <a:p>
            <a:r>
              <a:rPr lang="en-US" dirty="0"/>
              <a:t>Elimine </a:t>
            </a:r>
            <a:r>
              <a:rPr lang="en-US" dirty="0" err="1"/>
              <a:t>implicações</a:t>
            </a:r>
            <a:endParaRPr lang="en-US" dirty="0"/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 err="1"/>
              <a:t>transforme</a:t>
            </a:r>
            <a:r>
              <a:rPr lang="en-US" dirty="0"/>
              <a:t> (</a:t>
            </a:r>
            <a:r>
              <a:rPr lang="el-GR" i="1" dirty="0"/>
              <a:t>α</a:t>
            </a:r>
            <a:r>
              <a:rPr lang="el-GR" dirty="0"/>
              <a:t> →  </a:t>
            </a:r>
            <a:r>
              <a:rPr lang="el-GR" i="1" dirty="0"/>
              <a:t>β</a:t>
            </a:r>
            <a:r>
              <a:rPr lang="el-GR" dirty="0"/>
              <a:t>) </a:t>
            </a:r>
            <a:r>
              <a:rPr lang="en-US" dirty="0" err="1"/>
              <a:t>em</a:t>
            </a:r>
            <a:r>
              <a:rPr lang="en-US" dirty="0"/>
              <a:t> ¬</a:t>
            </a:r>
            <a:r>
              <a:rPr lang="el-GR" i="1" dirty="0"/>
              <a:t>α</a:t>
            </a:r>
            <a:r>
              <a:rPr lang="el-GR" dirty="0"/>
              <a:t> ∨ </a:t>
            </a:r>
            <a:r>
              <a:rPr lang="el-GR" i="1" dirty="0"/>
              <a:t>β</a:t>
            </a:r>
          </a:p>
          <a:p>
            <a:r>
              <a:rPr lang="en-US" dirty="0"/>
              <a:t>Mova ¬ para </a:t>
            </a:r>
            <a:r>
              <a:rPr lang="en-US" dirty="0" err="1"/>
              <a:t>dentro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as Leis de De Morgan</a:t>
            </a:r>
          </a:p>
        </p:txBody>
      </p:sp>
    </p:spTree>
    <p:extLst>
      <p:ext uri="{BB962C8B-B14F-4D97-AF65-F5344CB8AC3E}">
        <p14:creationId xmlns:p14="http://schemas.microsoft.com/office/powerpoint/2010/main" val="117577591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D0E80-0244-3482-DC0B-11C17A844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Conversion to CNF">
            <a:extLst>
              <a:ext uri="{FF2B5EF4-FFF2-40B4-BE49-F238E27FC236}">
                <a16:creationId xmlns:a16="http://schemas.microsoft.com/office/drawing/2014/main" id="{4B6BAF34-6B98-E4C9-0EB7-0137ACE4D2A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 err="1"/>
              <a:t>Conversão</a:t>
            </a:r>
            <a:r>
              <a:rPr dirty="0"/>
              <a:t> para CNF</a:t>
            </a:r>
          </a:p>
        </p:txBody>
      </p:sp>
      <p:sp>
        <p:nvSpPr>
          <p:cNvPr id="516" name="Eliminate biconditionals…">
            <a:extLst>
              <a:ext uri="{FF2B5EF4-FFF2-40B4-BE49-F238E27FC236}">
                <a16:creationId xmlns:a16="http://schemas.microsoft.com/office/drawing/2014/main" id="{93514F14-FFD9-57EC-81BC-A2E91AD28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 anchorCtr="0"/>
          <a:lstStyle/>
          <a:p>
            <a:r>
              <a:rPr dirty="0"/>
              <a:t>Elimine </a:t>
            </a:r>
            <a:r>
              <a:rPr dirty="0" err="1"/>
              <a:t>bicondicionais</a:t>
            </a:r>
            <a:endParaRPr lang="en-BR" dirty="0"/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 err="1"/>
              <a:t>transforme</a:t>
            </a:r>
            <a:r>
              <a:rPr lang="en-US" dirty="0"/>
              <a:t> (</a:t>
            </a:r>
            <a:r>
              <a:rPr lang="el-GR" i="1" dirty="0"/>
              <a:t>α</a:t>
            </a:r>
            <a:r>
              <a:rPr lang="el-GR" dirty="0"/>
              <a:t> </a:t>
            </a:r>
            <a:r>
              <a:rPr lang="el-GR" i="1" dirty="0">
                <a:latin typeface="Times New Roman"/>
                <a:ea typeface="Times New Roman"/>
                <a:cs typeface="Times New Roman"/>
              </a:rPr>
              <a:t>↔</a:t>
            </a:r>
            <a:r>
              <a:rPr lang="el-GR" dirty="0"/>
              <a:t> </a:t>
            </a:r>
            <a:r>
              <a:rPr lang="el-GR" i="1" dirty="0"/>
              <a:t>β</a:t>
            </a:r>
            <a:r>
              <a:rPr lang="el-GR" dirty="0"/>
              <a:t>) </a:t>
            </a:r>
            <a:r>
              <a:rPr lang="en-US" dirty="0" err="1"/>
              <a:t>em</a:t>
            </a:r>
            <a:r>
              <a:rPr lang="en-US" dirty="0"/>
              <a:t> (</a:t>
            </a:r>
            <a:r>
              <a:rPr lang="el-GR" i="1" dirty="0"/>
              <a:t>α</a:t>
            </a:r>
            <a:r>
              <a:rPr lang="el-GR" dirty="0"/>
              <a:t> →  </a:t>
            </a:r>
            <a:r>
              <a:rPr lang="el-GR" i="1" dirty="0"/>
              <a:t>β</a:t>
            </a:r>
            <a:r>
              <a:rPr lang="el-GR" dirty="0"/>
              <a:t>) ∧ (</a:t>
            </a:r>
            <a:r>
              <a:rPr lang="el-GR" i="1" dirty="0"/>
              <a:t>β</a:t>
            </a:r>
            <a:r>
              <a:rPr lang="el-GR" dirty="0"/>
              <a:t> → </a:t>
            </a:r>
            <a:r>
              <a:rPr lang="el-GR" i="1" dirty="0"/>
              <a:t>α</a:t>
            </a:r>
            <a:r>
              <a:rPr lang="el-GR" dirty="0"/>
              <a:t>)</a:t>
            </a:r>
          </a:p>
          <a:p>
            <a:r>
              <a:rPr lang="en-US" dirty="0"/>
              <a:t>Elimine </a:t>
            </a:r>
            <a:r>
              <a:rPr lang="en-US" dirty="0" err="1"/>
              <a:t>implicações</a:t>
            </a:r>
            <a:endParaRPr lang="en-US" dirty="0"/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 err="1"/>
              <a:t>transforme</a:t>
            </a:r>
            <a:r>
              <a:rPr lang="en-US" dirty="0"/>
              <a:t> (</a:t>
            </a:r>
            <a:r>
              <a:rPr lang="el-GR" i="1" dirty="0"/>
              <a:t>α</a:t>
            </a:r>
            <a:r>
              <a:rPr lang="el-GR" dirty="0"/>
              <a:t> →  </a:t>
            </a:r>
            <a:r>
              <a:rPr lang="el-GR" i="1" dirty="0"/>
              <a:t>β</a:t>
            </a:r>
            <a:r>
              <a:rPr lang="el-GR" dirty="0"/>
              <a:t>) </a:t>
            </a:r>
            <a:r>
              <a:rPr lang="en-US" dirty="0" err="1"/>
              <a:t>em</a:t>
            </a:r>
            <a:r>
              <a:rPr lang="en-US" dirty="0"/>
              <a:t> ¬</a:t>
            </a:r>
            <a:r>
              <a:rPr lang="el-GR" i="1" dirty="0"/>
              <a:t>α</a:t>
            </a:r>
            <a:r>
              <a:rPr lang="el-GR" dirty="0"/>
              <a:t> ∨ </a:t>
            </a:r>
            <a:r>
              <a:rPr lang="el-GR" i="1" dirty="0"/>
              <a:t>β</a:t>
            </a:r>
          </a:p>
          <a:p>
            <a:r>
              <a:rPr lang="en-US" dirty="0"/>
              <a:t>Mova ¬ para </a:t>
            </a:r>
            <a:r>
              <a:rPr lang="en-US" dirty="0" err="1"/>
              <a:t>dentro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as Leis de De Morgan</a:t>
            </a:r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exemplo</a:t>
            </a:r>
            <a:r>
              <a:rPr lang="en-US" dirty="0"/>
              <a:t>, </a:t>
            </a:r>
            <a:r>
              <a:rPr lang="en-US" dirty="0" err="1"/>
              <a:t>transforme</a:t>
            </a:r>
            <a:r>
              <a:rPr lang="en-US" dirty="0"/>
              <a:t> ¬(</a:t>
            </a:r>
            <a:r>
              <a:rPr lang="el-GR" i="1" dirty="0"/>
              <a:t>α</a:t>
            </a:r>
            <a:r>
              <a:rPr lang="el-GR" dirty="0"/>
              <a:t> ∧ </a:t>
            </a:r>
            <a:r>
              <a:rPr lang="el-GR" i="1" dirty="0"/>
              <a:t>β</a:t>
            </a:r>
            <a:r>
              <a:rPr lang="el-GR" dirty="0"/>
              <a:t>) </a:t>
            </a:r>
            <a:r>
              <a:rPr lang="en-US" dirty="0" err="1"/>
              <a:t>em</a:t>
            </a:r>
            <a:r>
              <a:rPr lang="en-US" dirty="0"/>
              <a:t> ¬</a:t>
            </a:r>
            <a:r>
              <a:rPr lang="el-GR" i="1" dirty="0"/>
              <a:t>α</a:t>
            </a:r>
            <a:r>
              <a:rPr lang="el-GR" dirty="0"/>
              <a:t> ∨ ¬</a:t>
            </a:r>
            <a:r>
              <a:rPr lang="el-GR" i="1" dirty="0"/>
              <a:t>β</a:t>
            </a:r>
          </a:p>
        </p:txBody>
      </p:sp>
    </p:spTree>
    <p:extLst>
      <p:ext uri="{BB962C8B-B14F-4D97-AF65-F5344CB8AC3E}">
        <p14:creationId xmlns:p14="http://schemas.microsoft.com/office/powerpoint/2010/main" val="1539883563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47702-CB1A-0BD0-F484-6540D24E6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Conversion to CNF">
            <a:extLst>
              <a:ext uri="{FF2B5EF4-FFF2-40B4-BE49-F238E27FC236}">
                <a16:creationId xmlns:a16="http://schemas.microsoft.com/office/drawing/2014/main" id="{5A9FB4F4-17A3-0DCB-B885-A96A983E864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 err="1"/>
              <a:t>Conversão</a:t>
            </a:r>
            <a:r>
              <a:rPr dirty="0"/>
              <a:t> para CNF</a:t>
            </a:r>
          </a:p>
        </p:txBody>
      </p:sp>
      <p:sp>
        <p:nvSpPr>
          <p:cNvPr id="516" name="Eliminate biconditionals…">
            <a:extLst>
              <a:ext uri="{FF2B5EF4-FFF2-40B4-BE49-F238E27FC236}">
                <a16:creationId xmlns:a16="http://schemas.microsoft.com/office/drawing/2014/main" id="{F3C8C0DA-4492-D32D-A279-87F1C39A5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 anchorCtr="0"/>
          <a:lstStyle/>
          <a:p>
            <a:r>
              <a:rPr dirty="0"/>
              <a:t>Elimine </a:t>
            </a:r>
            <a:r>
              <a:rPr dirty="0" err="1"/>
              <a:t>bicondicionais</a:t>
            </a:r>
            <a:endParaRPr lang="en-BR" dirty="0"/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 err="1"/>
              <a:t>transforme</a:t>
            </a:r>
            <a:r>
              <a:rPr lang="en-US" dirty="0"/>
              <a:t> (</a:t>
            </a:r>
            <a:r>
              <a:rPr lang="el-GR" i="1" dirty="0"/>
              <a:t>α</a:t>
            </a:r>
            <a:r>
              <a:rPr lang="el-GR" dirty="0"/>
              <a:t> </a:t>
            </a:r>
            <a:r>
              <a:rPr lang="el-GR" i="1" dirty="0">
                <a:latin typeface="Times New Roman"/>
                <a:ea typeface="Times New Roman"/>
                <a:cs typeface="Times New Roman"/>
              </a:rPr>
              <a:t>↔</a:t>
            </a:r>
            <a:r>
              <a:rPr lang="el-GR" dirty="0"/>
              <a:t> </a:t>
            </a:r>
            <a:r>
              <a:rPr lang="el-GR" i="1" dirty="0"/>
              <a:t>β</a:t>
            </a:r>
            <a:r>
              <a:rPr lang="el-GR" dirty="0"/>
              <a:t>) </a:t>
            </a:r>
            <a:r>
              <a:rPr lang="en-US" dirty="0" err="1"/>
              <a:t>em</a:t>
            </a:r>
            <a:r>
              <a:rPr lang="en-US" dirty="0"/>
              <a:t> (</a:t>
            </a:r>
            <a:r>
              <a:rPr lang="el-GR" i="1" dirty="0"/>
              <a:t>α</a:t>
            </a:r>
            <a:r>
              <a:rPr lang="el-GR" dirty="0"/>
              <a:t> →  </a:t>
            </a:r>
            <a:r>
              <a:rPr lang="el-GR" i="1" dirty="0"/>
              <a:t>β</a:t>
            </a:r>
            <a:r>
              <a:rPr lang="el-GR" dirty="0"/>
              <a:t>) ∧ (</a:t>
            </a:r>
            <a:r>
              <a:rPr lang="el-GR" i="1" dirty="0"/>
              <a:t>β</a:t>
            </a:r>
            <a:r>
              <a:rPr lang="el-GR" dirty="0"/>
              <a:t> → </a:t>
            </a:r>
            <a:r>
              <a:rPr lang="el-GR" i="1" dirty="0"/>
              <a:t>α</a:t>
            </a:r>
            <a:r>
              <a:rPr lang="el-GR" dirty="0"/>
              <a:t>)</a:t>
            </a:r>
          </a:p>
          <a:p>
            <a:r>
              <a:rPr lang="en-US" dirty="0"/>
              <a:t>Elimine </a:t>
            </a:r>
            <a:r>
              <a:rPr lang="en-US" dirty="0" err="1"/>
              <a:t>implicações</a:t>
            </a:r>
            <a:endParaRPr lang="en-US" dirty="0"/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 err="1"/>
              <a:t>transforme</a:t>
            </a:r>
            <a:r>
              <a:rPr lang="en-US" dirty="0"/>
              <a:t> (</a:t>
            </a:r>
            <a:r>
              <a:rPr lang="el-GR" i="1" dirty="0"/>
              <a:t>α</a:t>
            </a:r>
            <a:r>
              <a:rPr lang="el-GR" dirty="0"/>
              <a:t> →  </a:t>
            </a:r>
            <a:r>
              <a:rPr lang="el-GR" i="1" dirty="0"/>
              <a:t>β</a:t>
            </a:r>
            <a:r>
              <a:rPr lang="el-GR" dirty="0"/>
              <a:t>) </a:t>
            </a:r>
            <a:r>
              <a:rPr lang="en-US" dirty="0" err="1"/>
              <a:t>em</a:t>
            </a:r>
            <a:r>
              <a:rPr lang="en-US" dirty="0"/>
              <a:t> ¬</a:t>
            </a:r>
            <a:r>
              <a:rPr lang="el-GR" i="1" dirty="0"/>
              <a:t>α</a:t>
            </a:r>
            <a:r>
              <a:rPr lang="el-GR" dirty="0"/>
              <a:t> ∨ </a:t>
            </a:r>
            <a:r>
              <a:rPr lang="el-GR" i="1" dirty="0"/>
              <a:t>β</a:t>
            </a:r>
          </a:p>
          <a:p>
            <a:r>
              <a:rPr lang="en-US" dirty="0"/>
              <a:t>Mova ¬ para </a:t>
            </a:r>
            <a:r>
              <a:rPr lang="en-US" dirty="0" err="1"/>
              <a:t>dentro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as Leis de De Morgan</a:t>
            </a:r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exemplo</a:t>
            </a:r>
            <a:r>
              <a:rPr lang="en-US" dirty="0"/>
              <a:t>, </a:t>
            </a:r>
            <a:r>
              <a:rPr lang="en-US" dirty="0" err="1"/>
              <a:t>transforme</a:t>
            </a:r>
            <a:r>
              <a:rPr lang="en-US" dirty="0"/>
              <a:t> ¬(</a:t>
            </a:r>
            <a:r>
              <a:rPr lang="el-GR" i="1" dirty="0"/>
              <a:t>α</a:t>
            </a:r>
            <a:r>
              <a:rPr lang="el-GR" dirty="0"/>
              <a:t> ∧ </a:t>
            </a:r>
            <a:r>
              <a:rPr lang="el-GR" i="1" dirty="0"/>
              <a:t>β</a:t>
            </a:r>
            <a:r>
              <a:rPr lang="el-GR" dirty="0"/>
              <a:t>) </a:t>
            </a:r>
            <a:r>
              <a:rPr lang="en-US" dirty="0" err="1"/>
              <a:t>em</a:t>
            </a:r>
            <a:r>
              <a:rPr lang="en-US" dirty="0"/>
              <a:t> ¬</a:t>
            </a:r>
            <a:r>
              <a:rPr lang="el-GR" i="1" dirty="0"/>
              <a:t>α</a:t>
            </a:r>
            <a:r>
              <a:rPr lang="el-GR" dirty="0"/>
              <a:t> ∨ ¬</a:t>
            </a:r>
            <a:r>
              <a:rPr lang="el-GR" i="1" dirty="0"/>
              <a:t>β</a:t>
            </a:r>
          </a:p>
          <a:p>
            <a:r>
              <a:rPr lang="en-US" dirty="0"/>
              <a:t>Use a lei </a:t>
            </a:r>
            <a:r>
              <a:rPr lang="en-US" dirty="0" err="1"/>
              <a:t>distributiva</a:t>
            </a:r>
            <a:r>
              <a:rPr lang="en-US" dirty="0"/>
              <a:t> para </a:t>
            </a:r>
            <a:r>
              <a:rPr lang="en-US" dirty="0" err="1"/>
              <a:t>distribuir</a:t>
            </a:r>
            <a:r>
              <a:rPr lang="en-US" dirty="0"/>
              <a:t> ∨ sempre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possível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274476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Conversion to CNF">
            <a:extLst>
              <a:ext uri="{FF2B5EF4-FFF2-40B4-BE49-F238E27FC236}">
                <a16:creationId xmlns:a16="http://schemas.microsoft.com/office/drawing/2014/main" id="{4A8C86EC-7E9A-4BB9-8B05-1C5F6E82731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Conversão para CNF</a:t>
            </a:r>
          </a:p>
        </p:txBody>
      </p:sp>
    </p:spTree>
    <p:extLst>
      <p:ext uri="{BB962C8B-B14F-4D97-AF65-F5344CB8AC3E}">
        <p14:creationId xmlns:p14="http://schemas.microsoft.com/office/powerpoint/2010/main" val="253608177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65D40-A57A-E8A6-E764-DB00011D5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Conversion to CNF">
            <a:extLst>
              <a:ext uri="{FF2B5EF4-FFF2-40B4-BE49-F238E27FC236}">
                <a16:creationId xmlns:a16="http://schemas.microsoft.com/office/drawing/2014/main" id="{CE88A918-AC1F-1C9C-0640-E3F4795DE48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Conversão para CNF</a:t>
            </a:r>
          </a:p>
        </p:txBody>
      </p:sp>
      <p:sp>
        <p:nvSpPr>
          <p:cNvPr id="519" name="(P ∨ Q) → R">
            <a:extLst>
              <a:ext uri="{FF2B5EF4-FFF2-40B4-BE49-F238E27FC236}">
                <a16:creationId xmlns:a16="http://schemas.microsoft.com/office/drawing/2014/main" id="{5BFB030D-AD72-43C0-2527-8642489F19AC}"/>
              </a:ext>
            </a:extLst>
          </p:cNvPr>
          <p:cNvSpPr>
            <a:spLocks noGrp="1"/>
          </p:cNvSpPr>
          <p:nvPr/>
        </p:nvSpPr>
        <p:spPr>
          <a:xfrm>
            <a:off x="2680824" y="3416341"/>
            <a:ext cx="6327131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(</a:t>
            </a:r>
            <a:r>
              <a:t>P ∨ Q</a:t>
            </a:r>
            <a:r>
              <a:rPr i="0"/>
              <a:t>)</a:t>
            </a:r>
            <a:r>
              <a:t> → R </a:t>
            </a:r>
          </a:p>
        </p:txBody>
      </p:sp>
    </p:spTree>
    <p:extLst>
      <p:ext uri="{BB962C8B-B14F-4D97-AF65-F5344CB8AC3E}">
        <p14:creationId xmlns:p14="http://schemas.microsoft.com/office/powerpoint/2010/main" val="3163343112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2E23C-734F-C9AC-0C58-9F76346DC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Conversion to CNF">
            <a:extLst>
              <a:ext uri="{FF2B5EF4-FFF2-40B4-BE49-F238E27FC236}">
                <a16:creationId xmlns:a16="http://schemas.microsoft.com/office/drawing/2014/main" id="{AA8AE45F-76C4-9C3F-0272-62DA6A0E95F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Conversão para CNF</a:t>
            </a:r>
          </a:p>
        </p:txBody>
      </p:sp>
      <p:sp>
        <p:nvSpPr>
          <p:cNvPr id="519" name="(P ∨ Q) → R">
            <a:extLst>
              <a:ext uri="{FF2B5EF4-FFF2-40B4-BE49-F238E27FC236}">
                <a16:creationId xmlns:a16="http://schemas.microsoft.com/office/drawing/2014/main" id="{1813A61A-1F3E-0AE0-2808-594D207DFA0D}"/>
              </a:ext>
            </a:extLst>
          </p:cNvPr>
          <p:cNvSpPr>
            <a:spLocks noGrp="1"/>
          </p:cNvSpPr>
          <p:nvPr/>
        </p:nvSpPr>
        <p:spPr>
          <a:xfrm>
            <a:off x="2680824" y="3416341"/>
            <a:ext cx="6327131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(</a:t>
            </a:r>
            <a:r>
              <a:t>P ∨ Q</a:t>
            </a:r>
            <a:r>
              <a:rPr i="0"/>
              <a:t>)</a:t>
            </a:r>
            <a:r>
              <a:t> → R </a:t>
            </a:r>
          </a:p>
        </p:txBody>
      </p:sp>
      <p:sp>
        <p:nvSpPr>
          <p:cNvPr id="2" name="eliminate implication">
            <a:extLst>
              <a:ext uri="{FF2B5EF4-FFF2-40B4-BE49-F238E27FC236}">
                <a16:creationId xmlns:a16="http://schemas.microsoft.com/office/drawing/2014/main" id="{EBB8F3C6-84B6-8E96-83F6-0E43DBCB002F}"/>
              </a:ext>
            </a:extLst>
          </p:cNvPr>
          <p:cNvSpPr>
            <a:spLocks noGrp="1"/>
          </p:cNvSpPr>
          <p:nvPr/>
        </p:nvSpPr>
        <p:spPr>
          <a:xfrm>
            <a:off x="15175309" y="3603207"/>
            <a:ext cx="7848302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 err="1"/>
              <a:t>eliminar</a:t>
            </a:r>
            <a:r>
              <a:rPr dirty="0"/>
              <a:t> </a:t>
            </a:r>
            <a:r>
              <a:rPr lang="pt-BR" dirty="0"/>
              <a:t>bicondicionais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2604353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E04BD-CCC1-488B-DA9F-698102319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Conversion to CNF">
            <a:extLst>
              <a:ext uri="{FF2B5EF4-FFF2-40B4-BE49-F238E27FC236}">
                <a16:creationId xmlns:a16="http://schemas.microsoft.com/office/drawing/2014/main" id="{126B6701-60F6-B601-E722-6A1D2234C4C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Conversão para CNF</a:t>
            </a:r>
          </a:p>
        </p:txBody>
      </p:sp>
      <p:sp>
        <p:nvSpPr>
          <p:cNvPr id="519" name="(P ∨ Q) → R">
            <a:extLst>
              <a:ext uri="{FF2B5EF4-FFF2-40B4-BE49-F238E27FC236}">
                <a16:creationId xmlns:a16="http://schemas.microsoft.com/office/drawing/2014/main" id="{332C1B0F-CDD7-FAB3-4717-902B94AEE993}"/>
              </a:ext>
            </a:extLst>
          </p:cNvPr>
          <p:cNvSpPr>
            <a:spLocks noGrp="1"/>
          </p:cNvSpPr>
          <p:nvPr/>
        </p:nvSpPr>
        <p:spPr>
          <a:xfrm>
            <a:off x="2680824" y="3416341"/>
            <a:ext cx="6327131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(</a:t>
            </a:r>
            <a:r>
              <a:t>P ∨ Q</a:t>
            </a:r>
            <a:r>
              <a:rPr i="0"/>
              <a:t>)</a:t>
            </a:r>
            <a:r>
              <a:t> → R </a:t>
            </a:r>
          </a:p>
        </p:txBody>
      </p:sp>
      <p:sp>
        <p:nvSpPr>
          <p:cNvPr id="2" name="eliminate implication">
            <a:extLst>
              <a:ext uri="{FF2B5EF4-FFF2-40B4-BE49-F238E27FC236}">
                <a16:creationId xmlns:a16="http://schemas.microsoft.com/office/drawing/2014/main" id="{E22333B0-2177-E412-77FC-957212AB0789}"/>
              </a:ext>
            </a:extLst>
          </p:cNvPr>
          <p:cNvSpPr>
            <a:spLocks noGrp="1"/>
          </p:cNvSpPr>
          <p:nvPr/>
        </p:nvSpPr>
        <p:spPr>
          <a:xfrm>
            <a:off x="15175309" y="3603207"/>
            <a:ext cx="7848302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strike="sngStrike" dirty="0" err="1"/>
              <a:t>eliminar</a:t>
            </a:r>
            <a:r>
              <a:rPr strike="sngStrike" dirty="0"/>
              <a:t> </a:t>
            </a:r>
            <a:r>
              <a:rPr lang="pt-BR" strike="sngStrike" dirty="0"/>
              <a:t>bicondicionais</a:t>
            </a:r>
            <a:endParaRPr strike="sngStrike" dirty="0"/>
          </a:p>
        </p:txBody>
      </p:sp>
    </p:spTree>
    <p:extLst>
      <p:ext uri="{BB962C8B-B14F-4D97-AF65-F5344CB8AC3E}">
        <p14:creationId xmlns:p14="http://schemas.microsoft.com/office/powerpoint/2010/main" val="3387753741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E21CD-FF93-AB75-346D-DE55601D5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Conversion to CNF">
            <a:extLst>
              <a:ext uri="{FF2B5EF4-FFF2-40B4-BE49-F238E27FC236}">
                <a16:creationId xmlns:a16="http://schemas.microsoft.com/office/drawing/2014/main" id="{11CC4012-F7D7-3F0F-B70D-26070317171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Conversão para CNF</a:t>
            </a:r>
          </a:p>
        </p:txBody>
      </p:sp>
      <p:sp>
        <p:nvSpPr>
          <p:cNvPr id="519" name="(P ∨ Q) → R">
            <a:extLst>
              <a:ext uri="{FF2B5EF4-FFF2-40B4-BE49-F238E27FC236}">
                <a16:creationId xmlns:a16="http://schemas.microsoft.com/office/drawing/2014/main" id="{0BF7EFAC-EA2B-2612-3A62-5E8C83723FED}"/>
              </a:ext>
            </a:extLst>
          </p:cNvPr>
          <p:cNvSpPr>
            <a:spLocks noGrp="1"/>
          </p:cNvSpPr>
          <p:nvPr/>
        </p:nvSpPr>
        <p:spPr>
          <a:xfrm>
            <a:off x="2680824" y="3416341"/>
            <a:ext cx="6327131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(</a:t>
            </a:r>
            <a:r>
              <a:t>P ∨ Q</a:t>
            </a:r>
            <a:r>
              <a:rPr i="0"/>
              <a:t>)</a:t>
            </a:r>
            <a:r>
              <a:t> → R </a:t>
            </a:r>
          </a:p>
        </p:txBody>
      </p:sp>
      <p:sp>
        <p:nvSpPr>
          <p:cNvPr id="523" name="eliminate implication">
            <a:extLst>
              <a:ext uri="{FF2B5EF4-FFF2-40B4-BE49-F238E27FC236}">
                <a16:creationId xmlns:a16="http://schemas.microsoft.com/office/drawing/2014/main" id="{3A64798B-8E62-99DD-3DC0-F411F198A343}"/>
              </a:ext>
            </a:extLst>
          </p:cNvPr>
          <p:cNvSpPr>
            <a:spLocks noGrp="1"/>
          </p:cNvSpPr>
          <p:nvPr/>
        </p:nvSpPr>
        <p:spPr>
          <a:xfrm>
            <a:off x="15175309" y="5555526"/>
            <a:ext cx="6975277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 err="1"/>
              <a:t>eliminar</a:t>
            </a:r>
            <a:r>
              <a:rPr dirty="0"/>
              <a:t> </a:t>
            </a:r>
            <a:r>
              <a:rPr dirty="0" err="1"/>
              <a:t>implicação</a:t>
            </a:r>
            <a:endParaRPr dirty="0"/>
          </a:p>
        </p:txBody>
      </p:sp>
      <p:sp>
        <p:nvSpPr>
          <p:cNvPr id="2" name="eliminate implication">
            <a:extLst>
              <a:ext uri="{FF2B5EF4-FFF2-40B4-BE49-F238E27FC236}">
                <a16:creationId xmlns:a16="http://schemas.microsoft.com/office/drawing/2014/main" id="{36F3C5BC-3E6E-8DE3-FDD7-64199C78AFB6}"/>
              </a:ext>
            </a:extLst>
          </p:cNvPr>
          <p:cNvSpPr>
            <a:spLocks noGrp="1"/>
          </p:cNvSpPr>
          <p:nvPr/>
        </p:nvSpPr>
        <p:spPr>
          <a:xfrm>
            <a:off x="15175309" y="3603207"/>
            <a:ext cx="7848302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strike="sngStrike" dirty="0" err="1"/>
              <a:t>eliminar</a:t>
            </a:r>
            <a:r>
              <a:rPr strike="sngStrike" dirty="0"/>
              <a:t> </a:t>
            </a:r>
            <a:r>
              <a:rPr lang="pt-BR" strike="sngStrike" dirty="0"/>
              <a:t>bicondicionais</a:t>
            </a:r>
            <a:endParaRPr strike="sngStrike" dirty="0"/>
          </a:p>
        </p:txBody>
      </p:sp>
    </p:spTree>
    <p:extLst>
      <p:ext uri="{BB962C8B-B14F-4D97-AF65-F5344CB8AC3E}">
        <p14:creationId xmlns:p14="http://schemas.microsoft.com/office/powerpoint/2010/main" val="2575560781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ADE97-295F-439A-D284-FCB6EF184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Conversion to CNF">
            <a:extLst>
              <a:ext uri="{FF2B5EF4-FFF2-40B4-BE49-F238E27FC236}">
                <a16:creationId xmlns:a16="http://schemas.microsoft.com/office/drawing/2014/main" id="{F507AE3E-8C1D-CBFF-3EB3-9D9924E3749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Conversão para CNF</a:t>
            </a:r>
          </a:p>
        </p:txBody>
      </p:sp>
      <p:sp>
        <p:nvSpPr>
          <p:cNvPr id="519" name="(P ∨ Q) → R">
            <a:extLst>
              <a:ext uri="{FF2B5EF4-FFF2-40B4-BE49-F238E27FC236}">
                <a16:creationId xmlns:a16="http://schemas.microsoft.com/office/drawing/2014/main" id="{3F625E8B-950D-5AC5-ED29-70FADC797215}"/>
              </a:ext>
            </a:extLst>
          </p:cNvPr>
          <p:cNvSpPr>
            <a:spLocks noGrp="1"/>
          </p:cNvSpPr>
          <p:nvPr/>
        </p:nvSpPr>
        <p:spPr>
          <a:xfrm>
            <a:off x="2680824" y="3416341"/>
            <a:ext cx="6327131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(</a:t>
            </a:r>
            <a:r>
              <a:t>P ∨ Q</a:t>
            </a:r>
            <a:r>
              <a:rPr i="0"/>
              <a:t>)</a:t>
            </a:r>
            <a:r>
              <a:t> → R </a:t>
            </a:r>
          </a:p>
        </p:txBody>
      </p:sp>
      <p:sp>
        <p:nvSpPr>
          <p:cNvPr id="520" name="¬(P ∨ Q) ∨ R">
            <a:extLst>
              <a:ext uri="{FF2B5EF4-FFF2-40B4-BE49-F238E27FC236}">
                <a16:creationId xmlns:a16="http://schemas.microsoft.com/office/drawing/2014/main" id="{BE8C3EA5-7F14-BED5-93A6-16FAFEEF2B38}"/>
              </a:ext>
            </a:extLst>
          </p:cNvPr>
          <p:cNvSpPr>
            <a:spLocks noGrp="1"/>
          </p:cNvSpPr>
          <p:nvPr/>
        </p:nvSpPr>
        <p:spPr>
          <a:xfrm>
            <a:off x="2527345" y="5621023"/>
            <a:ext cx="6634089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t>¬</a:t>
            </a:r>
            <a:r>
              <a:rPr i="0"/>
              <a:t>(</a:t>
            </a:r>
            <a:r>
              <a:t>P ∨ Q</a:t>
            </a:r>
            <a:r>
              <a:rPr i="0"/>
              <a:t>)</a:t>
            </a:r>
            <a:r>
              <a:t> ∨ R </a:t>
            </a:r>
          </a:p>
        </p:txBody>
      </p:sp>
      <p:sp>
        <p:nvSpPr>
          <p:cNvPr id="523" name="eliminate implication">
            <a:extLst>
              <a:ext uri="{FF2B5EF4-FFF2-40B4-BE49-F238E27FC236}">
                <a16:creationId xmlns:a16="http://schemas.microsoft.com/office/drawing/2014/main" id="{0C105A9D-E408-C2CD-4ABE-E8C38B911BD7}"/>
              </a:ext>
            </a:extLst>
          </p:cNvPr>
          <p:cNvSpPr>
            <a:spLocks noGrp="1"/>
          </p:cNvSpPr>
          <p:nvPr/>
        </p:nvSpPr>
        <p:spPr>
          <a:xfrm>
            <a:off x="15175309" y="5555526"/>
            <a:ext cx="6975277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 err="1"/>
              <a:t>eliminar</a:t>
            </a:r>
            <a:r>
              <a:rPr dirty="0"/>
              <a:t> </a:t>
            </a:r>
            <a:r>
              <a:rPr dirty="0" err="1"/>
              <a:t>implicação</a:t>
            </a:r>
            <a:endParaRPr dirty="0"/>
          </a:p>
        </p:txBody>
      </p:sp>
      <p:sp>
        <p:nvSpPr>
          <p:cNvPr id="2" name="eliminate implication">
            <a:extLst>
              <a:ext uri="{FF2B5EF4-FFF2-40B4-BE49-F238E27FC236}">
                <a16:creationId xmlns:a16="http://schemas.microsoft.com/office/drawing/2014/main" id="{CBE08463-DFDA-9289-203B-F8A50B02A9A2}"/>
              </a:ext>
            </a:extLst>
          </p:cNvPr>
          <p:cNvSpPr>
            <a:spLocks noGrp="1"/>
          </p:cNvSpPr>
          <p:nvPr/>
        </p:nvSpPr>
        <p:spPr>
          <a:xfrm>
            <a:off x="15175309" y="3603207"/>
            <a:ext cx="7848302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strike="sngStrike" dirty="0" err="1"/>
              <a:t>eliminar</a:t>
            </a:r>
            <a:r>
              <a:rPr strike="sngStrike" dirty="0"/>
              <a:t> </a:t>
            </a:r>
            <a:r>
              <a:rPr lang="pt-BR" strike="sngStrike" dirty="0"/>
              <a:t>bicondicionais</a:t>
            </a:r>
            <a:endParaRPr strike="sngStrike" dirty="0"/>
          </a:p>
        </p:txBody>
      </p:sp>
    </p:spTree>
    <p:extLst>
      <p:ext uri="{BB962C8B-B14F-4D97-AF65-F5344CB8AC3E}">
        <p14:creationId xmlns:p14="http://schemas.microsoft.com/office/powerpoint/2010/main" val="2449265676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BAC4-841D-321D-9F20-B80FC6F84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Conversion to CNF">
            <a:extLst>
              <a:ext uri="{FF2B5EF4-FFF2-40B4-BE49-F238E27FC236}">
                <a16:creationId xmlns:a16="http://schemas.microsoft.com/office/drawing/2014/main" id="{A4070D6E-05DC-75E6-C680-ED5D7595667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Conversão para CNF</a:t>
            </a:r>
          </a:p>
        </p:txBody>
      </p:sp>
      <p:sp>
        <p:nvSpPr>
          <p:cNvPr id="519" name="(P ∨ Q) → R">
            <a:extLst>
              <a:ext uri="{FF2B5EF4-FFF2-40B4-BE49-F238E27FC236}">
                <a16:creationId xmlns:a16="http://schemas.microsoft.com/office/drawing/2014/main" id="{3F957D65-BB20-EDB6-4029-585620900164}"/>
              </a:ext>
            </a:extLst>
          </p:cNvPr>
          <p:cNvSpPr>
            <a:spLocks noGrp="1"/>
          </p:cNvSpPr>
          <p:nvPr/>
        </p:nvSpPr>
        <p:spPr>
          <a:xfrm>
            <a:off x="2680824" y="3416341"/>
            <a:ext cx="6327131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(</a:t>
            </a:r>
            <a:r>
              <a:t>P ∨ Q</a:t>
            </a:r>
            <a:r>
              <a:rPr i="0"/>
              <a:t>)</a:t>
            </a:r>
            <a:r>
              <a:t> → R </a:t>
            </a:r>
          </a:p>
        </p:txBody>
      </p:sp>
      <p:sp>
        <p:nvSpPr>
          <p:cNvPr id="520" name="¬(P ∨ Q) ∨ R">
            <a:extLst>
              <a:ext uri="{FF2B5EF4-FFF2-40B4-BE49-F238E27FC236}">
                <a16:creationId xmlns:a16="http://schemas.microsoft.com/office/drawing/2014/main" id="{54FF2C00-345F-9A71-AB84-40C37C92D35F}"/>
              </a:ext>
            </a:extLst>
          </p:cNvPr>
          <p:cNvSpPr>
            <a:spLocks noGrp="1"/>
          </p:cNvSpPr>
          <p:nvPr/>
        </p:nvSpPr>
        <p:spPr>
          <a:xfrm>
            <a:off x="2527345" y="5621023"/>
            <a:ext cx="6634089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t>¬</a:t>
            </a:r>
            <a:r>
              <a:rPr i="0"/>
              <a:t>(</a:t>
            </a:r>
            <a:r>
              <a:t>P ∨ Q</a:t>
            </a:r>
            <a:r>
              <a:rPr i="0"/>
              <a:t>)</a:t>
            </a:r>
            <a:r>
              <a:t> ∨ R </a:t>
            </a:r>
          </a:p>
        </p:txBody>
      </p:sp>
      <p:sp>
        <p:nvSpPr>
          <p:cNvPr id="523" name="eliminate implication">
            <a:extLst>
              <a:ext uri="{FF2B5EF4-FFF2-40B4-BE49-F238E27FC236}">
                <a16:creationId xmlns:a16="http://schemas.microsoft.com/office/drawing/2014/main" id="{7AFE1578-0128-6336-C8C2-B8E87B65A9C2}"/>
              </a:ext>
            </a:extLst>
          </p:cNvPr>
          <p:cNvSpPr>
            <a:spLocks noGrp="1"/>
          </p:cNvSpPr>
          <p:nvPr/>
        </p:nvSpPr>
        <p:spPr>
          <a:xfrm>
            <a:off x="15175309" y="5550566"/>
            <a:ext cx="664925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strike="sngStrike" dirty="0" err="1"/>
              <a:t>eliminar</a:t>
            </a:r>
            <a:r>
              <a:rPr strike="sngStrike" dirty="0"/>
              <a:t> </a:t>
            </a:r>
            <a:r>
              <a:rPr strike="sngStrike" dirty="0" err="1"/>
              <a:t>implicação</a:t>
            </a:r>
            <a:endParaRPr strike="sngStrike" dirty="0"/>
          </a:p>
        </p:txBody>
      </p:sp>
      <p:sp>
        <p:nvSpPr>
          <p:cNvPr id="524" name="De Morgan's Law">
            <a:extLst>
              <a:ext uri="{FF2B5EF4-FFF2-40B4-BE49-F238E27FC236}">
                <a16:creationId xmlns:a16="http://schemas.microsoft.com/office/drawing/2014/main" id="{69616C6E-7E8E-94A0-ADF2-FF802077B4C3}"/>
              </a:ext>
            </a:extLst>
          </p:cNvPr>
          <p:cNvSpPr>
            <a:spLocks noGrp="1"/>
          </p:cNvSpPr>
          <p:nvPr/>
        </p:nvSpPr>
        <p:spPr>
          <a:xfrm>
            <a:off x="15175309" y="8017532"/>
            <a:ext cx="6019801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Lei de De Morgan</a:t>
            </a:r>
          </a:p>
        </p:txBody>
      </p:sp>
      <p:sp>
        <p:nvSpPr>
          <p:cNvPr id="2" name="eliminate implication">
            <a:extLst>
              <a:ext uri="{FF2B5EF4-FFF2-40B4-BE49-F238E27FC236}">
                <a16:creationId xmlns:a16="http://schemas.microsoft.com/office/drawing/2014/main" id="{3D7ABDE4-0673-0C7C-6509-F1962BBC720D}"/>
              </a:ext>
            </a:extLst>
          </p:cNvPr>
          <p:cNvSpPr>
            <a:spLocks noGrp="1"/>
          </p:cNvSpPr>
          <p:nvPr/>
        </p:nvSpPr>
        <p:spPr>
          <a:xfrm>
            <a:off x="15175309" y="3603207"/>
            <a:ext cx="7848302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strike="sngStrike" dirty="0" err="1"/>
              <a:t>eliminar</a:t>
            </a:r>
            <a:r>
              <a:rPr strike="sngStrike" dirty="0"/>
              <a:t> </a:t>
            </a:r>
            <a:r>
              <a:rPr lang="pt-BR" strike="sngStrike" dirty="0"/>
              <a:t>bicondicionais</a:t>
            </a:r>
            <a:endParaRPr strike="sngStrike" dirty="0"/>
          </a:p>
        </p:txBody>
      </p:sp>
    </p:spTree>
    <p:extLst>
      <p:ext uri="{BB962C8B-B14F-4D97-AF65-F5344CB8AC3E}">
        <p14:creationId xmlns:p14="http://schemas.microsoft.com/office/powerpoint/2010/main" val="2122321365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C55EC-E623-809F-06C5-B91DD74A1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Conversion to CNF">
            <a:extLst>
              <a:ext uri="{FF2B5EF4-FFF2-40B4-BE49-F238E27FC236}">
                <a16:creationId xmlns:a16="http://schemas.microsoft.com/office/drawing/2014/main" id="{27DCF9B3-4F70-E985-7DE9-C787669172E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Conversão para CNF</a:t>
            </a:r>
          </a:p>
        </p:txBody>
      </p:sp>
      <p:sp>
        <p:nvSpPr>
          <p:cNvPr id="519" name="(P ∨ Q) → R">
            <a:extLst>
              <a:ext uri="{FF2B5EF4-FFF2-40B4-BE49-F238E27FC236}">
                <a16:creationId xmlns:a16="http://schemas.microsoft.com/office/drawing/2014/main" id="{D8468786-8879-864A-4CF6-A020AAD11B3B}"/>
              </a:ext>
            </a:extLst>
          </p:cNvPr>
          <p:cNvSpPr>
            <a:spLocks noGrp="1"/>
          </p:cNvSpPr>
          <p:nvPr/>
        </p:nvSpPr>
        <p:spPr>
          <a:xfrm>
            <a:off x="2680824" y="3416341"/>
            <a:ext cx="6327131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(</a:t>
            </a:r>
            <a:r>
              <a:t>P ∨ Q</a:t>
            </a:r>
            <a:r>
              <a:rPr i="0"/>
              <a:t>)</a:t>
            </a:r>
            <a:r>
              <a:t> → R </a:t>
            </a:r>
          </a:p>
        </p:txBody>
      </p:sp>
      <p:sp>
        <p:nvSpPr>
          <p:cNvPr id="520" name="¬(P ∨ Q) ∨ R">
            <a:extLst>
              <a:ext uri="{FF2B5EF4-FFF2-40B4-BE49-F238E27FC236}">
                <a16:creationId xmlns:a16="http://schemas.microsoft.com/office/drawing/2014/main" id="{C05F2676-B72B-4E2C-E3C7-F1EF72D302DB}"/>
              </a:ext>
            </a:extLst>
          </p:cNvPr>
          <p:cNvSpPr>
            <a:spLocks noGrp="1"/>
          </p:cNvSpPr>
          <p:nvPr/>
        </p:nvSpPr>
        <p:spPr>
          <a:xfrm>
            <a:off x="2527345" y="5621023"/>
            <a:ext cx="6634089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t>¬</a:t>
            </a:r>
            <a:r>
              <a:rPr i="0"/>
              <a:t>(</a:t>
            </a:r>
            <a:r>
              <a:t>P ∨ Q</a:t>
            </a:r>
            <a:r>
              <a:rPr i="0"/>
              <a:t>)</a:t>
            </a:r>
            <a:r>
              <a:t> ∨ R </a:t>
            </a:r>
          </a:p>
        </p:txBody>
      </p:sp>
      <p:sp>
        <p:nvSpPr>
          <p:cNvPr id="523" name="eliminate implication">
            <a:extLst>
              <a:ext uri="{FF2B5EF4-FFF2-40B4-BE49-F238E27FC236}">
                <a16:creationId xmlns:a16="http://schemas.microsoft.com/office/drawing/2014/main" id="{C3833B05-F51E-2169-A073-229E82E81DA5}"/>
              </a:ext>
            </a:extLst>
          </p:cNvPr>
          <p:cNvSpPr>
            <a:spLocks noGrp="1"/>
          </p:cNvSpPr>
          <p:nvPr/>
        </p:nvSpPr>
        <p:spPr>
          <a:xfrm>
            <a:off x="15175309" y="5550566"/>
            <a:ext cx="664925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strike="sngStrike" dirty="0" err="1"/>
              <a:t>eliminar</a:t>
            </a:r>
            <a:r>
              <a:rPr strike="sngStrike" dirty="0"/>
              <a:t> </a:t>
            </a:r>
            <a:r>
              <a:rPr strike="sngStrike" dirty="0" err="1"/>
              <a:t>implicação</a:t>
            </a:r>
            <a:endParaRPr strike="sngStrike" dirty="0"/>
          </a:p>
        </p:txBody>
      </p:sp>
      <p:sp>
        <p:nvSpPr>
          <p:cNvPr id="524" name="De Morgan's Law">
            <a:extLst>
              <a:ext uri="{FF2B5EF4-FFF2-40B4-BE49-F238E27FC236}">
                <a16:creationId xmlns:a16="http://schemas.microsoft.com/office/drawing/2014/main" id="{33E4CFEC-0A18-9B9E-B57C-2AF56EF92343}"/>
              </a:ext>
            </a:extLst>
          </p:cNvPr>
          <p:cNvSpPr>
            <a:spLocks noGrp="1"/>
          </p:cNvSpPr>
          <p:nvPr/>
        </p:nvSpPr>
        <p:spPr>
          <a:xfrm>
            <a:off x="15175309" y="8017532"/>
            <a:ext cx="6019801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Lei de De Morgan</a:t>
            </a:r>
          </a:p>
        </p:txBody>
      </p:sp>
      <p:sp>
        <p:nvSpPr>
          <p:cNvPr id="2" name="eliminate implication">
            <a:extLst>
              <a:ext uri="{FF2B5EF4-FFF2-40B4-BE49-F238E27FC236}">
                <a16:creationId xmlns:a16="http://schemas.microsoft.com/office/drawing/2014/main" id="{2AE3C3B1-935F-6F2A-7B46-75819AF6F687}"/>
              </a:ext>
            </a:extLst>
          </p:cNvPr>
          <p:cNvSpPr>
            <a:spLocks noGrp="1"/>
          </p:cNvSpPr>
          <p:nvPr/>
        </p:nvSpPr>
        <p:spPr>
          <a:xfrm>
            <a:off x="15175309" y="3603207"/>
            <a:ext cx="7848302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strike="sngStrike" dirty="0" err="1"/>
              <a:t>eliminar</a:t>
            </a:r>
            <a:r>
              <a:rPr strike="sngStrike" dirty="0"/>
              <a:t> </a:t>
            </a:r>
            <a:r>
              <a:rPr lang="pt-BR" strike="sngStrike" dirty="0"/>
              <a:t>bicondicionais</a:t>
            </a:r>
            <a:endParaRPr strike="sngStrike" dirty="0"/>
          </a:p>
        </p:txBody>
      </p:sp>
      <p:sp>
        <p:nvSpPr>
          <p:cNvPr id="3" name="(¬P ∧ ¬Q) ∨ R">
            <a:extLst>
              <a:ext uri="{FF2B5EF4-FFF2-40B4-BE49-F238E27FC236}">
                <a16:creationId xmlns:a16="http://schemas.microsoft.com/office/drawing/2014/main" id="{E8E1741F-D623-0D29-7225-665521857855}"/>
              </a:ext>
            </a:extLst>
          </p:cNvPr>
          <p:cNvSpPr>
            <a:spLocks noGrp="1"/>
          </p:cNvSpPr>
          <p:nvPr/>
        </p:nvSpPr>
        <p:spPr>
          <a:xfrm>
            <a:off x="2527345" y="7825705"/>
            <a:ext cx="7405391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(</a:t>
            </a:r>
            <a:r>
              <a:t>¬P ∧ ¬Q</a:t>
            </a:r>
            <a:r>
              <a:rPr i="0"/>
              <a:t>)</a:t>
            </a:r>
            <a:r>
              <a:t> ∨ R </a:t>
            </a:r>
          </a:p>
        </p:txBody>
      </p:sp>
    </p:spTree>
    <p:extLst>
      <p:ext uri="{BB962C8B-B14F-4D97-AF65-F5344CB8AC3E}">
        <p14:creationId xmlns:p14="http://schemas.microsoft.com/office/powerpoint/2010/main" val="1679890960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4F458-A0FE-0933-673B-3546E0C3D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Conversion to CNF">
            <a:extLst>
              <a:ext uri="{FF2B5EF4-FFF2-40B4-BE49-F238E27FC236}">
                <a16:creationId xmlns:a16="http://schemas.microsoft.com/office/drawing/2014/main" id="{2B39FFA2-DF95-46D1-889B-DAC6561601F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Conversão para CNF</a:t>
            </a:r>
          </a:p>
        </p:txBody>
      </p:sp>
      <p:sp>
        <p:nvSpPr>
          <p:cNvPr id="519" name="(P ∨ Q) → R">
            <a:extLst>
              <a:ext uri="{FF2B5EF4-FFF2-40B4-BE49-F238E27FC236}">
                <a16:creationId xmlns:a16="http://schemas.microsoft.com/office/drawing/2014/main" id="{9AF76B53-C196-1BC8-B0AE-812AFC5FD449}"/>
              </a:ext>
            </a:extLst>
          </p:cNvPr>
          <p:cNvSpPr>
            <a:spLocks noGrp="1"/>
          </p:cNvSpPr>
          <p:nvPr/>
        </p:nvSpPr>
        <p:spPr>
          <a:xfrm>
            <a:off x="2680824" y="3416341"/>
            <a:ext cx="6327131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(</a:t>
            </a:r>
            <a:r>
              <a:t>P ∨ Q</a:t>
            </a:r>
            <a:r>
              <a:rPr i="0"/>
              <a:t>)</a:t>
            </a:r>
            <a:r>
              <a:t> → R </a:t>
            </a:r>
          </a:p>
        </p:txBody>
      </p:sp>
      <p:sp>
        <p:nvSpPr>
          <p:cNvPr id="520" name="¬(P ∨ Q) ∨ R">
            <a:extLst>
              <a:ext uri="{FF2B5EF4-FFF2-40B4-BE49-F238E27FC236}">
                <a16:creationId xmlns:a16="http://schemas.microsoft.com/office/drawing/2014/main" id="{DD2C9005-06F4-7028-8BB3-4724FC0D30C9}"/>
              </a:ext>
            </a:extLst>
          </p:cNvPr>
          <p:cNvSpPr>
            <a:spLocks noGrp="1"/>
          </p:cNvSpPr>
          <p:nvPr/>
        </p:nvSpPr>
        <p:spPr>
          <a:xfrm>
            <a:off x="2527345" y="5621023"/>
            <a:ext cx="6634089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t>¬</a:t>
            </a:r>
            <a:r>
              <a:rPr i="0"/>
              <a:t>(</a:t>
            </a:r>
            <a:r>
              <a:t>P ∨ Q</a:t>
            </a:r>
            <a:r>
              <a:rPr i="0"/>
              <a:t>)</a:t>
            </a:r>
            <a:r>
              <a:t> ∨ R </a:t>
            </a:r>
          </a:p>
        </p:txBody>
      </p:sp>
      <p:sp>
        <p:nvSpPr>
          <p:cNvPr id="521" name="(¬P ∧ ¬Q) ∨ R">
            <a:extLst>
              <a:ext uri="{FF2B5EF4-FFF2-40B4-BE49-F238E27FC236}">
                <a16:creationId xmlns:a16="http://schemas.microsoft.com/office/drawing/2014/main" id="{7D629292-6331-8B16-05B0-338836CB912C}"/>
              </a:ext>
            </a:extLst>
          </p:cNvPr>
          <p:cNvSpPr>
            <a:spLocks noGrp="1"/>
          </p:cNvSpPr>
          <p:nvPr/>
        </p:nvSpPr>
        <p:spPr>
          <a:xfrm>
            <a:off x="2527345" y="7825705"/>
            <a:ext cx="7405391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(</a:t>
            </a:r>
            <a:r>
              <a:t>¬P ∧ ¬Q</a:t>
            </a:r>
            <a:r>
              <a:rPr i="0"/>
              <a:t>)</a:t>
            </a:r>
            <a:r>
              <a:t> ∨ R </a:t>
            </a:r>
          </a:p>
        </p:txBody>
      </p:sp>
      <p:sp>
        <p:nvSpPr>
          <p:cNvPr id="523" name="eliminate implication">
            <a:extLst>
              <a:ext uri="{FF2B5EF4-FFF2-40B4-BE49-F238E27FC236}">
                <a16:creationId xmlns:a16="http://schemas.microsoft.com/office/drawing/2014/main" id="{BD3F7A28-2F82-051A-B4D1-19E06A97515A}"/>
              </a:ext>
            </a:extLst>
          </p:cNvPr>
          <p:cNvSpPr>
            <a:spLocks noGrp="1"/>
          </p:cNvSpPr>
          <p:nvPr/>
        </p:nvSpPr>
        <p:spPr>
          <a:xfrm>
            <a:off x="15175309" y="5550566"/>
            <a:ext cx="664925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strike="sngStrike" dirty="0" err="1"/>
              <a:t>eliminar</a:t>
            </a:r>
            <a:r>
              <a:rPr strike="sngStrike" dirty="0"/>
              <a:t> </a:t>
            </a:r>
            <a:r>
              <a:rPr strike="sngStrike" dirty="0" err="1"/>
              <a:t>implicação</a:t>
            </a:r>
            <a:endParaRPr strike="sngStrike" dirty="0"/>
          </a:p>
        </p:txBody>
      </p:sp>
      <p:sp>
        <p:nvSpPr>
          <p:cNvPr id="524" name="De Morgan's Law">
            <a:extLst>
              <a:ext uri="{FF2B5EF4-FFF2-40B4-BE49-F238E27FC236}">
                <a16:creationId xmlns:a16="http://schemas.microsoft.com/office/drawing/2014/main" id="{2A323CC5-E7E3-0411-7FA1-285E3E209191}"/>
              </a:ext>
            </a:extLst>
          </p:cNvPr>
          <p:cNvSpPr>
            <a:spLocks noGrp="1"/>
          </p:cNvSpPr>
          <p:nvPr/>
        </p:nvSpPr>
        <p:spPr>
          <a:xfrm>
            <a:off x="15175309" y="8012572"/>
            <a:ext cx="6219651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strike="sngStrike" dirty="0"/>
              <a:t>Lei de De Morgan</a:t>
            </a:r>
          </a:p>
        </p:txBody>
      </p:sp>
      <p:sp>
        <p:nvSpPr>
          <p:cNvPr id="525" name="distributive law">
            <a:extLst>
              <a:ext uri="{FF2B5EF4-FFF2-40B4-BE49-F238E27FC236}">
                <a16:creationId xmlns:a16="http://schemas.microsoft.com/office/drawing/2014/main" id="{3623BCD4-9048-7FA1-3E72-45A0FD28BF14}"/>
              </a:ext>
            </a:extLst>
          </p:cNvPr>
          <p:cNvSpPr>
            <a:spLocks noGrp="1"/>
          </p:cNvSpPr>
          <p:nvPr/>
        </p:nvSpPr>
        <p:spPr>
          <a:xfrm>
            <a:off x="15175309" y="10221023"/>
            <a:ext cx="5111577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lei distributiva</a:t>
            </a:r>
          </a:p>
        </p:txBody>
      </p:sp>
      <p:sp>
        <p:nvSpPr>
          <p:cNvPr id="2" name="eliminate implication">
            <a:extLst>
              <a:ext uri="{FF2B5EF4-FFF2-40B4-BE49-F238E27FC236}">
                <a16:creationId xmlns:a16="http://schemas.microsoft.com/office/drawing/2014/main" id="{D60E8FA3-2D97-3244-5F7E-D677AB5388E0}"/>
              </a:ext>
            </a:extLst>
          </p:cNvPr>
          <p:cNvSpPr>
            <a:spLocks noGrp="1"/>
          </p:cNvSpPr>
          <p:nvPr/>
        </p:nvSpPr>
        <p:spPr>
          <a:xfrm>
            <a:off x="15175309" y="3603207"/>
            <a:ext cx="7848302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strike="sngStrike" dirty="0" err="1"/>
              <a:t>eliminar</a:t>
            </a:r>
            <a:r>
              <a:rPr strike="sngStrike" dirty="0"/>
              <a:t> </a:t>
            </a:r>
            <a:r>
              <a:rPr lang="pt-BR" strike="sngStrike" dirty="0"/>
              <a:t>bicondicionais</a:t>
            </a:r>
            <a:endParaRPr strike="sngStrike" dirty="0"/>
          </a:p>
        </p:txBody>
      </p:sp>
    </p:spTree>
    <p:extLst>
      <p:ext uri="{BB962C8B-B14F-4D97-AF65-F5344CB8AC3E}">
        <p14:creationId xmlns:p14="http://schemas.microsoft.com/office/powerpoint/2010/main" val="203380970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BB5E1-1E18-F52C-BDC3-A6C3852AE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Conversion to CNF">
            <a:extLst>
              <a:ext uri="{FF2B5EF4-FFF2-40B4-BE49-F238E27FC236}">
                <a16:creationId xmlns:a16="http://schemas.microsoft.com/office/drawing/2014/main" id="{714A271E-022B-E07B-8FEC-B57E42ABE06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Conversão para CNF</a:t>
            </a:r>
          </a:p>
        </p:txBody>
      </p:sp>
      <p:sp>
        <p:nvSpPr>
          <p:cNvPr id="519" name="(P ∨ Q) → R">
            <a:extLst>
              <a:ext uri="{FF2B5EF4-FFF2-40B4-BE49-F238E27FC236}">
                <a16:creationId xmlns:a16="http://schemas.microsoft.com/office/drawing/2014/main" id="{72C83A85-9991-4FE3-013B-368C4727B47A}"/>
              </a:ext>
            </a:extLst>
          </p:cNvPr>
          <p:cNvSpPr>
            <a:spLocks noGrp="1"/>
          </p:cNvSpPr>
          <p:nvPr/>
        </p:nvSpPr>
        <p:spPr>
          <a:xfrm>
            <a:off x="2680824" y="3416341"/>
            <a:ext cx="6327131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(</a:t>
            </a:r>
            <a:r>
              <a:t>P ∨ Q</a:t>
            </a:r>
            <a:r>
              <a:rPr i="0"/>
              <a:t>)</a:t>
            </a:r>
            <a:r>
              <a:t> → R </a:t>
            </a:r>
          </a:p>
        </p:txBody>
      </p:sp>
      <p:sp>
        <p:nvSpPr>
          <p:cNvPr id="520" name="¬(P ∨ Q) ∨ R">
            <a:extLst>
              <a:ext uri="{FF2B5EF4-FFF2-40B4-BE49-F238E27FC236}">
                <a16:creationId xmlns:a16="http://schemas.microsoft.com/office/drawing/2014/main" id="{252F172A-10AA-B697-04C2-A9148BD65B3E}"/>
              </a:ext>
            </a:extLst>
          </p:cNvPr>
          <p:cNvSpPr>
            <a:spLocks noGrp="1"/>
          </p:cNvSpPr>
          <p:nvPr/>
        </p:nvSpPr>
        <p:spPr>
          <a:xfrm>
            <a:off x="2527345" y="5621023"/>
            <a:ext cx="6634089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t>¬</a:t>
            </a:r>
            <a:r>
              <a:rPr i="0"/>
              <a:t>(</a:t>
            </a:r>
            <a:r>
              <a:t>P ∨ Q</a:t>
            </a:r>
            <a:r>
              <a:rPr i="0"/>
              <a:t>)</a:t>
            </a:r>
            <a:r>
              <a:t> ∨ R </a:t>
            </a:r>
          </a:p>
        </p:txBody>
      </p:sp>
      <p:sp>
        <p:nvSpPr>
          <p:cNvPr id="521" name="(¬P ∧ ¬Q) ∨ R">
            <a:extLst>
              <a:ext uri="{FF2B5EF4-FFF2-40B4-BE49-F238E27FC236}">
                <a16:creationId xmlns:a16="http://schemas.microsoft.com/office/drawing/2014/main" id="{D1426C9D-2AFC-EE79-F64C-EA3A194968EC}"/>
              </a:ext>
            </a:extLst>
          </p:cNvPr>
          <p:cNvSpPr>
            <a:spLocks noGrp="1"/>
          </p:cNvSpPr>
          <p:nvPr/>
        </p:nvSpPr>
        <p:spPr>
          <a:xfrm>
            <a:off x="2527345" y="7825705"/>
            <a:ext cx="7405391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(</a:t>
            </a:r>
            <a:r>
              <a:t>¬P ∧ ¬Q</a:t>
            </a:r>
            <a:r>
              <a:rPr i="0"/>
              <a:t>)</a:t>
            </a:r>
            <a:r>
              <a:t> ∨ R </a:t>
            </a:r>
          </a:p>
        </p:txBody>
      </p:sp>
      <p:sp>
        <p:nvSpPr>
          <p:cNvPr id="522" name="(¬P ∨ R) ∧  (¬Q ∨ R)">
            <a:extLst>
              <a:ext uri="{FF2B5EF4-FFF2-40B4-BE49-F238E27FC236}">
                <a16:creationId xmlns:a16="http://schemas.microsoft.com/office/drawing/2014/main" id="{20E740EC-F505-ED49-D6B3-DB97963D1B93}"/>
              </a:ext>
            </a:extLst>
          </p:cNvPr>
          <p:cNvSpPr>
            <a:spLocks noGrp="1"/>
          </p:cNvSpPr>
          <p:nvPr/>
        </p:nvSpPr>
        <p:spPr>
          <a:xfrm>
            <a:off x="2532646" y="10029196"/>
            <a:ext cx="10114993" cy="13996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(</a:t>
            </a:r>
            <a:r>
              <a:t>¬P ∨ R</a:t>
            </a:r>
            <a:r>
              <a:rPr i="0"/>
              <a:t>) </a:t>
            </a:r>
            <a:r>
              <a:t>∧ </a:t>
            </a:r>
            <a:r>
              <a:rPr i="0"/>
              <a:t> (</a:t>
            </a:r>
            <a:r>
              <a:t>¬Q ∨ R</a:t>
            </a:r>
            <a:r>
              <a:rPr i="0"/>
              <a:t>)</a:t>
            </a:r>
          </a:p>
        </p:txBody>
      </p:sp>
      <p:sp>
        <p:nvSpPr>
          <p:cNvPr id="523" name="eliminate implication">
            <a:extLst>
              <a:ext uri="{FF2B5EF4-FFF2-40B4-BE49-F238E27FC236}">
                <a16:creationId xmlns:a16="http://schemas.microsoft.com/office/drawing/2014/main" id="{D0EB9948-6961-D1DF-7CD0-D74B3A88A83A}"/>
              </a:ext>
            </a:extLst>
          </p:cNvPr>
          <p:cNvSpPr>
            <a:spLocks noGrp="1"/>
          </p:cNvSpPr>
          <p:nvPr/>
        </p:nvSpPr>
        <p:spPr>
          <a:xfrm>
            <a:off x="15175309" y="5550566"/>
            <a:ext cx="664925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strike="sngStrike" dirty="0" err="1"/>
              <a:t>eliminar</a:t>
            </a:r>
            <a:r>
              <a:rPr strike="sngStrike" dirty="0"/>
              <a:t> </a:t>
            </a:r>
            <a:r>
              <a:rPr strike="sngStrike" dirty="0" err="1"/>
              <a:t>implicação</a:t>
            </a:r>
            <a:endParaRPr strike="sngStrike" dirty="0"/>
          </a:p>
        </p:txBody>
      </p:sp>
      <p:sp>
        <p:nvSpPr>
          <p:cNvPr id="524" name="De Morgan's Law">
            <a:extLst>
              <a:ext uri="{FF2B5EF4-FFF2-40B4-BE49-F238E27FC236}">
                <a16:creationId xmlns:a16="http://schemas.microsoft.com/office/drawing/2014/main" id="{9AC6F33F-AB1A-801A-E24E-101BA8C7B29A}"/>
              </a:ext>
            </a:extLst>
          </p:cNvPr>
          <p:cNvSpPr>
            <a:spLocks noGrp="1"/>
          </p:cNvSpPr>
          <p:nvPr/>
        </p:nvSpPr>
        <p:spPr>
          <a:xfrm>
            <a:off x="15175309" y="8012572"/>
            <a:ext cx="6219651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strike="sngStrike" dirty="0"/>
              <a:t>Lei de De Morgan</a:t>
            </a:r>
          </a:p>
        </p:txBody>
      </p:sp>
      <p:sp>
        <p:nvSpPr>
          <p:cNvPr id="525" name="distributive law">
            <a:extLst>
              <a:ext uri="{FF2B5EF4-FFF2-40B4-BE49-F238E27FC236}">
                <a16:creationId xmlns:a16="http://schemas.microsoft.com/office/drawing/2014/main" id="{8AA7DAE9-0EBE-24C9-5159-06C2AF8315E0}"/>
              </a:ext>
            </a:extLst>
          </p:cNvPr>
          <p:cNvSpPr>
            <a:spLocks noGrp="1"/>
          </p:cNvSpPr>
          <p:nvPr/>
        </p:nvSpPr>
        <p:spPr>
          <a:xfrm>
            <a:off x="15175309" y="10216063"/>
            <a:ext cx="4765728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strike="sngStrike" dirty="0"/>
              <a:t>lei </a:t>
            </a:r>
            <a:r>
              <a:rPr strike="sngStrike" dirty="0" err="1"/>
              <a:t>distributiva</a:t>
            </a:r>
            <a:endParaRPr strike="sngStrike" dirty="0"/>
          </a:p>
        </p:txBody>
      </p:sp>
      <p:sp>
        <p:nvSpPr>
          <p:cNvPr id="2" name="eliminate implication">
            <a:extLst>
              <a:ext uri="{FF2B5EF4-FFF2-40B4-BE49-F238E27FC236}">
                <a16:creationId xmlns:a16="http://schemas.microsoft.com/office/drawing/2014/main" id="{52BEA7C4-F0BB-A5FF-C16C-80E8BD68C200}"/>
              </a:ext>
            </a:extLst>
          </p:cNvPr>
          <p:cNvSpPr>
            <a:spLocks noGrp="1"/>
          </p:cNvSpPr>
          <p:nvPr/>
        </p:nvSpPr>
        <p:spPr>
          <a:xfrm>
            <a:off x="15175309" y="3603207"/>
            <a:ext cx="7848302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strike="sngStrike" dirty="0" err="1"/>
              <a:t>eliminar</a:t>
            </a:r>
            <a:r>
              <a:rPr strike="sngStrike" dirty="0"/>
              <a:t> </a:t>
            </a:r>
            <a:r>
              <a:rPr lang="pt-BR" strike="sngStrike" dirty="0"/>
              <a:t>bicondicionais</a:t>
            </a:r>
            <a:endParaRPr strike="sngStrike" dirty="0"/>
          </a:p>
        </p:txBody>
      </p:sp>
    </p:spTree>
    <p:extLst>
      <p:ext uri="{BB962C8B-B14F-4D97-AF65-F5344CB8AC3E}">
        <p14:creationId xmlns:p14="http://schemas.microsoft.com/office/powerpoint/2010/main" val="4126894606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Inference by Resolution">
            <a:extLst>
              <a:ext uri="{FF2B5EF4-FFF2-40B4-BE49-F238E27FC236}">
                <a16:creationId xmlns:a16="http://schemas.microsoft.com/office/drawing/2014/main" id="{0216318E-C4C8-49A0-80B8-48185C95B43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</p:spTree>
    <p:extLst>
      <p:ext uri="{BB962C8B-B14F-4D97-AF65-F5344CB8AC3E}">
        <p14:creationId xmlns:p14="http://schemas.microsoft.com/office/powerpoint/2010/main" val="828995632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9F732F0-322D-80EA-EA56-6695AD86993C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906650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26C8D-79F0-7A72-D82B-02F68E054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 ∨ Q">
            <a:extLst>
              <a:ext uri="{FF2B5EF4-FFF2-40B4-BE49-F238E27FC236}">
                <a16:creationId xmlns:a16="http://schemas.microsoft.com/office/drawing/2014/main" id="{AE3403B0-8371-A441-EED8-852A78D94B19}"/>
              </a:ext>
            </a:extLst>
          </p:cNvPr>
          <p:cNvSpPr>
            <a:spLocks noGrp="1"/>
          </p:cNvSpPr>
          <p:nvPr/>
        </p:nvSpPr>
        <p:spPr>
          <a:xfrm>
            <a:off x="10439759" y="2870010"/>
            <a:ext cx="3504482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A57FFD6-032B-AD2C-F75D-AED2824DA924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47207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E88F7-0026-62A2-55D9-5858D80B2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 ∨ Q">
            <a:extLst>
              <a:ext uri="{FF2B5EF4-FFF2-40B4-BE49-F238E27FC236}">
                <a16:creationId xmlns:a16="http://schemas.microsoft.com/office/drawing/2014/main" id="{850DAC6B-FFDD-00A3-7208-6DBB9FA787FA}"/>
              </a:ext>
            </a:extLst>
          </p:cNvPr>
          <p:cNvSpPr>
            <a:spLocks noGrp="1"/>
          </p:cNvSpPr>
          <p:nvPr/>
        </p:nvSpPr>
        <p:spPr>
          <a:xfrm>
            <a:off x="10439759" y="2870010"/>
            <a:ext cx="3504482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531" name="¬P ∨ R">
            <a:extLst>
              <a:ext uri="{FF2B5EF4-FFF2-40B4-BE49-F238E27FC236}">
                <a16:creationId xmlns:a16="http://schemas.microsoft.com/office/drawing/2014/main" id="{461B3B24-157A-3131-44CC-C255B97FFACE}"/>
              </a:ext>
            </a:extLst>
          </p:cNvPr>
          <p:cNvSpPr>
            <a:spLocks noGrp="1"/>
          </p:cNvSpPr>
          <p:nvPr/>
        </p:nvSpPr>
        <p:spPr>
          <a:xfrm>
            <a:off x="10123592" y="5394134"/>
            <a:ext cx="4136816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¬</a:t>
            </a: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6845038-00C7-7AE2-ADD3-A1E8604880FB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400894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99CF4-E903-19BF-DC02-B94659C53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 ∨ Q">
            <a:extLst>
              <a:ext uri="{FF2B5EF4-FFF2-40B4-BE49-F238E27FC236}">
                <a16:creationId xmlns:a16="http://schemas.microsoft.com/office/drawing/2014/main" id="{06B021D2-CE39-5EC1-1F75-699FE5C752B5}"/>
              </a:ext>
            </a:extLst>
          </p:cNvPr>
          <p:cNvSpPr>
            <a:spLocks noGrp="1"/>
          </p:cNvSpPr>
          <p:nvPr/>
        </p:nvSpPr>
        <p:spPr>
          <a:xfrm>
            <a:off x="10439759" y="2870010"/>
            <a:ext cx="3504482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531" name="¬P ∨ R">
            <a:extLst>
              <a:ext uri="{FF2B5EF4-FFF2-40B4-BE49-F238E27FC236}">
                <a16:creationId xmlns:a16="http://schemas.microsoft.com/office/drawing/2014/main" id="{B19FC0F6-DCA4-8D52-37A1-3106E05144AB}"/>
              </a:ext>
            </a:extLst>
          </p:cNvPr>
          <p:cNvSpPr>
            <a:spLocks noGrp="1"/>
          </p:cNvSpPr>
          <p:nvPr/>
        </p:nvSpPr>
        <p:spPr>
          <a:xfrm>
            <a:off x="10123592" y="5394134"/>
            <a:ext cx="4136816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¬</a:t>
            </a: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532" name="(Q ∨ R)">
            <a:extLst>
              <a:ext uri="{FF2B5EF4-FFF2-40B4-BE49-F238E27FC236}">
                <a16:creationId xmlns:a16="http://schemas.microsoft.com/office/drawing/2014/main" id="{91C18942-A952-AD13-2188-4ADFA976DBD3}"/>
              </a:ext>
            </a:extLst>
          </p:cNvPr>
          <p:cNvSpPr>
            <a:spLocks noGrp="1"/>
          </p:cNvSpPr>
          <p:nvPr/>
        </p:nvSpPr>
        <p:spPr>
          <a:xfrm>
            <a:off x="9974547" y="9209806"/>
            <a:ext cx="4434906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Q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R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12C7359-1FAA-F67F-0982-574C0FCD99D4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321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158D5-CE12-5481-28BB-8B13542CC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35F3C70-B0B7-7960-BA26-57E7E5370749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071441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1763E-DB30-77D1-9C35-76261EE5C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468492B-EC75-E657-0A2B-FA23AE503C4A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 ∨ Q ∨ S">
            <a:extLst>
              <a:ext uri="{FF2B5EF4-FFF2-40B4-BE49-F238E27FC236}">
                <a16:creationId xmlns:a16="http://schemas.microsoft.com/office/drawing/2014/main" id="{FE63FDE0-50CA-6719-836F-1544C2170A4A}"/>
              </a:ext>
            </a:extLst>
          </p:cNvPr>
          <p:cNvSpPr>
            <a:spLocks noGrp="1"/>
          </p:cNvSpPr>
          <p:nvPr/>
        </p:nvSpPr>
        <p:spPr>
          <a:xfrm>
            <a:off x="9326525" y="2870010"/>
            <a:ext cx="5730950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Q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608109828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A7FA8-610E-DB6B-C6B0-E5E521522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B4C3C99-39E2-E305-40D5-60D064A1D884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 ∨ Q ∨ S">
            <a:extLst>
              <a:ext uri="{FF2B5EF4-FFF2-40B4-BE49-F238E27FC236}">
                <a16:creationId xmlns:a16="http://schemas.microsoft.com/office/drawing/2014/main" id="{6217E799-6DE0-A21C-92AF-3F37550764E3}"/>
              </a:ext>
            </a:extLst>
          </p:cNvPr>
          <p:cNvSpPr>
            <a:spLocks noGrp="1"/>
          </p:cNvSpPr>
          <p:nvPr/>
        </p:nvSpPr>
        <p:spPr>
          <a:xfrm>
            <a:off x="9326525" y="2870010"/>
            <a:ext cx="5730950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Q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4" name="¬P ∨ R ∨ S">
            <a:extLst>
              <a:ext uri="{FF2B5EF4-FFF2-40B4-BE49-F238E27FC236}">
                <a16:creationId xmlns:a16="http://schemas.microsoft.com/office/drawing/2014/main" id="{F9A97311-DFF7-EC77-C196-0A8D3E25B3C2}"/>
              </a:ext>
            </a:extLst>
          </p:cNvPr>
          <p:cNvSpPr>
            <a:spLocks noGrp="1"/>
          </p:cNvSpPr>
          <p:nvPr/>
        </p:nvSpPr>
        <p:spPr>
          <a:xfrm>
            <a:off x="9010358" y="5394134"/>
            <a:ext cx="6363284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¬</a:t>
            </a: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R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396339004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4FFAB-7E3D-455E-EB6F-824750FBC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028062C-CF1B-0838-E940-91F94E98B999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 ∨ Q ∨ S">
            <a:extLst>
              <a:ext uri="{FF2B5EF4-FFF2-40B4-BE49-F238E27FC236}">
                <a16:creationId xmlns:a16="http://schemas.microsoft.com/office/drawing/2014/main" id="{E5D0311E-0381-A45D-B5CB-E0BC101962E6}"/>
              </a:ext>
            </a:extLst>
          </p:cNvPr>
          <p:cNvSpPr>
            <a:spLocks noGrp="1"/>
          </p:cNvSpPr>
          <p:nvPr/>
        </p:nvSpPr>
        <p:spPr>
          <a:xfrm>
            <a:off x="9326525" y="2870010"/>
            <a:ext cx="5730950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Q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4" name="¬P ∨ R ∨ S">
            <a:extLst>
              <a:ext uri="{FF2B5EF4-FFF2-40B4-BE49-F238E27FC236}">
                <a16:creationId xmlns:a16="http://schemas.microsoft.com/office/drawing/2014/main" id="{208970B9-CBE8-0F4C-369A-21BB867FAEB3}"/>
              </a:ext>
            </a:extLst>
          </p:cNvPr>
          <p:cNvSpPr>
            <a:spLocks noGrp="1"/>
          </p:cNvSpPr>
          <p:nvPr/>
        </p:nvSpPr>
        <p:spPr>
          <a:xfrm>
            <a:off x="9010358" y="5394134"/>
            <a:ext cx="6363284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¬</a:t>
            </a: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R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5" name="(Q ∨ S ∨ R ∨ S)">
            <a:extLst>
              <a:ext uri="{FF2B5EF4-FFF2-40B4-BE49-F238E27FC236}">
                <a16:creationId xmlns:a16="http://schemas.microsoft.com/office/drawing/2014/main" id="{52B26662-8076-41D5-F5F0-1056E35FD757}"/>
              </a:ext>
            </a:extLst>
          </p:cNvPr>
          <p:cNvSpPr>
            <a:spLocks noGrp="1"/>
          </p:cNvSpPr>
          <p:nvPr/>
        </p:nvSpPr>
        <p:spPr>
          <a:xfrm>
            <a:off x="7748079" y="9209806"/>
            <a:ext cx="8887843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Q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S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R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42293975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816CC-96E3-3ACB-54E0-989B2D23C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A24D994-7806-8766-A700-0AC8B3F93F3B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 ∨ Q ∨ S">
            <a:extLst>
              <a:ext uri="{FF2B5EF4-FFF2-40B4-BE49-F238E27FC236}">
                <a16:creationId xmlns:a16="http://schemas.microsoft.com/office/drawing/2014/main" id="{4F26EC74-5508-744E-2D1E-F76A41FD2571}"/>
              </a:ext>
            </a:extLst>
          </p:cNvPr>
          <p:cNvSpPr>
            <a:spLocks noGrp="1"/>
          </p:cNvSpPr>
          <p:nvPr/>
        </p:nvSpPr>
        <p:spPr>
          <a:xfrm>
            <a:off x="9326525" y="2870010"/>
            <a:ext cx="5730950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Q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4" name="¬P ∨ R ∨ S">
            <a:extLst>
              <a:ext uri="{FF2B5EF4-FFF2-40B4-BE49-F238E27FC236}">
                <a16:creationId xmlns:a16="http://schemas.microsoft.com/office/drawing/2014/main" id="{CCFB0CCE-4CB9-CC37-0E5F-2D157B19429E}"/>
              </a:ext>
            </a:extLst>
          </p:cNvPr>
          <p:cNvSpPr>
            <a:spLocks noGrp="1"/>
          </p:cNvSpPr>
          <p:nvPr/>
        </p:nvSpPr>
        <p:spPr>
          <a:xfrm>
            <a:off x="9010358" y="5394134"/>
            <a:ext cx="6363284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¬</a:t>
            </a: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R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6" name="(Q ∨ R ∨ S)">
            <a:extLst>
              <a:ext uri="{FF2B5EF4-FFF2-40B4-BE49-F238E27FC236}">
                <a16:creationId xmlns:a16="http://schemas.microsoft.com/office/drawing/2014/main" id="{A2B642C7-9143-E534-1C54-9716F7297FC2}"/>
              </a:ext>
            </a:extLst>
          </p:cNvPr>
          <p:cNvSpPr>
            <a:spLocks noGrp="1"/>
          </p:cNvSpPr>
          <p:nvPr/>
        </p:nvSpPr>
        <p:spPr>
          <a:xfrm>
            <a:off x="8861313" y="9209806"/>
            <a:ext cx="6661374" cy="170222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Q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R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74404524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D215F8A-65CA-EEE0-F98D-764BCD66233C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577213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7F100-9DFC-5D25-21C6-8D8955543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5CFAB09-4514-58DC-1EC5-067246AEC5B1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">
            <a:extLst>
              <a:ext uri="{FF2B5EF4-FFF2-40B4-BE49-F238E27FC236}">
                <a16:creationId xmlns:a16="http://schemas.microsoft.com/office/drawing/2014/main" id="{7AF0AD6D-DF54-BC51-A006-D7C3376EFD6F}"/>
              </a:ext>
            </a:extLst>
          </p:cNvPr>
          <p:cNvSpPr>
            <a:spLocks noGrp="1"/>
          </p:cNvSpPr>
          <p:nvPr/>
        </p:nvSpPr>
        <p:spPr>
          <a:xfrm>
            <a:off x="11708178" y="2893544"/>
            <a:ext cx="967644" cy="165515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1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i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1322886463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7DE9F-9954-2936-F3D8-F98624801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7CF8AB3-41D5-A416-4EC0-B74C9BDB828C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">
            <a:extLst>
              <a:ext uri="{FF2B5EF4-FFF2-40B4-BE49-F238E27FC236}">
                <a16:creationId xmlns:a16="http://schemas.microsoft.com/office/drawing/2014/main" id="{AE6EDF1D-3DC5-ED4E-B7FF-232CEAF5A0BF}"/>
              </a:ext>
            </a:extLst>
          </p:cNvPr>
          <p:cNvSpPr>
            <a:spLocks noGrp="1"/>
          </p:cNvSpPr>
          <p:nvPr/>
        </p:nvSpPr>
        <p:spPr>
          <a:xfrm>
            <a:off x="11708178" y="2893544"/>
            <a:ext cx="967644" cy="165515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1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i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4" name="¬P">
            <a:extLst>
              <a:ext uri="{FF2B5EF4-FFF2-40B4-BE49-F238E27FC236}">
                <a16:creationId xmlns:a16="http://schemas.microsoft.com/office/drawing/2014/main" id="{7EBAECA7-9102-148C-357A-7F48F550B940}"/>
              </a:ext>
            </a:extLst>
          </p:cNvPr>
          <p:cNvSpPr>
            <a:spLocks noGrp="1"/>
          </p:cNvSpPr>
          <p:nvPr/>
        </p:nvSpPr>
        <p:spPr>
          <a:xfrm>
            <a:off x="11314248" y="5417668"/>
            <a:ext cx="1755504" cy="16551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¬</a:t>
            </a: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1763639236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69A42-AD64-DE6C-2D2D-66C62DB41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">
            <a:extLst>
              <a:ext uri="{FF2B5EF4-FFF2-40B4-BE49-F238E27FC236}">
                <a16:creationId xmlns:a16="http://schemas.microsoft.com/office/drawing/2014/main" id="{5A1BEDE3-970F-93A2-5146-35373E7ACCFD}"/>
              </a:ext>
            </a:extLst>
          </p:cNvPr>
          <p:cNvSpPr>
            <a:spLocks noGrp="1"/>
          </p:cNvSpPr>
          <p:nvPr/>
        </p:nvSpPr>
        <p:spPr>
          <a:xfrm>
            <a:off x="11708178" y="2893544"/>
            <a:ext cx="967644" cy="165515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1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i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546" name="¬P">
            <a:extLst>
              <a:ext uri="{FF2B5EF4-FFF2-40B4-BE49-F238E27FC236}">
                <a16:creationId xmlns:a16="http://schemas.microsoft.com/office/drawing/2014/main" id="{AD139D4A-1974-8DD6-D35D-458A5A0B41BA}"/>
              </a:ext>
            </a:extLst>
          </p:cNvPr>
          <p:cNvSpPr>
            <a:spLocks noGrp="1"/>
          </p:cNvSpPr>
          <p:nvPr/>
        </p:nvSpPr>
        <p:spPr>
          <a:xfrm>
            <a:off x="11314248" y="5417668"/>
            <a:ext cx="1755504" cy="165515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1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¬</a:t>
            </a:r>
            <a:r>
              <a:rPr i="1"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547" name="( )">
            <a:extLst>
              <a:ext uri="{FF2B5EF4-FFF2-40B4-BE49-F238E27FC236}">
                <a16:creationId xmlns:a16="http://schemas.microsoft.com/office/drawing/2014/main" id="{576D1E36-0FA9-1128-3895-F0C48CD63EA4}"/>
              </a:ext>
            </a:extLst>
          </p:cNvPr>
          <p:cNvSpPr>
            <a:spLocks noGrp="1"/>
          </p:cNvSpPr>
          <p:nvPr/>
        </p:nvSpPr>
        <p:spPr>
          <a:xfrm>
            <a:off x="11495013" y="9233340"/>
            <a:ext cx="1393974" cy="165515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1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 )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6697559-2709-D6A8-C14D-E7A3BADBFCA7}"/>
              </a:ext>
            </a:extLst>
          </p:cNvPr>
          <p:cNvCxnSpPr/>
          <p:nvPr/>
        </p:nvCxnSpPr>
        <p:spPr>
          <a:xfrm>
            <a:off x="1977084" y="7947652"/>
            <a:ext cx="20403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792048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Inference by Resolution">
            <a:extLst>
              <a:ext uri="{FF2B5EF4-FFF2-40B4-BE49-F238E27FC236}">
                <a16:creationId xmlns:a16="http://schemas.microsoft.com/office/drawing/2014/main" id="{885400E9-017E-414D-8BB4-6A61D0E424D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</p:spTree>
    <p:extLst>
      <p:ext uri="{BB962C8B-B14F-4D97-AF65-F5344CB8AC3E}">
        <p14:creationId xmlns:p14="http://schemas.microsoft.com/office/powerpoint/2010/main" val="2040768980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86047-AF30-FBC7-E751-C0EFC70A7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Inference by Resolution">
            <a:extLst>
              <a:ext uri="{FF2B5EF4-FFF2-40B4-BE49-F238E27FC236}">
                <a16:creationId xmlns:a16="http://schemas.microsoft.com/office/drawing/2014/main" id="{66BB179D-93DA-D100-7064-550020BB13D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  <p:sp>
        <p:nvSpPr>
          <p:cNvPr id="550" name="To determine if KB ⊨ α:…">
            <a:extLst>
              <a:ext uri="{FF2B5EF4-FFF2-40B4-BE49-F238E27FC236}">
                <a16:creationId xmlns:a16="http://schemas.microsoft.com/office/drawing/2014/main" id="{6C59FF61-0C5F-FE25-8214-C69919B2E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349578"/>
            <a:ext cx="21005800" cy="8096422"/>
          </a:xfrm>
          <a:prstGeom prst="rect">
            <a:avLst/>
          </a:prstGeom>
        </p:spPr>
        <p:txBody>
          <a:bodyPr anchor="t" anchorCtr="0"/>
          <a:lstStyle/>
          <a:p>
            <a:r>
              <a:rPr dirty="0"/>
              <a:t>Para </a:t>
            </a:r>
            <a:r>
              <a:rPr dirty="0" err="1"/>
              <a:t>determinar</a:t>
            </a:r>
            <a:r>
              <a:rPr dirty="0"/>
              <a:t> se </a:t>
            </a:r>
            <a:r>
              <a:rPr i="1" dirty="0"/>
              <a:t>KB</a:t>
            </a:r>
            <a:r>
              <a:rPr dirty="0"/>
              <a:t> ⊨ </a:t>
            </a:r>
            <a:r>
              <a:rPr i="1" dirty="0"/>
              <a:t>α</a:t>
            </a:r>
            <a:r>
              <a:rPr dirty="0"/>
              <a:t>:</a:t>
            </a:r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4070259191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728D1-3328-CC42-4894-AB8556867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Inference by Resolution">
            <a:extLst>
              <a:ext uri="{FF2B5EF4-FFF2-40B4-BE49-F238E27FC236}">
                <a16:creationId xmlns:a16="http://schemas.microsoft.com/office/drawing/2014/main" id="{CEA840F9-5E2E-F472-C47D-CEC9E27137A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  <p:sp>
        <p:nvSpPr>
          <p:cNvPr id="550" name="To determine if KB ⊨ α:…">
            <a:extLst>
              <a:ext uri="{FF2B5EF4-FFF2-40B4-BE49-F238E27FC236}">
                <a16:creationId xmlns:a16="http://schemas.microsoft.com/office/drawing/2014/main" id="{0324A1D0-E965-BDCD-0BE3-92A37144E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349578"/>
            <a:ext cx="21005800" cy="8096422"/>
          </a:xfrm>
          <a:prstGeom prst="rect">
            <a:avLst/>
          </a:prstGeom>
        </p:spPr>
        <p:txBody>
          <a:bodyPr anchor="t" anchorCtr="0"/>
          <a:lstStyle/>
          <a:p>
            <a:r>
              <a:rPr dirty="0"/>
              <a:t>Para </a:t>
            </a:r>
            <a:r>
              <a:rPr dirty="0" err="1"/>
              <a:t>determinar</a:t>
            </a:r>
            <a:r>
              <a:rPr dirty="0"/>
              <a:t> se </a:t>
            </a:r>
            <a:r>
              <a:rPr i="1" dirty="0"/>
              <a:t>KB</a:t>
            </a:r>
            <a:r>
              <a:rPr dirty="0"/>
              <a:t> ⊨ </a:t>
            </a:r>
            <a:r>
              <a:rPr i="1" dirty="0"/>
              <a:t>α</a:t>
            </a:r>
            <a:r>
              <a:rPr dirty="0"/>
              <a:t>:</a:t>
            </a:r>
            <a:endParaRPr lang="en-BR" dirty="0"/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 err="1"/>
              <a:t>Verifique</a:t>
            </a:r>
            <a:r>
              <a:rPr lang="en-US" dirty="0"/>
              <a:t> se (</a:t>
            </a:r>
            <a:r>
              <a:rPr lang="en-US" i="1" dirty="0"/>
              <a:t>KB</a:t>
            </a:r>
            <a:r>
              <a:rPr lang="en-US" dirty="0"/>
              <a:t> ∧ ¬</a:t>
            </a:r>
            <a:r>
              <a:rPr lang="el-GR" i="1" dirty="0"/>
              <a:t>α</a:t>
            </a:r>
            <a:r>
              <a:rPr lang="el-GR" dirty="0"/>
              <a:t>)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contradição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7325095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3DA7D-1295-BFCD-257B-B4138D5C8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Inference by Resolution">
            <a:extLst>
              <a:ext uri="{FF2B5EF4-FFF2-40B4-BE49-F238E27FC236}">
                <a16:creationId xmlns:a16="http://schemas.microsoft.com/office/drawing/2014/main" id="{0ED0E088-6161-51AA-59A2-85B72C7F3C9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  <p:sp>
        <p:nvSpPr>
          <p:cNvPr id="550" name="To determine if KB ⊨ α:…">
            <a:extLst>
              <a:ext uri="{FF2B5EF4-FFF2-40B4-BE49-F238E27FC236}">
                <a16:creationId xmlns:a16="http://schemas.microsoft.com/office/drawing/2014/main" id="{70657BD4-FA04-279C-2329-46C9052E8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349578"/>
            <a:ext cx="21005800" cy="8096422"/>
          </a:xfrm>
          <a:prstGeom prst="rect">
            <a:avLst/>
          </a:prstGeom>
        </p:spPr>
        <p:txBody>
          <a:bodyPr anchor="t" anchorCtr="0"/>
          <a:lstStyle/>
          <a:p>
            <a:r>
              <a:rPr dirty="0"/>
              <a:t>Para </a:t>
            </a:r>
            <a:r>
              <a:rPr dirty="0" err="1"/>
              <a:t>determinar</a:t>
            </a:r>
            <a:r>
              <a:rPr dirty="0"/>
              <a:t> se </a:t>
            </a:r>
            <a:r>
              <a:rPr i="1" dirty="0"/>
              <a:t>KB</a:t>
            </a:r>
            <a:r>
              <a:rPr dirty="0"/>
              <a:t> ⊨ </a:t>
            </a:r>
            <a:r>
              <a:rPr i="1" dirty="0"/>
              <a:t>α</a:t>
            </a:r>
            <a:r>
              <a:rPr dirty="0"/>
              <a:t>:</a:t>
            </a:r>
            <a:endParaRPr lang="en-BR" dirty="0"/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 err="1"/>
              <a:t>Verifique</a:t>
            </a:r>
            <a:r>
              <a:rPr lang="en-US" dirty="0"/>
              <a:t> se (</a:t>
            </a:r>
            <a:r>
              <a:rPr lang="en-US" i="1" dirty="0"/>
              <a:t>KB</a:t>
            </a:r>
            <a:r>
              <a:rPr lang="en-US" dirty="0"/>
              <a:t> ∧ ¬</a:t>
            </a:r>
            <a:r>
              <a:rPr lang="el-GR" i="1" dirty="0"/>
              <a:t>α</a:t>
            </a:r>
            <a:r>
              <a:rPr lang="el-GR" dirty="0"/>
              <a:t>)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contradição</a:t>
            </a:r>
            <a:r>
              <a:rPr lang="en-US" dirty="0"/>
              <a:t>.</a:t>
            </a:r>
          </a:p>
          <a:p>
            <a:pPr marL="3397250" lvl="4" indent="-857250">
              <a:buFont typeface="Arial" panose="020B0604020202020204" pitchFamily="34" charset="0"/>
              <a:buChar char="•"/>
            </a:pPr>
            <a:r>
              <a:rPr lang="en-US" dirty="0"/>
              <a:t>Se for, </a:t>
            </a:r>
            <a:r>
              <a:rPr lang="en-US" dirty="0" err="1"/>
              <a:t>então</a:t>
            </a:r>
            <a:r>
              <a:rPr lang="en-US" dirty="0"/>
              <a:t> </a:t>
            </a:r>
            <a:r>
              <a:rPr lang="en-US" i="1" dirty="0"/>
              <a:t>KB</a:t>
            </a:r>
            <a:r>
              <a:rPr lang="en-US" dirty="0"/>
              <a:t> ⊨ </a:t>
            </a:r>
            <a:r>
              <a:rPr lang="el-GR" i="1" dirty="0"/>
              <a:t>α</a:t>
            </a:r>
            <a:r>
              <a:rPr lang="el-G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0251196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D15C9-E5C0-4779-8C9E-4F59F7415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Inference by Resolution">
            <a:extLst>
              <a:ext uri="{FF2B5EF4-FFF2-40B4-BE49-F238E27FC236}">
                <a16:creationId xmlns:a16="http://schemas.microsoft.com/office/drawing/2014/main" id="{6EEFA964-FB11-B46A-EF72-2CCF5F04681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  <p:sp>
        <p:nvSpPr>
          <p:cNvPr id="550" name="To determine if KB ⊨ α:…">
            <a:extLst>
              <a:ext uri="{FF2B5EF4-FFF2-40B4-BE49-F238E27FC236}">
                <a16:creationId xmlns:a16="http://schemas.microsoft.com/office/drawing/2014/main" id="{7D4347F2-D25D-43C2-E08D-C5D222F30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349578"/>
            <a:ext cx="21005800" cy="8096422"/>
          </a:xfrm>
          <a:prstGeom prst="rect">
            <a:avLst/>
          </a:prstGeom>
        </p:spPr>
        <p:txBody>
          <a:bodyPr anchor="t" anchorCtr="0"/>
          <a:lstStyle/>
          <a:p>
            <a:r>
              <a:rPr dirty="0"/>
              <a:t>Para </a:t>
            </a:r>
            <a:r>
              <a:rPr dirty="0" err="1"/>
              <a:t>determinar</a:t>
            </a:r>
            <a:r>
              <a:rPr dirty="0"/>
              <a:t> se </a:t>
            </a:r>
            <a:r>
              <a:rPr i="1" dirty="0"/>
              <a:t>KB</a:t>
            </a:r>
            <a:r>
              <a:rPr dirty="0"/>
              <a:t> ⊨ </a:t>
            </a:r>
            <a:r>
              <a:rPr i="1" dirty="0"/>
              <a:t>α</a:t>
            </a:r>
            <a:r>
              <a:rPr dirty="0"/>
              <a:t>:</a:t>
            </a:r>
            <a:endParaRPr lang="en-BR" dirty="0"/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 err="1"/>
              <a:t>Verifique</a:t>
            </a:r>
            <a:r>
              <a:rPr lang="en-US" dirty="0"/>
              <a:t> se (</a:t>
            </a:r>
            <a:r>
              <a:rPr lang="en-US" i="1" dirty="0"/>
              <a:t>KB</a:t>
            </a:r>
            <a:r>
              <a:rPr lang="en-US" dirty="0"/>
              <a:t> ∧ ¬</a:t>
            </a:r>
            <a:r>
              <a:rPr lang="el-GR" i="1" dirty="0"/>
              <a:t>α</a:t>
            </a:r>
            <a:r>
              <a:rPr lang="el-GR" dirty="0"/>
              <a:t>)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contradição</a:t>
            </a:r>
            <a:r>
              <a:rPr lang="en-US" dirty="0"/>
              <a:t>.</a:t>
            </a:r>
          </a:p>
          <a:p>
            <a:pPr marL="3397250" lvl="4" indent="-857250">
              <a:buFont typeface="Arial" panose="020B0604020202020204" pitchFamily="34" charset="0"/>
              <a:buChar char="•"/>
            </a:pPr>
            <a:r>
              <a:rPr lang="en-US" dirty="0"/>
              <a:t>Se for, </a:t>
            </a:r>
            <a:r>
              <a:rPr lang="en-US" dirty="0" err="1"/>
              <a:t>então</a:t>
            </a:r>
            <a:r>
              <a:rPr lang="en-US" dirty="0"/>
              <a:t> </a:t>
            </a:r>
            <a:r>
              <a:rPr lang="en-US" i="1" dirty="0"/>
              <a:t>KB</a:t>
            </a:r>
            <a:r>
              <a:rPr lang="en-US" dirty="0"/>
              <a:t> ⊨ </a:t>
            </a:r>
            <a:r>
              <a:rPr lang="el-GR" i="1" dirty="0"/>
              <a:t>α</a:t>
            </a:r>
            <a:r>
              <a:rPr lang="el-GR" dirty="0"/>
              <a:t>.</a:t>
            </a:r>
          </a:p>
          <a:p>
            <a:pPr marL="3397250" lvl="4" indent="-857250">
              <a:buFont typeface="Arial" panose="020B0604020202020204" pitchFamily="34" charset="0"/>
              <a:buChar char="•"/>
            </a:pPr>
            <a:r>
              <a:rPr lang="en-US" dirty="0"/>
              <a:t>Caso </a:t>
            </a:r>
            <a:r>
              <a:rPr lang="en-US" dirty="0" err="1"/>
              <a:t>contrário</a:t>
            </a:r>
            <a:r>
              <a:rPr lang="en-US" dirty="0"/>
              <a:t>,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há</a:t>
            </a:r>
            <a:r>
              <a:rPr lang="en-US" dirty="0"/>
              <a:t> </a:t>
            </a:r>
            <a:r>
              <a:rPr lang="en-US" dirty="0" err="1"/>
              <a:t>consequência</a:t>
            </a:r>
            <a:r>
              <a:rPr lang="en-US" dirty="0"/>
              <a:t> </a:t>
            </a:r>
            <a:r>
              <a:rPr lang="en-US" dirty="0" err="1"/>
              <a:t>lógica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2736916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Inference by Resolution">
            <a:extLst>
              <a:ext uri="{FF2B5EF4-FFF2-40B4-BE49-F238E27FC236}">
                <a16:creationId xmlns:a16="http://schemas.microsoft.com/office/drawing/2014/main" id="{F142926E-E47B-42D5-BD79-BEA7F157C0D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</p:spTree>
    <p:extLst>
      <p:ext uri="{BB962C8B-B14F-4D97-AF65-F5344CB8AC3E}">
        <p14:creationId xmlns:p14="http://schemas.microsoft.com/office/powerpoint/2010/main" val="1536269511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E543D-32A1-1855-1247-58332698B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Inference by Resolution">
            <a:extLst>
              <a:ext uri="{FF2B5EF4-FFF2-40B4-BE49-F238E27FC236}">
                <a16:creationId xmlns:a16="http://schemas.microsoft.com/office/drawing/2014/main" id="{7320A228-CE80-19B2-5A6A-D49A448BEAD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  <p:sp>
        <p:nvSpPr>
          <p:cNvPr id="553" name="To determine if KB ⊨ α:…">
            <a:extLst>
              <a:ext uri="{FF2B5EF4-FFF2-40B4-BE49-F238E27FC236}">
                <a16:creationId xmlns:a16="http://schemas.microsoft.com/office/drawing/2014/main" id="{298BB3FE-DAA9-7528-1158-346887C5F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 anchorCtr="0"/>
          <a:lstStyle/>
          <a:p>
            <a:r>
              <a:rPr dirty="0"/>
              <a:t>Para </a:t>
            </a:r>
            <a:r>
              <a:rPr dirty="0" err="1"/>
              <a:t>determinar</a:t>
            </a:r>
            <a:r>
              <a:rPr dirty="0"/>
              <a:t> se </a:t>
            </a:r>
            <a:r>
              <a:rPr i="1" dirty="0"/>
              <a:t>KB</a:t>
            </a:r>
            <a:r>
              <a:rPr dirty="0"/>
              <a:t> ⊨ </a:t>
            </a:r>
            <a:r>
              <a:rPr i="1" dirty="0"/>
              <a:t>α</a:t>
            </a:r>
            <a:r>
              <a:rPr dirty="0"/>
              <a:t>:</a:t>
            </a:r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1866426965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563E7-E55E-0749-044D-05A07BF31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Inference by Resolution">
            <a:extLst>
              <a:ext uri="{FF2B5EF4-FFF2-40B4-BE49-F238E27FC236}">
                <a16:creationId xmlns:a16="http://schemas.microsoft.com/office/drawing/2014/main" id="{290017FF-F870-7635-ABF3-A1746F1D779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  <p:sp>
        <p:nvSpPr>
          <p:cNvPr id="553" name="To determine if KB ⊨ α:…">
            <a:extLst>
              <a:ext uri="{FF2B5EF4-FFF2-40B4-BE49-F238E27FC236}">
                <a16:creationId xmlns:a16="http://schemas.microsoft.com/office/drawing/2014/main" id="{116AEEA3-506A-96B0-5A05-7DD132A5B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 anchorCtr="0"/>
          <a:lstStyle/>
          <a:p>
            <a:r>
              <a:rPr dirty="0"/>
              <a:t>Para </a:t>
            </a:r>
            <a:r>
              <a:rPr dirty="0" err="1"/>
              <a:t>determinar</a:t>
            </a:r>
            <a:r>
              <a:rPr dirty="0"/>
              <a:t> se </a:t>
            </a:r>
            <a:r>
              <a:rPr i="1" dirty="0"/>
              <a:t>KB</a:t>
            </a:r>
            <a:r>
              <a:rPr dirty="0"/>
              <a:t> ⊨ </a:t>
            </a:r>
            <a:r>
              <a:rPr i="1" dirty="0"/>
              <a:t>α</a:t>
            </a:r>
            <a:r>
              <a:rPr dirty="0"/>
              <a:t>:</a:t>
            </a:r>
            <a:endParaRPr lang="en-BR" dirty="0"/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 err="1"/>
              <a:t>Converta</a:t>
            </a:r>
            <a:r>
              <a:rPr lang="en-US" dirty="0"/>
              <a:t> (</a:t>
            </a:r>
            <a:r>
              <a:rPr lang="en-US" i="1" dirty="0"/>
              <a:t>KB</a:t>
            </a:r>
            <a:r>
              <a:rPr lang="en-US" dirty="0"/>
              <a:t> ∧ ¬</a:t>
            </a:r>
            <a:r>
              <a:rPr lang="el-GR" i="1" dirty="0"/>
              <a:t>α</a:t>
            </a:r>
            <a:r>
              <a:rPr lang="el-GR" dirty="0"/>
              <a:t>) </a:t>
            </a:r>
            <a:r>
              <a:rPr lang="en-US" dirty="0"/>
              <a:t>para a Forma Normal </a:t>
            </a:r>
            <a:r>
              <a:rPr lang="en-US" dirty="0" err="1"/>
              <a:t>Conjuntiva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92137883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6CF4F-40DB-FB9E-4B2E-188BD30C7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Inference by Resolution">
            <a:extLst>
              <a:ext uri="{FF2B5EF4-FFF2-40B4-BE49-F238E27FC236}">
                <a16:creationId xmlns:a16="http://schemas.microsoft.com/office/drawing/2014/main" id="{DE2C3225-BEC3-B0BA-C0EE-37C5BA9FB3E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  <p:sp>
        <p:nvSpPr>
          <p:cNvPr id="553" name="To determine if KB ⊨ α:…">
            <a:extLst>
              <a:ext uri="{FF2B5EF4-FFF2-40B4-BE49-F238E27FC236}">
                <a16:creationId xmlns:a16="http://schemas.microsoft.com/office/drawing/2014/main" id="{612534A8-4307-5805-ED93-C9951E7E8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 anchorCtr="0"/>
          <a:lstStyle/>
          <a:p>
            <a:r>
              <a:rPr dirty="0"/>
              <a:t>Para </a:t>
            </a:r>
            <a:r>
              <a:rPr dirty="0" err="1"/>
              <a:t>determinar</a:t>
            </a:r>
            <a:r>
              <a:rPr dirty="0"/>
              <a:t> se </a:t>
            </a:r>
            <a:r>
              <a:rPr i="1" dirty="0"/>
              <a:t>KB</a:t>
            </a:r>
            <a:r>
              <a:rPr dirty="0"/>
              <a:t> ⊨ </a:t>
            </a:r>
            <a:r>
              <a:rPr i="1" dirty="0"/>
              <a:t>α</a:t>
            </a:r>
            <a:r>
              <a:rPr dirty="0"/>
              <a:t>:</a:t>
            </a:r>
            <a:endParaRPr lang="en-BR" dirty="0"/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 err="1"/>
              <a:t>Converta</a:t>
            </a:r>
            <a:r>
              <a:rPr lang="en-US" dirty="0"/>
              <a:t> (</a:t>
            </a:r>
            <a:r>
              <a:rPr lang="en-US" i="1" dirty="0"/>
              <a:t>KB</a:t>
            </a:r>
            <a:r>
              <a:rPr lang="en-US" dirty="0"/>
              <a:t> ∧ ¬</a:t>
            </a:r>
            <a:r>
              <a:rPr lang="el-GR" i="1" dirty="0"/>
              <a:t>α</a:t>
            </a:r>
            <a:r>
              <a:rPr lang="el-GR" dirty="0"/>
              <a:t>) </a:t>
            </a:r>
            <a:r>
              <a:rPr lang="en-US" dirty="0"/>
              <a:t>para a Forma Normal </a:t>
            </a:r>
            <a:r>
              <a:rPr lang="en-US" dirty="0" err="1"/>
              <a:t>Conjuntiva</a:t>
            </a:r>
            <a:r>
              <a:rPr lang="en-US" dirty="0"/>
              <a:t>.</a:t>
            </a:r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/>
              <a:t>Continue </a:t>
            </a:r>
            <a:r>
              <a:rPr lang="en-US" dirty="0" err="1"/>
              <a:t>verificando</a:t>
            </a:r>
            <a:r>
              <a:rPr lang="en-US" dirty="0"/>
              <a:t> se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possível</a:t>
            </a:r>
            <a:r>
              <a:rPr lang="en-US" dirty="0"/>
              <a:t> usar a </a:t>
            </a:r>
            <a:r>
              <a:rPr lang="en-US" dirty="0" err="1"/>
              <a:t>resolução</a:t>
            </a:r>
            <a:r>
              <a:rPr lang="en-US" dirty="0"/>
              <a:t> para </a:t>
            </a:r>
            <a:r>
              <a:rPr lang="en-US" dirty="0" err="1"/>
              <a:t>produzir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nova </a:t>
            </a:r>
            <a:r>
              <a:rPr lang="en-US" dirty="0" err="1"/>
              <a:t>cláusula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0794729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7C331-ECB6-8E91-49EA-E494B1A7B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Inference by Resolution">
            <a:extLst>
              <a:ext uri="{FF2B5EF4-FFF2-40B4-BE49-F238E27FC236}">
                <a16:creationId xmlns:a16="http://schemas.microsoft.com/office/drawing/2014/main" id="{76F1AFCD-DCDC-FCE9-9152-10FA89FD74C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  <p:sp>
        <p:nvSpPr>
          <p:cNvPr id="553" name="To determine if KB ⊨ α:…">
            <a:extLst>
              <a:ext uri="{FF2B5EF4-FFF2-40B4-BE49-F238E27FC236}">
                <a16:creationId xmlns:a16="http://schemas.microsoft.com/office/drawing/2014/main" id="{D70B75B5-5DC6-BAC9-F6A7-1150D7686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 anchorCtr="0"/>
          <a:lstStyle/>
          <a:p>
            <a:r>
              <a:rPr dirty="0"/>
              <a:t>Para </a:t>
            </a:r>
            <a:r>
              <a:rPr dirty="0" err="1"/>
              <a:t>determinar</a:t>
            </a:r>
            <a:r>
              <a:rPr dirty="0"/>
              <a:t> se </a:t>
            </a:r>
            <a:r>
              <a:rPr i="1" dirty="0"/>
              <a:t>KB</a:t>
            </a:r>
            <a:r>
              <a:rPr dirty="0"/>
              <a:t> ⊨ </a:t>
            </a:r>
            <a:r>
              <a:rPr i="1" dirty="0"/>
              <a:t>α</a:t>
            </a:r>
            <a:r>
              <a:rPr dirty="0"/>
              <a:t>:</a:t>
            </a:r>
            <a:endParaRPr lang="en-BR" dirty="0"/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 err="1"/>
              <a:t>Converta</a:t>
            </a:r>
            <a:r>
              <a:rPr lang="en-US" dirty="0"/>
              <a:t> (</a:t>
            </a:r>
            <a:r>
              <a:rPr lang="en-US" i="1" dirty="0"/>
              <a:t>KB</a:t>
            </a:r>
            <a:r>
              <a:rPr lang="en-US" dirty="0"/>
              <a:t> ∧ ¬</a:t>
            </a:r>
            <a:r>
              <a:rPr lang="el-GR" i="1" dirty="0"/>
              <a:t>α</a:t>
            </a:r>
            <a:r>
              <a:rPr lang="el-GR" dirty="0"/>
              <a:t>) </a:t>
            </a:r>
            <a:r>
              <a:rPr lang="en-US" dirty="0"/>
              <a:t>para a Forma Normal </a:t>
            </a:r>
            <a:r>
              <a:rPr lang="en-US" dirty="0" err="1"/>
              <a:t>Conjuntiva</a:t>
            </a:r>
            <a:r>
              <a:rPr lang="en-US" dirty="0"/>
              <a:t>.</a:t>
            </a:r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/>
              <a:t>Continue </a:t>
            </a:r>
            <a:r>
              <a:rPr lang="en-US" dirty="0" err="1"/>
              <a:t>verificando</a:t>
            </a:r>
            <a:r>
              <a:rPr lang="en-US" dirty="0"/>
              <a:t> se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possível</a:t>
            </a:r>
            <a:r>
              <a:rPr lang="en-US" dirty="0"/>
              <a:t> usar a </a:t>
            </a:r>
            <a:r>
              <a:rPr lang="en-US" dirty="0" err="1"/>
              <a:t>resolução</a:t>
            </a:r>
            <a:r>
              <a:rPr lang="en-US" dirty="0"/>
              <a:t> para </a:t>
            </a:r>
            <a:r>
              <a:rPr lang="en-US" dirty="0" err="1"/>
              <a:t>produzir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nova </a:t>
            </a:r>
            <a:r>
              <a:rPr lang="en-US" dirty="0" err="1"/>
              <a:t>cláusula</a:t>
            </a:r>
            <a:r>
              <a:rPr lang="en-US" dirty="0"/>
              <a:t>.</a:t>
            </a:r>
          </a:p>
          <a:p>
            <a:pPr marL="3397250" lvl="4" indent="-857250">
              <a:buFont typeface="Arial" panose="020B0604020202020204" pitchFamily="34" charset="0"/>
              <a:buChar char="•"/>
            </a:pPr>
            <a:r>
              <a:rPr lang="en-US" dirty="0"/>
              <a:t>Se </a:t>
            </a:r>
            <a:r>
              <a:rPr lang="en-US" dirty="0" err="1"/>
              <a:t>produzirmos</a:t>
            </a:r>
            <a:r>
              <a:rPr lang="en-US" dirty="0"/>
              <a:t> a </a:t>
            </a:r>
            <a:r>
              <a:rPr lang="en-US" dirty="0" err="1"/>
              <a:t>cláusula</a:t>
            </a:r>
            <a:r>
              <a:rPr lang="en-US" dirty="0"/>
              <a:t> </a:t>
            </a:r>
            <a:r>
              <a:rPr lang="en-US" dirty="0" err="1"/>
              <a:t>vazia</a:t>
            </a:r>
            <a:r>
              <a:rPr lang="en-US" dirty="0"/>
              <a:t> (</a:t>
            </a:r>
            <a:r>
              <a:rPr lang="en-US" dirty="0" err="1"/>
              <a:t>equivalente</a:t>
            </a:r>
            <a:r>
              <a:rPr lang="en-US" dirty="0"/>
              <a:t> a False), </a:t>
            </a:r>
            <a:r>
              <a:rPr lang="en-US" dirty="0" err="1"/>
              <a:t>teremos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contradição</a:t>
            </a:r>
            <a:r>
              <a:rPr lang="en-US" dirty="0"/>
              <a:t> e KB ⊨ </a:t>
            </a:r>
            <a:r>
              <a:rPr lang="el-GR" i="1" dirty="0"/>
              <a:t>α</a:t>
            </a:r>
            <a:r>
              <a:rPr lang="el-G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1427265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668B7-4B9C-A64C-6008-1DA93E2BB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Inference by Resolution">
            <a:extLst>
              <a:ext uri="{FF2B5EF4-FFF2-40B4-BE49-F238E27FC236}">
                <a16:creationId xmlns:a16="http://schemas.microsoft.com/office/drawing/2014/main" id="{E81DB1D9-13F3-25B0-2FDB-125287234D2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  <p:sp>
        <p:nvSpPr>
          <p:cNvPr id="553" name="To determine if KB ⊨ α:…">
            <a:extLst>
              <a:ext uri="{FF2B5EF4-FFF2-40B4-BE49-F238E27FC236}">
                <a16:creationId xmlns:a16="http://schemas.microsoft.com/office/drawing/2014/main" id="{F63EBE1F-0519-7D64-5134-BE6C16FD5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 anchorCtr="0"/>
          <a:lstStyle/>
          <a:p>
            <a:r>
              <a:rPr dirty="0"/>
              <a:t>Para </a:t>
            </a:r>
            <a:r>
              <a:rPr dirty="0" err="1"/>
              <a:t>determinar</a:t>
            </a:r>
            <a:r>
              <a:rPr dirty="0"/>
              <a:t> se </a:t>
            </a:r>
            <a:r>
              <a:rPr i="1" dirty="0"/>
              <a:t>KB</a:t>
            </a:r>
            <a:r>
              <a:rPr dirty="0"/>
              <a:t> ⊨ </a:t>
            </a:r>
            <a:r>
              <a:rPr i="1" dirty="0"/>
              <a:t>α</a:t>
            </a:r>
            <a:r>
              <a:rPr dirty="0"/>
              <a:t>:</a:t>
            </a:r>
            <a:endParaRPr lang="en-BR" dirty="0"/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 err="1"/>
              <a:t>Converta</a:t>
            </a:r>
            <a:r>
              <a:rPr lang="en-US" dirty="0"/>
              <a:t> (</a:t>
            </a:r>
            <a:r>
              <a:rPr lang="en-US" i="1" dirty="0"/>
              <a:t>KB</a:t>
            </a:r>
            <a:r>
              <a:rPr lang="en-US" dirty="0"/>
              <a:t> ∧ ¬</a:t>
            </a:r>
            <a:r>
              <a:rPr lang="el-GR" i="1" dirty="0"/>
              <a:t>α</a:t>
            </a:r>
            <a:r>
              <a:rPr lang="el-GR" dirty="0"/>
              <a:t>) </a:t>
            </a:r>
            <a:r>
              <a:rPr lang="en-US" dirty="0"/>
              <a:t>para a Forma Normal </a:t>
            </a:r>
            <a:r>
              <a:rPr lang="en-US" dirty="0" err="1"/>
              <a:t>Conjuntiva</a:t>
            </a:r>
            <a:r>
              <a:rPr lang="en-US" dirty="0"/>
              <a:t>.</a:t>
            </a:r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lang="en-US" dirty="0"/>
              <a:t>Continue </a:t>
            </a:r>
            <a:r>
              <a:rPr lang="en-US" dirty="0" err="1"/>
              <a:t>verificando</a:t>
            </a:r>
            <a:r>
              <a:rPr lang="en-US" dirty="0"/>
              <a:t> se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possível</a:t>
            </a:r>
            <a:r>
              <a:rPr lang="en-US" dirty="0"/>
              <a:t> usar a </a:t>
            </a:r>
            <a:r>
              <a:rPr lang="en-US" dirty="0" err="1"/>
              <a:t>resolução</a:t>
            </a:r>
            <a:r>
              <a:rPr lang="en-US" dirty="0"/>
              <a:t> para </a:t>
            </a:r>
            <a:r>
              <a:rPr lang="en-US" dirty="0" err="1"/>
              <a:t>produzir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nova </a:t>
            </a:r>
            <a:r>
              <a:rPr lang="en-US" dirty="0" err="1"/>
              <a:t>cláusula</a:t>
            </a:r>
            <a:r>
              <a:rPr lang="en-US" dirty="0"/>
              <a:t>.</a:t>
            </a:r>
          </a:p>
          <a:p>
            <a:pPr marL="3397250" lvl="4" indent="-857250">
              <a:buFont typeface="Arial" panose="020B0604020202020204" pitchFamily="34" charset="0"/>
              <a:buChar char="•"/>
            </a:pPr>
            <a:r>
              <a:rPr lang="en-US" dirty="0"/>
              <a:t>Se </a:t>
            </a:r>
            <a:r>
              <a:rPr lang="en-US" dirty="0" err="1"/>
              <a:t>produzirmos</a:t>
            </a:r>
            <a:r>
              <a:rPr lang="en-US" dirty="0"/>
              <a:t> a </a:t>
            </a:r>
            <a:r>
              <a:rPr lang="en-US" dirty="0" err="1"/>
              <a:t>cláusula</a:t>
            </a:r>
            <a:r>
              <a:rPr lang="en-US" dirty="0"/>
              <a:t> </a:t>
            </a:r>
            <a:r>
              <a:rPr lang="en-US" dirty="0" err="1"/>
              <a:t>vazia</a:t>
            </a:r>
            <a:r>
              <a:rPr lang="en-US" dirty="0"/>
              <a:t> (</a:t>
            </a:r>
            <a:r>
              <a:rPr lang="en-US" dirty="0" err="1"/>
              <a:t>equivalente</a:t>
            </a:r>
            <a:r>
              <a:rPr lang="en-US" dirty="0"/>
              <a:t> a False), </a:t>
            </a:r>
            <a:r>
              <a:rPr lang="en-US" dirty="0" err="1"/>
              <a:t>teremos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contradição</a:t>
            </a:r>
            <a:r>
              <a:rPr lang="en-US" dirty="0"/>
              <a:t> e KB ⊨ </a:t>
            </a:r>
            <a:r>
              <a:rPr lang="el-GR" i="1" dirty="0"/>
              <a:t>α</a:t>
            </a:r>
            <a:r>
              <a:rPr lang="el-GR" dirty="0"/>
              <a:t>.</a:t>
            </a:r>
          </a:p>
          <a:p>
            <a:pPr marL="3397250" lvl="4" indent="-857250">
              <a:buFont typeface="Arial" panose="020B0604020202020204" pitchFamily="34" charset="0"/>
              <a:buChar char="•"/>
            </a:pPr>
            <a:r>
              <a:rPr lang="en-US" dirty="0"/>
              <a:t>Caso </a:t>
            </a:r>
            <a:r>
              <a:rPr lang="en-US" dirty="0" err="1"/>
              <a:t>contrário</a:t>
            </a:r>
            <a:r>
              <a:rPr lang="en-US" dirty="0"/>
              <a:t>,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há</a:t>
            </a:r>
            <a:r>
              <a:rPr lang="en-US" dirty="0"/>
              <a:t> </a:t>
            </a:r>
            <a:r>
              <a:rPr lang="en-US" dirty="0" err="1"/>
              <a:t>implicação</a:t>
            </a:r>
            <a:r>
              <a:rPr lang="en-US" dirty="0"/>
              <a:t> </a:t>
            </a:r>
            <a:r>
              <a:rPr lang="en-US" dirty="0" err="1"/>
              <a:t>lógica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3877301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Inference by Resolution">
            <a:extLst>
              <a:ext uri="{FF2B5EF4-FFF2-40B4-BE49-F238E27FC236}">
                <a16:creationId xmlns:a16="http://schemas.microsoft.com/office/drawing/2014/main" id="{B9CA4167-B569-466A-AFBD-E8570C1F355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</p:spTree>
    <p:extLst>
      <p:ext uri="{BB962C8B-B14F-4D97-AF65-F5344CB8AC3E}">
        <p14:creationId xmlns:p14="http://schemas.microsoft.com/office/powerpoint/2010/main" val="1534079217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264E0-60FC-EF17-FF9A-EDCEE23FA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es (A ∨ B) ∧ (¬B ∨ C) ∧ (¬C) entail A?">
            <a:extLst>
              <a:ext uri="{FF2B5EF4-FFF2-40B4-BE49-F238E27FC236}">
                <a16:creationId xmlns:a16="http://schemas.microsoft.com/office/drawing/2014/main" id="{145619FE-2FB1-7E67-2C5C-6DA3464B0BA3}"/>
              </a:ext>
            </a:extLst>
          </p:cNvPr>
          <p:cNvSpPr>
            <a:spLocks noGrp="1"/>
          </p:cNvSpPr>
          <p:nvPr/>
        </p:nvSpPr>
        <p:spPr>
          <a:xfrm>
            <a:off x="1056580" y="3018964"/>
            <a:ext cx="22426011" cy="176856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lnSpc>
                <a:spcPct val="150000"/>
              </a:lnSpc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/>
              <a:t>(</a:t>
            </a:r>
            <a:r>
              <a:rPr i="1" dirty="0"/>
              <a:t>A</a:t>
            </a:r>
            <a:r>
              <a:rPr dirty="0"/>
              <a:t> ∨ </a:t>
            </a:r>
            <a:r>
              <a:rPr i="1" dirty="0"/>
              <a:t>B</a:t>
            </a:r>
            <a:r>
              <a:rPr dirty="0"/>
              <a:t>) ∧ (¬</a:t>
            </a:r>
            <a:r>
              <a:rPr i="1" dirty="0"/>
              <a:t>B</a:t>
            </a:r>
            <a:r>
              <a:rPr dirty="0"/>
              <a:t> ∨ </a:t>
            </a:r>
            <a:r>
              <a:rPr i="1" dirty="0"/>
              <a:t>C</a:t>
            </a:r>
            <a:r>
              <a:rPr dirty="0"/>
              <a:t>) ∧ (¬</a:t>
            </a:r>
            <a:r>
              <a:rPr i="1" dirty="0"/>
              <a:t>C</a:t>
            </a:r>
            <a:r>
              <a:rPr dirty="0"/>
              <a:t>) </a:t>
            </a:r>
            <a:r>
              <a:rPr dirty="0" err="1"/>
              <a:t>implica</a:t>
            </a:r>
            <a:r>
              <a:rPr dirty="0"/>
              <a:t> </a:t>
            </a:r>
            <a:r>
              <a:rPr dirty="0" err="1"/>
              <a:t>logicamente</a:t>
            </a:r>
            <a:r>
              <a:rPr dirty="0"/>
              <a:t> </a:t>
            </a:r>
            <a:r>
              <a:rPr i="1" dirty="0"/>
              <a:t>A</a:t>
            </a:r>
            <a:r>
              <a:rPr dirty="0"/>
              <a:t>?</a:t>
            </a:r>
          </a:p>
        </p:txBody>
      </p:sp>
      <p:sp>
        <p:nvSpPr>
          <p:cNvPr id="5" name="Inference by Resolution">
            <a:extLst>
              <a:ext uri="{FF2B5EF4-FFF2-40B4-BE49-F238E27FC236}">
                <a16:creationId xmlns:a16="http://schemas.microsoft.com/office/drawing/2014/main" id="{858F9F8C-7AEC-8293-2783-305F19B8A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</p:spTree>
    <p:extLst>
      <p:ext uri="{BB962C8B-B14F-4D97-AF65-F5344CB8AC3E}">
        <p14:creationId xmlns:p14="http://schemas.microsoft.com/office/powerpoint/2010/main" val="2117852442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D989C-6264-398B-6757-65FF3E42F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es (A ∨ B) ∧ (¬B ∨ C) ∧ (¬C) entail A?">
            <a:extLst>
              <a:ext uri="{FF2B5EF4-FFF2-40B4-BE49-F238E27FC236}">
                <a16:creationId xmlns:a16="http://schemas.microsoft.com/office/drawing/2014/main" id="{630ED516-656B-1DBB-6E4A-8E77B17C1279}"/>
              </a:ext>
            </a:extLst>
          </p:cNvPr>
          <p:cNvSpPr>
            <a:spLocks noGrp="1"/>
          </p:cNvSpPr>
          <p:nvPr/>
        </p:nvSpPr>
        <p:spPr>
          <a:xfrm>
            <a:off x="1056580" y="3018964"/>
            <a:ext cx="22426011" cy="176856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lnSpc>
                <a:spcPct val="150000"/>
              </a:lnSpc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/>
              <a:t>(</a:t>
            </a:r>
            <a:r>
              <a:rPr i="1" dirty="0"/>
              <a:t>A</a:t>
            </a:r>
            <a:r>
              <a:rPr dirty="0"/>
              <a:t> ∨ </a:t>
            </a:r>
            <a:r>
              <a:rPr i="1" dirty="0"/>
              <a:t>B</a:t>
            </a:r>
            <a:r>
              <a:rPr dirty="0"/>
              <a:t>) ∧ (¬</a:t>
            </a:r>
            <a:r>
              <a:rPr i="1" dirty="0"/>
              <a:t>B</a:t>
            </a:r>
            <a:r>
              <a:rPr dirty="0"/>
              <a:t> ∨ </a:t>
            </a:r>
            <a:r>
              <a:rPr i="1" dirty="0"/>
              <a:t>C</a:t>
            </a:r>
            <a:r>
              <a:rPr dirty="0"/>
              <a:t>) ∧ (¬</a:t>
            </a:r>
            <a:r>
              <a:rPr i="1" dirty="0"/>
              <a:t>C</a:t>
            </a:r>
            <a:r>
              <a:rPr dirty="0"/>
              <a:t>) </a:t>
            </a:r>
            <a:r>
              <a:rPr dirty="0" err="1"/>
              <a:t>implica</a:t>
            </a:r>
            <a:r>
              <a:rPr dirty="0"/>
              <a:t> </a:t>
            </a:r>
            <a:r>
              <a:rPr dirty="0" err="1"/>
              <a:t>logicamente</a:t>
            </a:r>
            <a:r>
              <a:rPr dirty="0"/>
              <a:t> </a:t>
            </a:r>
            <a:r>
              <a:rPr i="1" dirty="0"/>
              <a:t>A</a:t>
            </a:r>
            <a:r>
              <a:rPr dirty="0"/>
              <a:t>?</a:t>
            </a:r>
          </a:p>
        </p:txBody>
      </p:sp>
      <p:sp>
        <p:nvSpPr>
          <p:cNvPr id="5" name="Inference by Resolution">
            <a:extLst>
              <a:ext uri="{FF2B5EF4-FFF2-40B4-BE49-F238E27FC236}">
                <a16:creationId xmlns:a16="http://schemas.microsoft.com/office/drawing/2014/main" id="{B38A4205-ADF8-409A-79E3-F769261D8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  <p:sp>
        <p:nvSpPr>
          <p:cNvPr id="3" name="(A ∨ B) ∧ (¬B ∨ C) ∧ (¬C) ∧ (¬A)">
            <a:extLst>
              <a:ext uri="{FF2B5EF4-FFF2-40B4-BE49-F238E27FC236}">
                <a16:creationId xmlns:a16="http://schemas.microsoft.com/office/drawing/2014/main" id="{03527096-F54F-BD95-44BC-5EC770EECF2B}"/>
              </a:ext>
            </a:extLst>
          </p:cNvPr>
          <p:cNvSpPr>
            <a:spLocks noGrp="1"/>
          </p:cNvSpPr>
          <p:nvPr/>
        </p:nvSpPr>
        <p:spPr>
          <a:xfrm>
            <a:off x="5176043" y="5634818"/>
            <a:ext cx="13962262" cy="1341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A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B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B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C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C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A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25554599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EFFF4-E191-986F-E012-97C079118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es (A ∨ B) ∧ (¬B ∨ C) ∧ (¬C) entail A?">
            <a:extLst>
              <a:ext uri="{FF2B5EF4-FFF2-40B4-BE49-F238E27FC236}">
                <a16:creationId xmlns:a16="http://schemas.microsoft.com/office/drawing/2014/main" id="{80681049-3FE5-96B9-0361-ABE76884FD45}"/>
              </a:ext>
            </a:extLst>
          </p:cNvPr>
          <p:cNvSpPr>
            <a:spLocks noGrp="1"/>
          </p:cNvSpPr>
          <p:nvPr/>
        </p:nvSpPr>
        <p:spPr>
          <a:xfrm>
            <a:off x="1056580" y="3018964"/>
            <a:ext cx="22426011" cy="176856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lnSpc>
                <a:spcPct val="150000"/>
              </a:lnSpc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/>
              <a:t>(</a:t>
            </a:r>
            <a:r>
              <a:rPr i="1" dirty="0"/>
              <a:t>A</a:t>
            </a:r>
            <a:r>
              <a:rPr dirty="0"/>
              <a:t> ∨ </a:t>
            </a:r>
            <a:r>
              <a:rPr i="1" dirty="0"/>
              <a:t>B</a:t>
            </a:r>
            <a:r>
              <a:rPr dirty="0"/>
              <a:t>) ∧ (¬</a:t>
            </a:r>
            <a:r>
              <a:rPr i="1" dirty="0"/>
              <a:t>B</a:t>
            </a:r>
            <a:r>
              <a:rPr dirty="0"/>
              <a:t> ∨ </a:t>
            </a:r>
            <a:r>
              <a:rPr i="1" dirty="0"/>
              <a:t>C</a:t>
            </a:r>
            <a:r>
              <a:rPr dirty="0"/>
              <a:t>) ∧ (¬</a:t>
            </a:r>
            <a:r>
              <a:rPr i="1" dirty="0"/>
              <a:t>C</a:t>
            </a:r>
            <a:r>
              <a:rPr dirty="0"/>
              <a:t>) </a:t>
            </a:r>
            <a:r>
              <a:rPr dirty="0" err="1"/>
              <a:t>implica</a:t>
            </a:r>
            <a:r>
              <a:rPr dirty="0"/>
              <a:t> </a:t>
            </a:r>
            <a:r>
              <a:rPr dirty="0" err="1"/>
              <a:t>logicamente</a:t>
            </a:r>
            <a:r>
              <a:rPr dirty="0"/>
              <a:t> </a:t>
            </a:r>
            <a:r>
              <a:rPr i="1" dirty="0"/>
              <a:t>A</a:t>
            </a:r>
            <a:r>
              <a:rPr dirty="0"/>
              <a:t>?</a:t>
            </a:r>
          </a:p>
        </p:txBody>
      </p:sp>
      <p:sp>
        <p:nvSpPr>
          <p:cNvPr id="5" name="Inference by Resolution">
            <a:extLst>
              <a:ext uri="{FF2B5EF4-FFF2-40B4-BE49-F238E27FC236}">
                <a16:creationId xmlns:a16="http://schemas.microsoft.com/office/drawing/2014/main" id="{D7C6E5F3-2539-C12E-138C-B9D4D7CD7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  <p:sp>
        <p:nvSpPr>
          <p:cNvPr id="3" name="(A ∨ B) ∧ (¬B ∨ C) ∧ (¬C) ∧ (¬A)">
            <a:extLst>
              <a:ext uri="{FF2B5EF4-FFF2-40B4-BE49-F238E27FC236}">
                <a16:creationId xmlns:a16="http://schemas.microsoft.com/office/drawing/2014/main" id="{CFAB5FAB-65EE-099D-E276-6A9BFFB9054C}"/>
              </a:ext>
            </a:extLst>
          </p:cNvPr>
          <p:cNvSpPr>
            <a:spLocks noGrp="1"/>
          </p:cNvSpPr>
          <p:nvPr/>
        </p:nvSpPr>
        <p:spPr>
          <a:xfrm>
            <a:off x="5176043" y="5634818"/>
            <a:ext cx="13962262" cy="1341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A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B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B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C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C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A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4" name="(A ∨ B)    (¬B ∨ C)    (¬C)    (¬A)">
            <a:extLst>
              <a:ext uri="{FF2B5EF4-FFF2-40B4-BE49-F238E27FC236}">
                <a16:creationId xmlns:a16="http://schemas.microsoft.com/office/drawing/2014/main" id="{6DC8F4D5-EC54-170E-8CA0-739CC8012372}"/>
              </a:ext>
            </a:extLst>
          </p:cNvPr>
          <p:cNvSpPr>
            <a:spLocks noGrp="1"/>
          </p:cNvSpPr>
          <p:nvPr/>
        </p:nvSpPr>
        <p:spPr>
          <a:xfrm>
            <a:off x="1147631" y="8978540"/>
            <a:ext cx="13676512" cy="1341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A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B</a:t>
            </a:r>
            <a:r>
              <a:rPr>
                <a:latin typeface="Times New Roman"/>
                <a:ea typeface="Times New Roman"/>
                <a:cs typeface="Times New Roman"/>
              </a:rPr>
              <a:t>)    (¬</a:t>
            </a:r>
            <a:r>
              <a:rPr i="1">
                <a:latin typeface="Times New Roman"/>
                <a:ea typeface="Times New Roman"/>
                <a:cs typeface="Times New Roman"/>
              </a:rPr>
              <a:t>B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C</a:t>
            </a:r>
            <a:r>
              <a:rPr>
                <a:latin typeface="Times New Roman"/>
                <a:ea typeface="Times New Roman"/>
                <a:cs typeface="Times New Roman"/>
              </a:rPr>
              <a:t>)    (¬</a:t>
            </a:r>
            <a:r>
              <a:rPr i="1">
                <a:latin typeface="Times New Roman"/>
                <a:ea typeface="Times New Roman"/>
                <a:cs typeface="Times New Roman"/>
              </a:rPr>
              <a:t>C</a:t>
            </a:r>
            <a:r>
              <a:rPr>
                <a:latin typeface="Times New Roman"/>
                <a:ea typeface="Times New Roman"/>
                <a:cs typeface="Times New Roman"/>
              </a:rPr>
              <a:t>)    (¬</a:t>
            </a:r>
            <a:r>
              <a:rPr i="1">
                <a:latin typeface="Times New Roman"/>
                <a:ea typeface="Times New Roman"/>
                <a:cs typeface="Times New Roman"/>
              </a:rPr>
              <a:t>A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31629449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445C-7642-7160-CFF3-7A0D28AF6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es (A ∨ B) ∧ (¬B ∨ C) ∧ (¬C) entail A?">
            <a:extLst>
              <a:ext uri="{FF2B5EF4-FFF2-40B4-BE49-F238E27FC236}">
                <a16:creationId xmlns:a16="http://schemas.microsoft.com/office/drawing/2014/main" id="{CCE245BE-827B-19C5-2C4D-D171819A0683}"/>
              </a:ext>
            </a:extLst>
          </p:cNvPr>
          <p:cNvSpPr>
            <a:spLocks noGrp="1"/>
          </p:cNvSpPr>
          <p:nvPr/>
        </p:nvSpPr>
        <p:spPr>
          <a:xfrm>
            <a:off x="1056580" y="3018964"/>
            <a:ext cx="22426011" cy="176856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lnSpc>
                <a:spcPct val="150000"/>
              </a:lnSpc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/>
              <a:t>(</a:t>
            </a:r>
            <a:r>
              <a:rPr i="1" dirty="0"/>
              <a:t>A</a:t>
            </a:r>
            <a:r>
              <a:rPr dirty="0"/>
              <a:t> ∨ </a:t>
            </a:r>
            <a:r>
              <a:rPr i="1" dirty="0"/>
              <a:t>B</a:t>
            </a:r>
            <a:r>
              <a:rPr dirty="0"/>
              <a:t>) ∧ (¬</a:t>
            </a:r>
            <a:r>
              <a:rPr i="1" dirty="0"/>
              <a:t>B</a:t>
            </a:r>
            <a:r>
              <a:rPr dirty="0"/>
              <a:t> ∨ </a:t>
            </a:r>
            <a:r>
              <a:rPr i="1" dirty="0"/>
              <a:t>C</a:t>
            </a:r>
            <a:r>
              <a:rPr dirty="0"/>
              <a:t>) ∧ (¬</a:t>
            </a:r>
            <a:r>
              <a:rPr i="1" dirty="0"/>
              <a:t>C</a:t>
            </a:r>
            <a:r>
              <a:rPr dirty="0"/>
              <a:t>) </a:t>
            </a:r>
            <a:r>
              <a:rPr dirty="0" err="1"/>
              <a:t>implica</a:t>
            </a:r>
            <a:r>
              <a:rPr dirty="0"/>
              <a:t> </a:t>
            </a:r>
            <a:r>
              <a:rPr dirty="0" err="1"/>
              <a:t>logicamente</a:t>
            </a:r>
            <a:r>
              <a:rPr dirty="0"/>
              <a:t> </a:t>
            </a:r>
            <a:r>
              <a:rPr i="1" dirty="0"/>
              <a:t>A</a:t>
            </a:r>
            <a:r>
              <a:rPr dirty="0"/>
              <a:t>?</a:t>
            </a:r>
          </a:p>
        </p:txBody>
      </p:sp>
      <p:sp>
        <p:nvSpPr>
          <p:cNvPr id="5" name="Inference by Resolution">
            <a:extLst>
              <a:ext uri="{FF2B5EF4-FFF2-40B4-BE49-F238E27FC236}">
                <a16:creationId xmlns:a16="http://schemas.microsoft.com/office/drawing/2014/main" id="{6DA70E48-D73B-8A16-1009-3617E000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  <p:sp>
        <p:nvSpPr>
          <p:cNvPr id="3" name="(A ∨ B) ∧ (¬B ∨ C) ∧ (¬C) ∧ (¬A)">
            <a:extLst>
              <a:ext uri="{FF2B5EF4-FFF2-40B4-BE49-F238E27FC236}">
                <a16:creationId xmlns:a16="http://schemas.microsoft.com/office/drawing/2014/main" id="{CB1EA969-F11A-EBE0-C572-44AB76200003}"/>
              </a:ext>
            </a:extLst>
          </p:cNvPr>
          <p:cNvSpPr>
            <a:spLocks noGrp="1"/>
          </p:cNvSpPr>
          <p:nvPr/>
        </p:nvSpPr>
        <p:spPr>
          <a:xfrm>
            <a:off x="5176043" y="5634818"/>
            <a:ext cx="13962262" cy="1341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A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B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B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C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C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A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4" name="(A ∨ B)    (¬B ∨ C)    (¬C)    (¬A)">
            <a:extLst>
              <a:ext uri="{FF2B5EF4-FFF2-40B4-BE49-F238E27FC236}">
                <a16:creationId xmlns:a16="http://schemas.microsoft.com/office/drawing/2014/main" id="{4D762989-B533-2144-54CF-9F657B70CA3C}"/>
              </a:ext>
            </a:extLst>
          </p:cNvPr>
          <p:cNvSpPr>
            <a:spLocks noGrp="1"/>
          </p:cNvSpPr>
          <p:nvPr/>
        </p:nvSpPr>
        <p:spPr>
          <a:xfrm>
            <a:off x="1147631" y="8978540"/>
            <a:ext cx="13676512" cy="1341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>
                <a:latin typeface="Times New Roman"/>
                <a:ea typeface="Times New Roman"/>
                <a:cs typeface="Times New Roman"/>
              </a:rPr>
              <a:t>(</a:t>
            </a:r>
            <a:r>
              <a:rPr i="1" dirty="0">
                <a:latin typeface="Times New Roman"/>
                <a:ea typeface="Times New Roman"/>
                <a:cs typeface="Times New Roman"/>
              </a:rPr>
              <a:t>A</a:t>
            </a:r>
            <a:r>
              <a:rPr dirty="0">
                <a:latin typeface="Times New Roman"/>
                <a:ea typeface="Times New Roman"/>
                <a:cs typeface="Times New Roman"/>
              </a:rPr>
              <a:t> ∨ </a:t>
            </a:r>
            <a:r>
              <a:rPr i="1" dirty="0">
                <a:latin typeface="Times New Roman"/>
                <a:ea typeface="Times New Roman"/>
                <a:cs typeface="Times New Roman"/>
              </a:rPr>
              <a:t>B</a:t>
            </a:r>
            <a:r>
              <a:rPr dirty="0">
                <a:latin typeface="Times New Roman"/>
                <a:ea typeface="Times New Roman"/>
                <a:cs typeface="Times New Roman"/>
              </a:rPr>
              <a:t>)    </a:t>
            </a: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(¬</a:t>
            </a:r>
            <a:r>
              <a:rPr i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∨ </a:t>
            </a:r>
            <a:r>
              <a:rPr i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)    (¬</a:t>
            </a:r>
            <a:r>
              <a:rPr i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)    </a:t>
            </a:r>
            <a:r>
              <a:rPr dirty="0">
                <a:latin typeface="Times New Roman"/>
                <a:ea typeface="Times New Roman"/>
                <a:cs typeface="Times New Roman"/>
              </a:rPr>
              <a:t>(¬</a:t>
            </a:r>
            <a:r>
              <a:rPr i="1" dirty="0">
                <a:latin typeface="Times New Roman"/>
                <a:ea typeface="Times New Roman"/>
                <a:cs typeface="Times New Roman"/>
              </a:rPr>
              <a:t>A</a:t>
            </a:r>
            <a:r>
              <a:rPr dirty="0"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74023505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6F9FE-0A6D-83BE-8C49-C8617D519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es (A ∨ B) ∧ (¬B ∨ C) ∧ (¬C) entail A?">
            <a:extLst>
              <a:ext uri="{FF2B5EF4-FFF2-40B4-BE49-F238E27FC236}">
                <a16:creationId xmlns:a16="http://schemas.microsoft.com/office/drawing/2014/main" id="{1D64421D-D773-CFC1-08AD-D2AF88CAE32A}"/>
              </a:ext>
            </a:extLst>
          </p:cNvPr>
          <p:cNvSpPr>
            <a:spLocks noGrp="1"/>
          </p:cNvSpPr>
          <p:nvPr/>
        </p:nvSpPr>
        <p:spPr>
          <a:xfrm>
            <a:off x="1056580" y="3018964"/>
            <a:ext cx="22426011" cy="176856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lnSpc>
                <a:spcPct val="150000"/>
              </a:lnSpc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/>
              <a:t>(</a:t>
            </a:r>
            <a:r>
              <a:rPr i="1" dirty="0"/>
              <a:t>A</a:t>
            </a:r>
            <a:r>
              <a:rPr dirty="0"/>
              <a:t> ∨ </a:t>
            </a:r>
            <a:r>
              <a:rPr i="1" dirty="0"/>
              <a:t>B</a:t>
            </a:r>
            <a:r>
              <a:rPr dirty="0"/>
              <a:t>) ∧ (¬</a:t>
            </a:r>
            <a:r>
              <a:rPr i="1" dirty="0"/>
              <a:t>B</a:t>
            </a:r>
            <a:r>
              <a:rPr dirty="0"/>
              <a:t> ∨ </a:t>
            </a:r>
            <a:r>
              <a:rPr i="1" dirty="0"/>
              <a:t>C</a:t>
            </a:r>
            <a:r>
              <a:rPr dirty="0"/>
              <a:t>) ∧ (¬</a:t>
            </a:r>
            <a:r>
              <a:rPr i="1" dirty="0"/>
              <a:t>C</a:t>
            </a:r>
            <a:r>
              <a:rPr dirty="0"/>
              <a:t>) </a:t>
            </a:r>
            <a:r>
              <a:rPr dirty="0" err="1"/>
              <a:t>implica</a:t>
            </a:r>
            <a:r>
              <a:rPr dirty="0"/>
              <a:t> </a:t>
            </a:r>
            <a:r>
              <a:rPr dirty="0" err="1"/>
              <a:t>logicamente</a:t>
            </a:r>
            <a:r>
              <a:rPr dirty="0"/>
              <a:t> </a:t>
            </a:r>
            <a:r>
              <a:rPr i="1" dirty="0"/>
              <a:t>A</a:t>
            </a:r>
            <a:r>
              <a:rPr dirty="0"/>
              <a:t>?</a:t>
            </a:r>
          </a:p>
        </p:txBody>
      </p:sp>
      <p:sp>
        <p:nvSpPr>
          <p:cNvPr id="5" name="Inference by Resolution">
            <a:extLst>
              <a:ext uri="{FF2B5EF4-FFF2-40B4-BE49-F238E27FC236}">
                <a16:creationId xmlns:a16="http://schemas.microsoft.com/office/drawing/2014/main" id="{0C3513E0-32B5-A5B6-9D52-91FF7D199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  <p:sp>
        <p:nvSpPr>
          <p:cNvPr id="3" name="(A ∨ B) ∧ (¬B ∨ C) ∧ (¬C) ∧ (¬A)">
            <a:extLst>
              <a:ext uri="{FF2B5EF4-FFF2-40B4-BE49-F238E27FC236}">
                <a16:creationId xmlns:a16="http://schemas.microsoft.com/office/drawing/2014/main" id="{FC5A2CB3-1E2D-A1EB-DD19-272330C5D4FA}"/>
              </a:ext>
            </a:extLst>
          </p:cNvPr>
          <p:cNvSpPr>
            <a:spLocks noGrp="1"/>
          </p:cNvSpPr>
          <p:nvPr/>
        </p:nvSpPr>
        <p:spPr>
          <a:xfrm>
            <a:off x="5176043" y="5634818"/>
            <a:ext cx="13962262" cy="1341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A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B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B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C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C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A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4" name="(A ∨ B)    (¬B ∨ C)    (¬C)    (¬A)">
            <a:extLst>
              <a:ext uri="{FF2B5EF4-FFF2-40B4-BE49-F238E27FC236}">
                <a16:creationId xmlns:a16="http://schemas.microsoft.com/office/drawing/2014/main" id="{482EF473-1E31-96B0-0327-23051665E12B}"/>
              </a:ext>
            </a:extLst>
          </p:cNvPr>
          <p:cNvSpPr>
            <a:spLocks noGrp="1"/>
          </p:cNvSpPr>
          <p:nvPr/>
        </p:nvSpPr>
        <p:spPr>
          <a:xfrm>
            <a:off x="1147631" y="8978540"/>
            <a:ext cx="13676512" cy="1341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>
                <a:latin typeface="Times New Roman"/>
                <a:ea typeface="Times New Roman"/>
                <a:cs typeface="Times New Roman"/>
              </a:rPr>
              <a:t>(</a:t>
            </a:r>
            <a:r>
              <a:rPr i="1" dirty="0">
                <a:latin typeface="Times New Roman"/>
                <a:ea typeface="Times New Roman"/>
                <a:cs typeface="Times New Roman"/>
              </a:rPr>
              <a:t>A</a:t>
            </a:r>
            <a:r>
              <a:rPr dirty="0">
                <a:latin typeface="Times New Roman"/>
                <a:ea typeface="Times New Roman"/>
                <a:cs typeface="Times New Roman"/>
              </a:rPr>
              <a:t> ∨ </a:t>
            </a:r>
            <a:r>
              <a:rPr i="1" dirty="0">
                <a:latin typeface="Times New Roman"/>
                <a:ea typeface="Times New Roman"/>
                <a:cs typeface="Times New Roman"/>
              </a:rPr>
              <a:t>B</a:t>
            </a:r>
            <a:r>
              <a:rPr dirty="0">
                <a:latin typeface="Times New Roman"/>
                <a:ea typeface="Times New Roman"/>
                <a:cs typeface="Times New Roman"/>
              </a:rPr>
              <a:t>)    </a:t>
            </a: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(¬</a:t>
            </a:r>
            <a:r>
              <a:rPr i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∨ </a:t>
            </a:r>
            <a:r>
              <a:rPr i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)    (¬</a:t>
            </a:r>
            <a:r>
              <a:rPr i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)    </a:t>
            </a:r>
            <a:r>
              <a:rPr dirty="0">
                <a:latin typeface="Times New Roman"/>
                <a:ea typeface="Times New Roman"/>
                <a:cs typeface="Times New Roman"/>
              </a:rPr>
              <a:t>(¬</a:t>
            </a:r>
            <a:r>
              <a:rPr i="1" dirty="0">
                <a:latin typeface="Times New Roman"/>
                <a:ea typeface="Times New Roman"/>
                <a:cs typeface="Times New Roman"/>
              </a:rPr>
              <a:t>A</a:t>
            </a:r>
            <a:r>
              <a:rPr dirty="0"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6" name="(¬B)">
            <a:extLst>
              <a:ext uri="{FF2B5EF4-FFF2-40B4-BE49-F238E27FC236}">
                <a16:creationId xmlns:a16="http://schemas.microsoft.com/office/drawing/2014/main" id="{D9BD373D-AAE8-495D-607D-23CA8CB292E4}"/>
              </a:ext>
            </a:extLst>
          </p:cNvPr>
          <p:cNvSpPr>
            <a:spLocks noGrp="1"/>
          </p:cNvSpPr>
          <p:nvPr/>
        </p:nvSpPr>
        <p:spPr>
          <a:xfrm>
            <a:off x="15939703" y="8982262"/>
            <a:ext cx="1990930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>
                <a:solidFill>
                  <a:schemeClr val="accent3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(¬</a:t>
            </a:r>
            <a:r>
              <a:rPr i="1" dirty="0">
                <a:solidFill>
                  <a:schemeClr val="accent3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dirty="0">
                <a:solidFill>
                  <a:schemeClr val="accent3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A61CAB-318C-D1D2-6904-2B362A4A2B71}"/>
              </a:ext>
            </a:extLst>
          </p:cNvPr>
          <p:cNvCxnSpPr/>
          <p:nvPr/>
        </p:nvCxnSpPr>
        <p:spPr>
          <a:xfrm>
            <a:off x="15248238" y="7908324"/>
            <a:ext cx="0" cy="3805881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028459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CC705-4666-347E-A9F0-098CA1AE1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es (A ∨ B) ∧ (¬B ∨ C) ∧ (¬C) entail A?">
            <a:extLst>
              <a:ext uri="{FF2B5EF4-FFF2-40B4-BE49-F238E27FC236}">
                <a16:creationId xmlns:a16="http://schemas.microsoft.com/office/drawing/2014/main" id="{35F6EEA1-8764-8FD4-AA05-D241BDFE3C6D}"/>
              </a:ext>
            </a:extLst>
          </p:cNvPr>
          <p:cNvSpPr>
            <a:spLocks noGrp="1"/>
          </p:cNvSpPr>
          <p:nvPr/>
        </p:nvSpPr>
        <p:spPr>
          <a:xfrm>
            <a:off x="1056580" y="3018964"/>
            <a:ext cx="22426011" cy="176856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lnSpc>
                <a:spcPct val="150000"/>
              </a:lnSpc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/>
              <a:t>(</a:t>
            </a:r>
            <a:r>
              <a:rPr i="1" dirty="0"/>
              <a:t>A</a:t>
            </a:r>
            <a:r>
              <a:rPr dirty="0"/>
              <a:t> ∨ </a:t>
            </a:r>
            <a:r>
              <a:rPr i="1" dirty="0"/>
              <a:t>B</a:t>
            </a:r>
            <a:r>
              <a:rPr dirty="0"/>
              <a:t>) ∧ (¬</a:t>
            </a:r>
            <a:r>
              <a:rPr i="1" dirty="0"/>
              <a:t>B</a:t>
            </a:r>
            <a:r>
              <a:rPr dirty="0"/>
              <a:t> ∨ </a:t>
            </a:r>
            <a:r>
              <a:rPr i="1" dirty="0"/>
              <a:t>C</a:t>
            </a:r>
            <a:r>
              <a:rPr dirty="0"/>
              <a:t>) ∧ (¬</a:t>
            </a:r>
            <a:r>
              <a:rPr i="1" dirty="0"/>
              <a:t>C</a:t>
            </a:r>
            <a:r>
              <a:rPr dirty="0"/>
              <a:t>) </a:t>
            </a:r>
            <a:r>
              <a:rPr dirty="0" err="1"/>
              <a:t>implica</a:t>
            </a:r>
            <a:r>
              <a:rPr dirty="0"/>
              <a:t> </a:t>
            </a:r>
            <a:r>
              <a:rPr dirty="0" err="1"/>
              <a:t>logicamente</a:t>
            </a:r>
            <a:r>
              <a:rPr dirty="0"/>
              <a:t> </a:t>
            </a:r>
            <a:r>
              <a:rPr i="1" dirty="0"/>
              <a:t>A</a:t>
            </a:r>
            <a:r>
              <a:rPr dirty="0"/>
              <a:t>?</a:t>
            </a:r>
          </a:p>
        </p:txBody>
      </p:sp>
      <p:sp>
        <p:nvSpPr>
          <p:cNvPr id="5" name="Inference by Resolution">
            <a:extLst>
              <a:ext uri="{FF2B5EF4-FFF2-40B4-BE49-F238E27FC236}">
                <a16:creationId xmlns:a16="http://schemas.microsoft.com/office/drawing/2014/main" id="{72BE01E9-EBEB-7898-21A8-F116018CE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  <p:sp>
        <p:nvSpPr>
          <p:cNvPr id="3" name="(A ∨ B) ∧ (¬B ∨ C) ∧ (¬C) ∧ (¬A)">
            <a:extLst>
              <a:ext uri="{FF2B5EF4-FFF2-40B4-BE49-F238E27FC236}">
                <a16:creationId xmlns:a16="http://schemas.microsoft.com/office/drawing/2014/main" id="{42C301AF-90DF-C1B0-2357-A23A3B9C0B92}"/>
              </a:ext>
            </a:extLst>
          </p:cNvPr>
          <p:cNvSpPr>
            <a:spLocks noGrp="1"/>
          </p:cNvSpPr>
          <p:nvPr/>
        </p:nvSpPr>
        <p:spPr>
          <a:xfrm>
            <a:off x="5176043" y="5634818"/>
            <a:ext cx="13962262" cy="1341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A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B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B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C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C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A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4" name="(A ∨ B)    (¬B ∨ C)    (¬C)    (¬A)">
            <a:extLst>
              <a:ext uri="{FF2B5EF4-FFF2-40B4-BE49-F238E27FC236}">
                <a16:creationId xmlns:a16="http://schemas.microsoft.com/office/drawing/2014/main" id="{00F15B6F-CF47-20E8-5A7C-5565F90235FD}"/>
              </a:ext>
            </a:extLst>
          </p:cNvPr>
          <p:cNvSpPr>
            <a:spLocks noGrp="1"/>
          </p:cNvSpPr>
          <p:nvPr/>
        </p:nvSpPr>
        <p:spPr>
          <a:xfrm>
            <a:off x="1147631" y="8978540"/>
            <a:ext cx="13676512" cy="1341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>
                <a:latin typeface="Times New Roman"/>
                <a:ea typeface="Times New Roman"/>
                <a:cs typeface="Times New Roman"/>
              </a:rPr>
              <a:t>(</a:t>
            </a:r>
            <a:r>
              <a:rPr i="1" dirty="0">
                <a:latin typeface="Times New Roman"/>
                <a:ea typeface="Times New Roman"/>
                <a:cs typeface="Times New Roman"/>
              </a:rPr>
              <a:t>A</a:t>
            </a:r>
            <a:r>
              <a:rPr dirty="0">
                <a:latin typeface="Times New Roman"/>
                <a:ea typeface="Times New Roman"/>
                <a:cs typeface="Times New Roman"/>
              </a:rPr>
              <a:t> ∨ </a:t>
            </a:r>
            <a:r>
              <a:rPr i="1" dirty="0">
                <a:latin typeface="Times New Roman"/>
                <a:ea typeface="Times New Roman"/>
                <a:cs typeface="Times New Roman"/>
              </a:rPr>
              <a:t>B</a:t>
            </a:r>
            <a:r>
              <a:rPr dirty="0">
                <a:latin typeface="Times New Roman"/>
                <a:ea typeface="Times New Roman"/>
                <a:cs typeface="Times New Roman"/>
              </a:rPr>
              <a:t>)    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(¬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B</a:t>
            </a:r>
            <a:r>
              <a:rPr strike="sngStrike" dirty="0"/>
              <a:t> 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∨ 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C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)    (¬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C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)</a:t>
            </a:r>
            <a:r>
              <a:rPr dirty="0">
                <a:latin typeface="Times New Roman"/>
                <a:ea typeface="Times New Roman"/>
                <a:cs typeface="Times New Roman"/>
              </a:rPr>
              <a:t>    (¬</a:t>
            </a:r>
            <a:r>
              <a:rPr i="1" dirty="0">
                <a:latin typeface="Times New Roman"/>
                <a:ea typeface="Times New Roman"/>
                <a:cs typeface="Times New Roman"/>
              </a:rPr>
              <a:t>A</a:t>
            </a:r>
            <a:r>
              <a:rPr dirty="0"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6" name="(¬B)">
            <a:extLst>
              <a:ext uri="{FF2B5EF4-FFF2-40B4-BE49-F238E27FC236}">
                <a16:creationId xmlns:a16="http://schemas.microsoft.com/office/drawing/2014/main" id="{D495FC6A-80EF-74C8-F4A3-1288655C004B}"/>
              </a:ext>
            </a:extLst>
          </p:cNvPr>
          <p:cNvSpPr>
            <a:spLocks noGrp="1"/>
          </p:cNvSpPr>
          <p:nvPr/>
        </p:nvSpPr>
        <p:spPr>
          <a:xfrm>
            <a:off x="15939703" y="8982262"/>
            <a:ext cx="1990930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>
                <a:latin typeface="Times New Roman"/>
                <a:ea typeface="Times New Roman"/>
                <a:cs typeface="Times New Roman"/>
              </a:rPr>
              <a:t>(¬</a:t>
            </a:r>
            <a:r>
              <a:rPr i="1" dirty="0">
                <a:latin typeface="Times New Roman"/>
                <a:ea typeface="Times New Roman"/>
                <a:cs typeface="Times New Roman"/>
              </a:rPr>
              <a:t>B</a:t>
            </a:r>
            <a:r>
              <a:rPr dirty="0"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EF4BE3-B5A3-B51C-1150-500A6E474268}"/>
              </a:ext>
            </a:extLst>
          </p:cNvPr>
          <p:cNvCxnSpPr/>
          <p:nvPr/>
        </p:nvCxnSpPr>
        <p:spPr>
          <a:xfrm>
            <a:off x="15248238" y="7908324"/>
            <a:ext cx="0" cy="3805881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4102166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52D56-A668-3F9A-27C4-1EECDA949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es (A ∨ B) ∧ (¬B ∨ C) ∧ (¬C) entail A?">
            <a:extLst>
              <a:ext uri="{FF2B5EF4-FFF2-40B4-BE49-F238E27FC236}">
                <a16:creationId xmlns:a16="http://schemas.microsoft.com/office/drawing/2014/main" id="{75E7A6C1-8E3C-4599-78E0-BA8471524BEB}"/>
              </a:ext>
            </a:extLst>
          </p:cNvPr>
          <p:cNvSpPr>
            <a:spLocks noGrp="1"/>
          </p:cNvSpPr>
          <p:nvPr/>
        </p:nvSpPr>
        <p:spPr>
          <a:xfrm>
            <a:off x="1056580" y="3018964"/>
            <a:ext cx="22426011" cy="176856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lnSpc>
                <a:spcPct val="150000"/>
              </a:lnSpc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/>
              <a:t>(</a:t>
            </a:r>
            <a:r>
              <a:rPr i="1" dirty="0"/>
              <a:t>A</a:t>
            </a:r>
            <a:r>
              <a:rPr dirty="0"/>
              <a:t> ∨ </a:t>
            </a:r>
            <a:r>
              <a:rPr i="1" dirty="0"/>
              <a:t>B</a:t>
            </a:r>
            <a:r>
              <a:rPr dirty="0"/>
              <a:t>) ∧ (¬</a:t>
            </a:r>
            <a:r>
              <a:rPr i="1" dirty="0"/>
              <a:t>B</a:t>
            </a:r>
            <a:r>
              <a:rPr dirty="0"/>
              <a:t> ∨ </a:t>
            </a:r>
            <a:r>
              <a:rPr i="1" dirty="0"/>
              <a:t>C</a:t>
            </a:r>
            <a:r>
              <a:rPr dirty="0"/>
              <a:t>) ∧ (¬</a:t>
            </a:r>
            <a:r>
              <a:rPr i="1" dirty="0"/>
              <a:t>C</a:t>
            </a:r>
            <a:r>
              <a:rPr dirty="0"/>
              <a:t>) </a:t>
            </a:r>
            <a:r>
              <a:rPr dirty="0" err="1"/>
              <a:t>implica</a:t>
            </a:r>
            <a:r>
              <a:rPr dirty="0"/>
              <a:t> </a:t>
            </a:r>
            <a:r>
              <a:rPr dirty="0" err="1"/>
              <a:t>logicamente</a:t>
            </a:r>
            <a:r>
              <a:rPr dirty="0"/>
              <a:t> </a:t>
            </a:r>
            <a:r>
              <a:rPr i="1" dirty="0"/>
              <a:t>A</a:t>
            </a:r>
            <a:r>
              <a:rPr dirty="0"/>
              <a:t>?</a:t>
            </a:r>
          </a:p>
        </p:txBody>
      </p:sp>
      <p:sp>
        <p:nvSpPr>
          <p:cNvPr id="5" name="Inference by Resolution">
            <a:extLst>
              <a:ext uri="{FF2B5EF4-FFF2-40B4-BE49-F238E27FC236}">
                <a16:creationId xmlns:a16="http://schemas.microsoft.com/office/drawing/2014/main" id="{ECA85BDD-DB0F-7341-3CEE-E3C847F67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  <p:sp>
        <p:nvSpPr>
          <p:cNvPr id="3" name="(A ∨ B) ∧ (¬B ∨ C) ∧ (¬C) ∧ (¬A)">
            <a:extLst>
              <a:ext uri="{FF2B5EF4-FFF2-40B4-BE49-F238E27FC236}">
                <a16:creationId xmlns:a16="http://schemas.microsoft.com/office/drawing/2014/main" id="{8833908D-959E-4196-D9AB-725EE5BF78E9}"/>
              </a:ext>
            </a:extLst>
          </p:cNvPr>
          <p:cNvSpPr>
            <a:spLocks noGrp="1"/>
          </p:cNvSpPr>
          <p:nvPr/>
        </p:nvSpPr>
        <p:spPr>
          <a:xfrm>
            <a:off x="5176043" y="5634818"/>
            <a:ext cx="13962262" cy="1341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A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B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B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C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C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A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4" name="(A ∨ B)    (¬B ∨ C)    (¬C)    (¬A)">
            <a:extLst>
              <a:ext uri="{FF2B5EF4-FFF2-40B4-BE49-F238E27FC236}">
                <a16:creationId xmlns:a16="http://schemas.microsoft.com/office/drawing/2014/main" id="{A1E1237F-1DA4-B397-BD2F-37755DE4EDC8}"/>
              </a:ext>
            </a:extLst>
          </p:cNvPr>
          <p:cNvSpPr>
            <a:spLocks noGrp="1"/>
          </p:cNvSpPr>
          <p:nvPr/>
        </p:nvSpPr>
        <p:spPr>
          <a:xfrm>
            <a:off x="1147631" y="8978540"/>
            <a:ext cx="13676512" cy="1341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i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 ∨ </a:t>
            </a:r>
            <a:r>
              <a:rPr i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)    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(¬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B</a:t>
            </a:r>
            <a:r>
              <a:rPr strike="sngStrike" dirty="0"/>
              <a:t> 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∨ 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C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)    (¬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C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)</a:t>
            </a:r>
            <a:r>
              <a:rPr dirty="0">
                <a:latin typeface="Times New Roman"/>
                <a:ea typeface="Times New Roman"/>
                <a:cs typeface="Times New Roman"/>
              </a:rPr>
              <a:t>    (¬</a:t>
            </a:r>
            <a:r>
              <a:rPr i="1" dirty="0">
                <a:latin typeface="Times New Roman"/>
                <a:ea typeface="Times New Roman"/>
                <a:cs typeface="Times New Roman"/>
              </a:rPr>
              <a:t>A</a:t>
            </a:r>
            <a:r>
              <a:rPr dirty="0"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6" name="(¬B)">
            <a:extLst>
              <a:ext uri="{FF2B5EF4-FFF2-40B4-BE49-F238E27FC236}">
                <a16:creationId xmlns:a16="http://schemas.microsoft.com/office/drawing/2014/main" id="{2FA96C48-1DCA-DFB6-D4B7-0BEC4F2963E1}"/>
              </a:ext>
            </a:extLst>
          </p:cNvPr>
          <p:cNvSpPr>
            <a:spLocks noGrp="1"/>
          </p:cNvSpPr>
          <p:nvPr/>
        </p:nvSpPr>
        <p:spPr>
          <a:xfrm>
            <a:off x="15939703" y="8982262"/>
            <a:ext cx="1990930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(¬</a:t>
            </a:r>
            <a:r>
              <a:rPr i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AA89E3-D145-887C-07DF-0D53B4D40CB0}"/>
              </a:ext>
            </a:extLst>
          </p:cNvPr>
          <p:cNvCxnSpPr/>
          <p:nvPr/>
        </p:nvCxnSpPr>
        <p:spPr>
          <a:xfrm>
            <a:off x="15248238" y="7908324"/>
            <a:ext cx="0" cy="3805881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31407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3C32-98FB-5A99-ED98-0A91BD93E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es (A ∨ B) ∧ (¬B ∨ C) ∧ (¬C) entail A?">
            <a:extLst>
              <a:ext uri="{FF2B5EF4-FFF2-40B4-BE49-F238E27FC236}">
                <a16:creationId xmlns:a16="http://schemas.microsoft.com/office/drawing/2014/main" id="{93E6543F-9D71-476F-2FE7-E73093BFD958}"/>
              </a:ext>
            </a:extLst>
          </p:cNvPr>
          <p:cNvSpPr>
            <a:spLocks noGrp="1"/>
          </p:cNvSpPr>
          <p:nvPr/>
        </p:nvSpPr>
        <p:spPr>
          <a:xfrm>
            <a:off x="1056580" y="3018964"/>
            <a:ext cx="22426011" cy="176856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lnSpc>
                <a:spcPct val="150000"/>
              </a:lnSpc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/>
              <a:t>(</a:t>
            </a:r>
            <a:r>
              <a:rPr i="1" dirty="0"/>
              <a:t>A</a:t>
            </a:r>
            <a:r>
              <a:rPr dirty="0"/>
              <a:t> ∨ </a:t>
            </a:r>
            <a:r>
              <a:rPr i="1" dirty="0"/>
              <a:t>B</a:t>
            </a:r>
            <a:r>
              <a:rPr dirty="0"/>
              <a:t>) ∧ (¬</a:t>
            </a:r>
            <a:r>
              <a:rPr i="1" dirty="0"/>
              <a:t>B</a:t>
            </a:r>
            <a:r>
              <a:rPr dirty="0"/>
              <a:t> ∨ </a:t>
            </a:r>
            <a:r>
              <a:rPr i="1" dirty="0"/>
              <a:t>C</a:t>
            </a:r>
            <a:r>
              <a:rPr dirty="0"/>
              <a:t>) ∧ (¬</a:t>
            </a:r>
            <a:r>
              <a:rPr i="1" dirty="0"/>
              <a:t>C</a:t>
            </a:r>
            <a:r>
              <a:rPr dirty="0"/>
              <a:t>) </a:t>
            </a:r>
            <a:r>
              <a:rPr dirty="0" err="1"/>
              <a:t>implica</a:t>
            </a:r>
            <a:r>
              <a:rPr dirty="0"/>
              <a:t> </a:t>
            </a:r>
            <a:r>
              <a:rPr dirty="0" err="1"/>
              <a:t>logicamente</a:t>
            </a:r>
            <a:r>
              <a:rPr dirty="0"/>
              <a:t> </a:t>
            </a:r>
            <a:r>
              <a:rPr i="1" dirty="0"/>
              <a:t>A</a:t>
            </a:r>
            <a:r>
              <a:rPr dirty="0"/>
              <a:t>?</a:t>
            </a:r>
          </a:p>
        </p:txBody>
      </p:sp>
      <p:sp>
        <p:nvSpPr>
          <p:cNvPr id="5" name="Inference by Resolution">
            <a:extLst>
              <a:ext uri="{FF2B5EF4-FFF2-40B4-BE49-F238E27FC236}">
                <a16:creationId xmlns:a16="http://schemas.microsoft.com/office/drawing/2014/main" id="{8942843E-CE2F-A6A0-199E-4A504E742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  <p:sp>
        <p:nvSpPr>
          <p:cNvPr id="3" name="(A ∨ B) ∧ (¬B ∨ C) ∧ (¬C) ∧ (¬A)">
            <a:extLst>
              <a:ext uri="{FF2B5EF4-FFF2-40B4-BE49-F238E27FC236}">
                <a16:creationId xmlns:a16="http://schemas.microsoft.com/office/drawing/2014/main" id="{3D005407-6538-F756-C6AE-B9A028B9C920}"/>
              </a:ext>
            </a:extLst>
          </p:cNvPr>
          <p:cNvSpPr>
            <a:spLocks noGrp="1"/>
          </p:cNvSpPr>
          <p:nvPr/>
        </p:nvSpPr>
        <p:spPr>
          <a:xfrm>
            <a:off x="5176043" y="5634818"/>
            <a:ext cx="13962262" cy="1341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A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B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B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C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C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A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4" name="(A ∨ B)    (¬B ∨ C)    (¬C)    (¬A)">
            <a:extLst>
              <a:ext uri="{FF2B5EF4-FFF2-40B4-BE49-F238E27FC236}">
                <a16:creationId xmlns:a16="http://schemas.microsoft.com/office/drawing/2014/main" id="{61B97BF5-0C15-2B94-5297-DBC1D73903F2}"/>
              </a:ext>
            </a:extLst>
          </p:cNvPr>
          <p:cNvSpPr>
            <a:spLocks noGrp="1"/>
          </p:cNvSpPr>
          <p:nvPr/>
        </p:nvSpPr>
        <p:spPr>
          <a:xfrm>
            <a:off x="1147631" y="8978540"/>
            <a:ext cx="13676512" cy="1341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i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 ∨ </a:t>
            </a:r>
            <a:r>
              <a:rPr i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)    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(¬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B</a:t>
            </a:r>
            <a:r>
              <a:rPr strike="sngStrike" dirty="0"/>
              <a:t> 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∨ 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C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)    (¬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C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)</a:t>
            </a:r>
            <a:r>
              <a:rPr dirty="0">
                <a:latin typeface="Times New Roman"/>
                <a:ea typeface="Times New Roman"/>
                <a:cs typeface="Times New Roman"/>
              </a:rPr>
              <a:t>    (¬</a:t>
            </a:r>
            <a:r>
              <a:rPr i="1" dirty="0">
                <a:latin typeface="Times New Roman"/>
                <a:ea typeface="Times New Roman"/>
                <a:cs typeface="Times New Roman"/>
              </a:rPr>
              <a:t>A</a:t>
            </a:r>
            <a:r>
              <a:rPr dirty="0"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6" name="(¬B)">
            <a:extLst>
              <a:ext uri="{FF2B5EF4-FFF2-40B4-BE49-F238E27FC236}">
                <a16:creationId xmlns:a16="http://schemas.microsoft.com/office/drawing/2014/main" id="{D43AF636-8121-C93A-072B-0CB0A7F2C266}"/>
              </a:ext>
            </a:extLst>
          </p:cNvPr>
          <p:cNvSpPr>
            <a:spLocks noGrp="1"/>
          </p:cNvSpPr>
          <p:nvPr/>
        </p:nvSpPr>
        <p:spPr>
          <a:xfrm>
            <a:off x="15939703" y="8982262"/>
            <a:ext cx="1990930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(¬</a:t>
            </a:r>
            <a:r>
              <a:rPr i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683C2F-EB97-562A-A70C-8381824423DC}"/>
              </a:ext>
            </a:extLst>
          </p:cNvPr>
          <p:cNvCxnSpPr/>
          <p:nvPr/>
        </p:nvCxnSpPr>
        <p:spPr>
          <a:xfrm>
            <a:off x="15248238" y="7908324"/>
            <a:ext cx="0" cy="3805881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(A)">
            <a:extLst>
              <a:ext uri="{FF2B5EF4-FFF2-40B4-BE49-F238E27FC236}">
                <a16:creationId xmlns:a16="http://schemas.microsoft.com/office/drawing/2014/main" id="{7D4DCB77-5928-4641-213B-4ED1B8555DCE}"/>
              </a:ext>
            </a:extLst>
          </p:cNvPr>
          <p:cNvSpPr>
            <a:spLocks noGrp="1"/>
          </p:cNvSpPr>
          <p:nvPr/>
        </p:nvSpPr>
        <p:spPr>
          <a:xfrm>
            <a:off x="18998463" y="8982262"/>
            <a:ext cx="1412246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>
                <a:solidFill>
                  <a:schemeClr val="accent3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i="1" dirty="0">
                <a:solidFill>
                  <a:schemeClr val="accent3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dirty="0">
                <a:solidFill>
                  <a:schemeClr val="accent3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53064681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507A6-4494-0A5B-3996-AEE7B273F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es (A ∨ B) ∧ (¬B ∨ C) ∧ (¬C) entail A?">
            <a:extLst>
              <a:ext uri="{FF2B5EF4-FFF2-40B4-BE49-F238E27FC236}">
                <a16:creationId xmlns:a16="http://schemas.microsoft.com/office/drawing/2014/main" id="{FC7B13D5-604B-2D40-96D8-9935EAADA007}"/>
              </a:ext>
            </a:extLst>
          </p:cNvPr>
          <p:cNvSpPr>
            <a:spLocks noGrp="1"/>
          </p:cNvSpPr>
          <p:nvPr/>
        </p:nvSpPr>
        <p:spPr>
          <a:xfrm>
            <a:off x="1056580" y="3018964"/>
            <a:ext cx="22426011" cy="176856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lnSpc>
                <a:spcPct val="150000"/>
              </a:lnSpc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/>
              <a:t>(</a:t>
            </a:r>
            <a:r>
              <a:rPr i="1" dirty="0"/>
              <a:t>A</a:t>
            </a:r>
            <a:r>
              <a:rPr dirty="0"/>
              <a:t> ∨ </a:t>
            </a:r>
            <a:r>
              <a:rPr i="1" dirty="0"/>
              <a:t>B</a:t>
            </a:r>
            <a:r>
              <a:rPr dirty="0"/>
              <a:t>) ∧ (¬</a:t>
            </a:r>
            <a:r>
              <a:rPr i="1" dirty="0"/>
              <a:t>B</a:t>
            </a:r>
            <a:r>
              <a:rPr dirty="0"/>
              <a:t> ∨ </a:t>
            </a:r>
            <a:r>
              <a:rPr i="1" dirty="0"/>
              <a:t>C</a:t>
            </a:r>
            <a:r>
              <a:rPr dirty="0"/>
              <a:t>) ∧ (¬</a:t>
            </a:r>
            <a:r>
              <a:rPr i="1" dirty="0"/>
              <a:t>C</a:t>
            </a:r>
            <a:r>
              <a:rPr dirty="0"/>
              <a:t>) </a:t>
            </a:r>
            <a:r>
              <a:rPr dirty="0" err="1"/>
              <a:t>implica</a:t>
            </a:r>
            <a:r>
              <a:rPr dirty="0"/>
              <a:t> </a:t>
            </a:r>
            <a:r>
              <a:rPr dirty="0" err="1"/>
              <a:t>logicamente</a:t>
            </a:r>
            <a:r>
              <a:rPr dirty="0"/>
              <a:t> </a:t>
            </a:r>
            <a:r>
              <a:rPr i="1" dirty="0"/>
              <a:t>A</a:t>
            </a:r>
            <a:r>
              <a:rPr dirty="0"/>
              <a:t>?</a:t>
            </a:r>
          </a:p>
        </p:txBody>
      </p:sp>
      <p:sp>
        <p:nvSpPr>
          <p:cNvPr id="5" name="Inference by Resolution">
            <a:extLst>
              <a:ext uri="{FF2B5EF4-FFF2-40B4-BE49-F238E27FC236}">
                <a16:creationId xmlns:a16="http://schemas.microsoft.com/office/drawing/2014/main" id="{EBCBDF21-3ABF-6DD9-E3CD-E32021222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  <p:sp>
        <p:nvSpPr>
          <p:cNvPr id="3" name="(A ∨ B) ∧ (¬B ∨ C) ∧ (¬C) ∧ (¬A)">
            <a:extLst>
              <a:ext uri="{FF2B5EF4-FFF2-40B4-BE49-F238E27FC236}">
                <a16:creationId xmlns:a16="http://schemas.microsoft.com/office/drawing/2014/main" id="{39536A66-6895-EE5F-2641-BAF46235B0F1}"/>
              </a:ext>
            </a:extLst>
          </p:cNvPr>
          <p:cNvSpPr>
            <a:spLocks noGrp="1"/>
          </p:cNvSpPr>
          <p:nvPr/>
        </p:nvSpPr>
        <p:spPr>
          <a:xfrm>
            <a:off x="5176043" y="5634818"/>
            <a:ext cx="13962262" cy="1341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A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B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B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C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C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A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4" name="(A ∨ B)    (¬B ∨ C)    (¬C)    (¬A)">
            <a:extLst>
              <a:ext uri="{FF2B5EF4-FFF2-40B4-BE49-F238E27FC236}">
                <a16:creationId xmlns:a16="http://schemas.microsoft.com/office/drawing/2014/main" id="{8813F6D7-A6F7-561F-197B-5EAA9066C0C7}"/>
              </a:ext>
            </a:extLst>
          </p:cNvPr>
          <p:cNvSpPr>
            <a:spLocks noGrp="1"/>
          </p:cNvSpPr>
          <p:nvPr/>
        </p:nvSpPr>
        <p:spPr>
          <a:xfrm>
            <a:off x="1147631" y="8978540"/>
            <a:ext cx="13676512" cy="1341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strike="sngStrike" dirty="0">
                <a:latin typeface="Times New Roman"/>
                <a:ea typeface="Times New Roman"/>
                <a:cs typeface="Times New Roman"/>
              </a:rPr>
              <a:t>(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A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 ∨ 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B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)</a:t>
            </a: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(¬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B</a:t>
            </a:r>
            <a:r>
              <a:rPr strike="sngStrike" dirty="0"/>
              <a:t> 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∨ 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C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)    (¬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C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)</a:t>
            </a:r>
            <a:r>
              <a:rPr dirty="0">
                <a:latin typeface="Times New Roman"/>
                <a:ea typeface="Times New Roman"/>
                <a:cs typeface="Times New Roman"/>
              </a:rPr>
              <a:t>    (¬</a:t>
            </a:r>
            <a:r>
              <a:rPr i="1" dirty="0">
                <a:latin typeface="Times New Roman"/>
                <a:ea typeface="Times New Roman"/>
                <a:cs typeface="Times New Roman"/>
              </a:rPr>
              <a:t>A</a:t>
            </a:r>
            <a:r>
              <a:rPr dirty="0"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6" name="(¬B)">
            <a:extLst>
              <a:ext uri="{FF2B5EF4-FFF2-40B4-BE49-F238E27FC236}">
                <a16:creationId xmlns:a16="http://schemas.microsoft.com/office/drawing/2014/main" id="{926AF2AE-489F-A0A1-2B6F-7171CBED1120}"/>
              </a:ext>
            </a:extLst>
          </p:cNvPr>
          <p:cNvSpPr>
            <a:spLocks noGrp="1"/>
          </p:cNvSpPr>
          <p:nvPr/>
        </p:nvSpPr>
        <p:spPr>
          <a:xfrm>
            <a:off x="15939703" y="8982262"/>
            <a:ext cx="1990930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strike="sngStrike" dirty="0">
                <a:latin typeface="Times New Roman"/>
                <a:ea typeface="Times New Roman"/>
                <a:cs typeface="Times New Roman"/>
              </a:rPr>
              <a:t>(¬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B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3B49C2-6A83-0DCC-C99F-4944482815C2}"/>
              </a:ext>
            </a:extLst>
          </p:cNvPr>
          <p:cNvCxnSpPr/>
          <p:nvPr/>
        </p:nvCxnSpPr>
        <p:spPr>
          <a:xfrm>
            <a:off x="15248238" y="7908324"/>
            <a:ext cx="0" cy="3805881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(A)">
            <a:extLst>
              <a:ext uri="{FF2B5EF4-FFF2-40B4-BE49-F238E27FC236}">
                <a16:creationId xmlns:a16="http://schemas.microsoft.com/office/drawing/2014/main" id="{E880D47D-BC94-19C2-6082-B8FEBC0DD810}"/>
              </a:ext>
            </a:extLst>
          </p:cNvPr>
          <p:cNvSpPr>
            <a:spLocks noGrp="1"/>
          </p:cNvSpPr>
          <p:nvPr/>
        </p:nvSpPr>
        <p:spPr>
          <a:xfrm>
            <a:off x="18998463" y="8982262"/>
            <a:ext cx="1412246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>
                <a:latin typeface="Times New Roman"/>
                <a:ea typeface="Times New Roman"/>
                <a:cs typeface="Times New Roman"/>
              </a:rPr>
              <a:t>(</a:t>
            </a:r>
            <a:r>
              <a:rPr i="1" dirty="0">
                <a:latin typeface="Times New Roman"/>
                <a:ea typeface="Times New Roman"/>
                <a:cs typeface="Times New Roman"/>
              </a:rPr>
              <a:t>A</a:t>
            </a:r>
            <a:r>
              <a:rPr dirty="0"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30344901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1B486-F3A0-EF6D-2C1C-64E8DCCCF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es (A ∨ B) ∧ (¬B ∨ C) ∧ (¬C) entail A?">
            <a:extLst>
              <a:ext uri="{FF2B5EF4-FFF2-40B4-BE49-F238E27FC236}">
                <a16:creationId xmlns:a16="http://schemas.microsoft.com/office/drawing/2014/main" id="{A7C91B56-204B-5FD7-9A7B-F14FDDBE58B3}"/>
              </a:ext>
            </a:extLst>
          </p:cNvPr>
          <p:cNvSpPr>
            <a:spLocks noGrp="1"/>
          </p:cNvSpPr>
          <p:nvPr/>
        </p:nvSpPr>
        <p:spPr>
          <a:xfrm>
            <a:off x="1056580" y="3018964"/>
            <a:ext cx="22426011" cy="176856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lnSpc>
                <a:spcPct val="150000"/>
              </a:lnSpc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/>
              <a:t>(</a:t>
            </a:r>
            <a:r>
              <a:rPr i="1" dirty="0"/>
              <a:t>A</a:t>
            </a:r>
            <a:r>
              <a:rPr dirty="0"/>
              <a:t> ∨ </a:t>
            </a:r>
            <a:r>
              <a:rPr i="1" dirty="0"/>
              <a:t>B</a:t>
            </a:r>
            <a:r>
              <a:rPr dirty="0"/>
              <a:t>) ∧ (¬</a:t>
            </a:r>
            <a:r>
              <a:rPr i="1" dirty="0"/>
              <a:t>B</a:t>
            </a:r>
            <a:r>
              <a:rPr dirty="0"/>
              <a:t> ∨ </a:t>
            </a:r>
            <a:r>
              <a:rPr i="1" dirty="0"/>
              <a:t>C</a:t>
            </a:r>
            <a:r>
              <a:rPr dirty="0"/>
              <a:t>) ∧ (¬</a:t>
            </a:r>
            <a:r>
              <a:rPr i="1" dirty="0"/>
              <a:t>C</a:t>
            </a:r>
            <a:r>
              <a:rPr dirty="0"/>
              <a:t>) </a:t>
            </a:r>
            <a:r>
              <a:rPr dirty="0" err="1"/>
              <a:t>implica</a:t>
            </a:r>
            <a:r>
              <a:rPr dirty="0"/>
              <a:t> </a:t>
            </a:r>
            <a:r>
              <a:rPr dirty="0" err="1"/>
              <a:t>logicamente</a:t>
            </a:r>
            <a:r>
              <a:rPr dirty="0"/>
              <a:t> </a:t>
            </a:r>
            <a:r>
              <a:rPr i="1" dirty="0"/>
              <a:t>A</a:t>
            </a:r>
            <a:r>
              <a:rPr dirty="0"/>
              <a:t>?</a:t>
            </a:r>
          </a:p>
        </p:txBody>
      </p:sp>
      <p:sp>
        <p:nvSpPr>
          <p:cNvPr id="5" name="Inference by Resolution">
            <a:extLst>
              <a:ext uri="{FF2B5EF4-FFF2-40B4-BE49-F238E27FC236}">
                <a16:creationId xmlns:a16="http://schemas.microsoft.com/office/drawing/2014/main" id="{E6B1327E-657C-CA00-4460-10EE26943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  <p:sp>
        <p:nvSpPr>
          <p:cNvPr id="3" name="(A ∨ B) ∧ (¬B ∨ C) ∧ (¬C) ∧ (¬A)">
            <a:extLst>
              <a:ext uri="{FF2B5EF4-FFF2-40B4-BE49-F238E27FC236}">
                <a16:creationId xmlns:a16="http://schemas.microsoft.com/office/drawing/2014/main" id="{93D75823-C60E-DFD6-BEFF-ADD021C8F5EF}"/>
              </a:ext>
            </a:extLst>
          </p:cNvPr>
          <p:cNvSpPr>
            <a:spLocks noGrp="1"/>
          </p:cNvSpPr>
          <p:nvPr/>
        </p:nvSpPr>
        <p:spPr>
          <a:xfrm>
            <a:off x="5176043" y="5634818"/>
            <a:ext cx="13962262" cy="1341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A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B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B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C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C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A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4" name="(A ∨ B)    (¬B ∨ C)    (¬C)    (¬A)">
            <a:extLst>
              <a:ext uri="{FF2B5EF4-FFF2-40B4-BE49-F238E27FC236}">
                <a16:creationId xmlns:a16="http://schemas.microsoft.com/office/drawing/2014/main" id="{409A24A9-683B-E862-25D5-DAF87AEC43D9}"/>
              </a:ext>
            </a:extLst>
          </p:cNvPr>
          <p:cNvSpPr>
            <a:spLocks noGrp="1"/>
          </p:cNvSpPr>
          <p:nvPr/>
        </p:nvSpPr>
        <p:spPr>
          <a:xfrm>
            <a:off x="1147631" y="8978540"/>
            <a:ext cx="13676512" cy="1341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strike="sngStrike" dirty="0">
                <a:latin typeface="Times New Roman"/>
                <a:ea typeface="Times New Roman"/>
                <a:cs typeface="Times New Roman"/>
              </a:rPr>
              <a:t>(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A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 ∨ 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B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)</a:t>
            </a: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(¬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B</a:t>
            </a:r>
            <a:r>
              <a:rPr strike="sngStrike" dirty="0"/>
              <a:t> 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∨ 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C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)    (¬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C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)</a:t>
            </a:r>
            <a:r>
              <a:rPr dirty="0">
                <a:latin typeface="Times New Roman"/>
                <a:ea typeface="Times New Roman"/>
                <a:cs typeface="Times New Roman"/>
              </a:rPr>
              <a:t>    </a:t>
            </a: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(¬</a:t>
            </a:r>
            <a:r>
              <a:rPr i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6" name="(¬B)">
            <a:extLst>
              <a:ext uri="{FF2B5EF4-FFF2-40B4-BE49-F238E27FC236}">
                <a16:creationId xmlns:a16="http://schemas.microsoft.com/office/drawing/2014/main" id="{44B19312-1C04-A895-4EF4-928BF3E869FF}"/>
              </a:ext>
            </a:extLst>
          </p:cNvPr>
          <p:cNvSpPr>
            <a:spLocks noGrp="1"/>
          </p:cNvSpPr>
          <p:nvPr/>
        </p:nvSpPr>
        <p:spPr>
          <a:xfrm>
            <a:off x="15939703" y="8982262"/>
            <a:ext cx="1990930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strike="sngStrike" dirty="0">
                <a:latin typeface="Times New Roman"/>
                <a:ea typeface="Times New Roman"/>
                <a:cs typeface="Times New Roman"/>
              </a:rPr>
              <a:t>(¬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B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D2BAF5-7113-65CB-8CF5-89FD9717BAA0}"/>
              </a:ext>
            </a:extLst>
          </p:cNvPr>
          <p:cNvCxnSpPr/>
          <p:nvPr/>
        </p:nvCxnSpPr>
        <p:spPr>
          <a:xfrm>
            <a:off x="15248238" y="7908324"/>
            <a:ext cx="0" cy="3805881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(A)">
            <a:extLst>
              <a:ext uri="{FF2B5EF4-FFF2-40B4-BE49-F238E27FC236}">
                <a16:creationId xmlns:a16="http://schemas.microsoft.com/office/drawing/2014/main" id="{5713F366-9C02-C19F-1D1A-6814B0631EE7}"/>
              </a:ext>
            </a:extLst>
          </p:cNvPr>
          <p:cNvSpPr>
            <a:spLocks noGrp="1"/>
          </p:cNvSpPr>
          <p:nvPr/>
        </p:nvSpPr>
        <p:spPr>
          <a:xfrm>
            <a:off x="18998463" y="8982262"/>
            <a:ext cx="1412246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i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3496175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8FD6D-2AA4-5419-1D0E-24D643D14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es (A ∨ B) ∧ (¬B ∨ C) ∧ (¬C) entail A?">
            <a:extLst>
              <a:ext uri="{FF2B5EF4-FFF2-40B4-BE49-F238E27FC236}">
                <a16:creationId xmlns:a16="http://schemas.microsoft.com/office/drawing/2014/main" id="{254E6FC6-3258-60B0-B768-2993271B0E59}"/>
              </a:ext>
            </a:extLst>
          </p:cNvPr>
          <p:cNvSpPr>
            <a:spLocks noGrp="1"/>
          </p:cNvSpPr>
          <p:nvPr/>
        </p:nvSpPr>
        <p:spPr>
          <a:xfrm>
            <a:off x="1056580" y="3018964"/>
            <a:ext cx="22426011" cy="176856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lnSpc>
                <a:spcPct val="150000"/>
              </a:lnSpc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/>
              <a:t>(</a:t>
            </a:r>
            <a:r>
              <a:rPr i="1" dirty="0"/>
              <a:t>A</a:t>
            </a:r>
            <a:r>
              <a:rPr dirty="0"/>
              <a:t> ∨ </a:t>
            </a:r>
            <a:r>
              <a:rPr i="1" dirty="0"/>
              <a:t>B</a:t>
            </a:r>
            <a:r>
              <a:rPr dirty="0"/>
              <a:t>) ∧ (¬</a:t>
            </a:r>
            <a:r>
              <a:rPr i="1" dirty="0"/>
              <a:t>B</a:t>
            </a:r>
            <a:r>
              <a:rPr dirty="0"/>
              <a:t> ∨ </a:t>
            </a:r>
            <a:r>
              <a:rPr i="1" dirty="0"/>
              <a:t>C</a:t>
            </a:r>
            <a:r>
              <a:rPr dirty="0"/>
              <a:t>) ∧ (¬</a:t>
            </a:r>
            <a:r>
              <a:rPr i="1" dirty="0"/>
              <a:t>C</a:t>
            </a:r>
            <a:r>
              <a:rPr dirty="0"/>
              <a:t>) </a:t>
            </a:r>
            <a:r>
              <a:rPr dirty="0" err="1"/>
              <a:t>implica</a:t>
            </a:r>
            <a:r>
              <a:rPr dirty="0"/>
              <a:t> </a:t>
            </a:r>
            <a:r>
              <a:rPr dirty="0" err="1"/>
              <a:t>logicamente</a:t>
            </a:r>
            <a:r>
              <a:rPr dirty="0"/>
              <a:t> </a:t>
            </a:r>
            <a:r>
              <a:rPr i="1" dirty="0"/>
              <a:t>A</a:t>
            </a:r>
            <a:r>
              <a:rPr dirty="0"/>
              <a:t>?</a:t>
            </a:r>
          </a:p>
        </p:txBody>
      </p:sp>
      <p:sp>
        <p:nvSpPr>
          <p:cNvPr id="5" name="Inference by Resolution">
            <a:extLst>
              <a:ext uri="{FF2B5EF4-FFF2-40B4-BE49-F238E27FC236}">
                <a16:creationId xmlns:a16="http://schemas.microsoft.com/office/drawing/2014/main" id="{0925BED3-78FD-E0E6-9337-2E70E3F55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por Resolução</a:t>
            </a:r>
          </a:p>
        </p:txBody>
      </p:sp>
      <p:sp>
        <p:nvSpPr>
          <p:cNvPr id="3" name="(A ∨ B) ∧ (¬B ∨ C) ∧ (¬C) ∧ (¬A)">
            <a:extLst>
              <a:ext uri="{FF2B5EF4-FFF2-40B4-BE49-F238E27FC236}">
                <a16:creationId xmlns:a16="http://schemas.microsoft.com/office/drawing/2014/main" id="{CE20BAE6-7231-5F9A-AE22-C3FE3680F227}"/>
              </a:ext>
            </a:extLst>
          </p:cNvPr>
          <p:cNvSpPr>
            <a:spLocks noGrp="1"/>
          </p:cNvSpPr>
          <p:nvPr/>
        </p:nvSpPr>
        <p:spPr>
          <a:xfrm>
            <a:off x="5176043" y="5634818"/>
            <a:ext cx="13962262" cy="1341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A</a:t>
            </a:r>
            <a:r>
              <a:rPr>
                <a:latin typeface="Times New Roman"/>
                <a:ea typeface="Times New Roman"/>
                <a:cs typeface="Times New Roman"/>
              </a:rPr>
              <a:t> ∨ </a:t>
            </a:r>
            <a:r>
              <a:rPr i="1">
                <a:latin typeface="Times New Roman"/>
                <a:ea typeface="Times New Roman"/>
                <a:cs typeface="Times New Roman"/>
              </a:rPr>
              <a:t>B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B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∨ </a:t>
            </a:r>
            <a:r>
              <a:rPr i="1">
                <a:latin typeface="Times New Roman"/>
                <a:ea typeface="Times New Roman"/>
                <a:cs typeface="Times New Roman"/>
              </a:rPr>
              <a:t>C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C</a:t>
            </a:r>
            <a:r>
              <a:rPr>
                <a:latin typeface="Times New Roman"/>
                <a:ea typeface="Times New Roman"/>
                <a:cs typeface="Times New Roman"/>
              </a:rPr>
              <a:t>) ∧ (¬</a:t>
            </a:r>
            <a:r>
              <a:rPr i="1">
                <a:latin typeface="Times New Roman"/>
                <a:ea typeface="Times New Roman"/>
                <a:cs typeface="Times New Roman"/>
              </a:rPr>
              <a:t>A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4" name="(A ∨ B)    (¬B ∨ C)    (¬C)    (¬A)">
            <a:extLst>
              <a:ext uri="{FF2B5EF4-FFF2-40B4-BE49-F238E27FC236}">
                <a16:creationId xmlns:a16="http://schemas.microsoft.com/office/drawing/2014/main" id="{DBD39A1D-1648-FF43-2341-522C509C1F9E}"/>
              </a:ext>
            </a:extLst>
          </p:cNvPr>
          <p:cNvSpPr>
            <a:spLocks noGrp="1"/>
          </p:cNvSpPr>
          <p:nvPr/>
        </p:nvSpPr>
        <p:spPr>
          <a:xfrm>
            <a:off x="1147631" y="8978540"/>
            <a:ext cx="13676512" cy="1341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strike="sngStrike" dirty="0">
                <a:latin typeface="Times New Roman"/>
                <a:ea typeface="Times New Roman"/>
                <a:cs typeface="Times New Roman"/>
              </a:rPr>
              <a:t>(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A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 ∨ 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B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)</a:t>
            </a: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(¬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B</a:t>
            </a:r>
            <a:r>
              <a:rPr strike="sngStrike" dirty="0"/>
              <a:t> 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∨ 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C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)    (¬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C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)</a:t>
            </a:r>
            <a:r>
              <a:rPr dirty="0">
                <a:latin typeface="Times New Roman"/>
                <a:ea typeface="Times New Roman"/>
                <a:cs typeface="Times New Roman"/>
              </a:rPr>
              <a:t>    </a:t>
            </a: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(¬</a:t>
            </a:r>
            <a:r>
              <a:rPr i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6" name="(¬B)">
            <a:extLst>
              <a:ext uri="{FF2B5EF4-FFF2-40B4-BE49-F238E27FC236}">
                <a16:creationId xmlns:a16="http://schemas.microsoft.com/office/drawing/2014/main" id="{0FDB57E4-8CE0-C873-4310-45374CF0BD60}"/>
              </a:ext>
            </a:extLst>
          </p:cNvPr>
          <p:cNvSpPr>
            <a:spLocks noGrp="1"/>
          </p:cNvSpPr>
          <p:nvPr/>
        </p:nvSpPr>
        <p:spPr>
          <a:xfrm>
            <a:off x="15939703" y="8982262"/>
            <a:ext cx="1990930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strike="sngStrike" dirty="0">
                <a:latin typeface="Times New Roman"/>
                <a:ea typeface="Times New Roman"/>
                <a:cs typeface="Times New Roman"/>
              </a:rPr>
              <a:t>(¬</a:t>
            </a:r>
            <a:r>
              <a:rPr i="1" strike="sngStrike" dirty="0">
                <a:latin typeface="Times New Roman"/>
                <a:ea typeface="Times New Roman"/>
                <a:cs typeface="Times New Roman"/>
              </a:rPr>
              <a:t>B</a:t>
            </a:r>
            <a:r>
              <a:rPr strike="sngStrike" dirty="0"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27E0B8-910F-5780-DF2E-F00F88E08702}"/>
              </a:ext>
            </a:extLst>
          </p:cNvPr>
          <p:cNvCxnSpPr/>
          <p:nvPr/>
        </p:nvCxnSpPr>
        <p:spPr>
          <a:xfrm>
            <a:off x="15248238" y="7908324"/>
            <a:ext cx="0" cy="3805881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(A)">
            <a:extLst>
              <a:ext uri="{FF2B5EF4-FFF2-40B4-BE49-F238E27FC236}">
                <a16:creationId xmlns:a16="http://schemas.microsoft.com/office/drawing/2014/main" id="{063407E5-60E7-B979-7381-2440A0ADD632}"/>
              </a:ext>
            </a:extLst>
          </p:cNvPr>
          <p:cNvSpPr>
            <a:spLocks noGrp="1"/>
          </p:cNvSpPr>
          <p:nvPr/>
        </p:nvSpPr>
        <p:spPr>
          <a:xfrm>
            <a:off x="18998463" y="8982262"/>
            <a:ext cx="1412246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i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9" name="( )">
            <a:extLst>
              <a:ext uri="{FF2B5EF4-FFF2-40B4-BE49-F238E27FC236}">
                <a16:creationId xmlns:a16="http://schemas.microsoft.com/office/drawing/2014/main" id="{183BD5B3-BE9A-38DD-A671-45F48183FE89}"/>
              </a:ext>
            </a:extLst>
          </p:cNvPr>
          <p:cNvSpPr>
            <a:spLocks noGrp="1"/>
          </p:cNvSpPr>
          <p:nvPr/>
        </p:nvSpPr>
        <p:spPr>
          <a:xfrm>
            <a:off x="21484235" y="8982262"/>
            <a:ext cx="1041952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 dirty="0">
                <a:solidFill>
                  <a:schemeClr val="accent3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( )</a:t>
            </a:r>
          </a:p>
        </p:txBody>
      </p:sp>
    </p:spTree>
    <p:extLst>
      <p:ext uri="{BB962C8B-B14F-4D97-AF65-F5344CB8AC3E}">
        <p14:creationId xmlns:p14="http://schemas.microsoft.com/office/powerpoint/2010/main" val="3899006169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First-Order Logic">
            <a:extLst>
              <a:ext uri="{FF2B5EF4-FFF2-40B4-BE49-F238E27FC236}">
                <a16:creationId xmlns:a16="http://schemas.microsoft.com/office/drawing/2014/main" id="{2500299E-74E8-4BE1-A23A-F8BEEEC76BD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Lógica de Primeira Ordem</a:t>
            </a:r>
          </a:p>
        </p:txBody>
      </p:sp>
    </p:spTree>
    <p:extLst>
      <p:ext uri="{BB962C8B-B14F-4D97-AF65-F5344CB8AC3E}">
        <p14:creationId xmlns:p14="http://schemas.microsoft.com/office/powerpoint/2010/main" val="588130822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ropositional Logic">
            <a:extLst>
              <a:ext uri="{FF2B5EF4-FFF2-40B4-BE49-F238E27FC236}">
                <a16:creationId xmlns:a16="http://schemas.microsoft.com/office/drawing/2014/main" id="{C26E7100-BD71-4795-83F4-E1BC420E0F9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Lógica Proposicional</a:t>
            </a:r>
          </a:p>
        </p:txBody>
      </p:sp>
    </p:spTree>
    <p:extLst>
      <p:ext uri="{BB962C8B-B14F-4D97-AF65-F5344CB8AC3E}">
        <p14:creationId xmlns:p14="http://schemas.microsoft.com/office/powerpoint/2010/main" val="1474154600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7F77E-D9BA-4186-E8BC-BEA45CBF5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ropositional Logic">
            <a:extLst>
              <a:ext uri="{FF2B5EF4-FFF2-40B4-BE49-F238E27FC236}">
                <a16:creationId xmlns:a16="http://schemas.microsoft.com/office/drawing/2014/main" id="{B52401FC-126F-2CC0-D8D7-2DBEDE61326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Lógica Proposicional</a:t>
            </a:r>
          </a:p>
        </p:txBody>
      </p:sp>
      <p:sp>
        <p:nvSpPr>
          <p:cNvPr id="637" name="Propositional Symbols">
            <a:extLst>
              <a:ext uri="{FF2B5EF4-FFF2-40B4-BE49-F238E27FC236}">
                <a16:creationId xmlns:a16="http://schemas.microsoft.com/office/drawing/2014/main" id="{5ED94D1A-5307-7D8C-342F-346E6E6EBC12}"/>
              </a:ext>
            </a:extLst>
          </p:cNvPr>
          <p:cNvSpPr>
            <a:spLocks noGrp="1"/>
          </p:cNvSpPr>
          <p:nvPr/>
        </p:nvSpPr>
        <p:spPr>
          <a:xfrm>
            <a:off x="3384891" y="3093741"/>
            <a:ext cx="10166152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u="sng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Símbolos Proposicionais</a:t>
            </a:r>
          </a:p>
        </p:txBody>
      </p:sp>
    </p:spTree>
    <p:extLst>
      <p:ext uri="{BB962C8B-B14F-4D97-AF65-F5344CB8AC3E}">
        <p14:creationId xmlns:p14="http://schemas.microsoft.com/office/powerpoint/2010/main" val="2293920038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A667D-F823-B351-2B6E-B18C69E28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ropositional Logic">
            <a:extLst>
              <a:ext uri="{FF2B5EF4-FFF2-40B4-BE49-F238E27FC236}">
                <a16:creationId xmlns:a16="http://schemas.microsoft.com/office/drawing/2014/main" id="{FB472983-F759-53E7-F754-777C4616602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Lógica Proposicional</a:t>
            </a:r>
          </a:p>
        </p:txBody>
      </p:sp>
      <p:sp>
        <p:nvSpPr>
          <p:cNvPr id="635" name="MinervaGryffindor">
            <a:extLst>
              <a:ext uri="{FF2B5EF4-FFF2-40B4-BE49-F238E27FC236}">
                <a16:creationId xmlns:a16="http://schemas.microsoft.com/office/drawing/2014/main" id="{3E55F247-CE7F-5360-9E73-49ACB3A39DC7}"/>
              </a:ext>
            </a:extLst>
          </p:cNvPr>
          <p:cNvSpPr>
            <a:spLocks noGrp="1"/>
          </p:cNvSpPr>
          <p:nvPr/>
        </p:nvSpPr>
        <p:spPr>
          <a:xfrm>
            <a:off x="3384891" y="4699000"/>
            <a:ext cx="7902476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MinervaGryffindor</a:t>
            </a:r>
          </a:p>
        </p:txBody>
      </p:sp>
      <p:sp>
        <p:nvSpPr>
          <p:cNvPr id="636" name="MinervaHufflepuff">
            <a:extLst>
              <a:ext uri="{FF2B5EF4-FFF2-40B4-BE49-F238E27FC236}">
                <a16:creationId xmlns:a16="http://schemas.microsoft.com/office/drawing/2014/main" id="{201C2714-32D7-B390-DB0D-7317B880D948}"/>
              </a:ext>
            </a:extLst>
          </p:cNvPr>
          <p:cNvSpPr>
            <a:spLocks noGrp="1"/>
          </p:cNvSpPr>
          <p:nvPr/>
        </p:nvSpPr>
        <p:spPr>
          <a:xfrm>
            <a:off x="3384891" y="6250930"/>
            <a:ext cx="7676258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MinervaHufflepuff</a:t>
            </a:r>
          </a:p>
        </p:txBody>
      </p:sp>
      <p:sp>
        <p:nvSpPr>
          <p:cNvPr id="637" name="Propositional Symbols">
            <a:extLst>
              <a:ext uri="{FF2B5EF4-FFF2-40B4-BE49-F238E27FC236}">
                <a16:creationId xmlns:a16="http://schemas.microsoft.com/office/drawing/2014/main" id="{609A7D8F-7B20-13CF-6DAA-D97F68251C1E}"/>
              </a:ext>
            </a:extLst>
          </p:cNvPr>
          <p:cNvSpPr>
            <a:spLocks noGrp="1"/>
          </p:cNvSpPr>
          <p:nvPr/>
        </p:nvSpPr>
        <p:spPr>
          <a:xfrm>
            <a:off x="3384891" y="3093741"/>
            <a:ext cx="10166152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u="sng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Símbolos Proposicionais</a:t>
            </a:r>
          </a:p>
        </p:txBody>
      </p:sp>
      <p:sp>
        <p:nvSpPr>
          <p:cNvPr id="638" name="MinervaRavenclaw">
            <a:extLst>
              <a:ext uri="{FF2B5EF4-FFF2-40B4-BE49-F238E27FC236}">
                <a16:creationId xmlns:a16="http://schemas.microsoft.com/office/drawing/2014/main" id="{CBDA5BDF-FC8F-4EDB-966C-1914052FC514}"/>
              </a:ext>
            </a:extLst>
          </p:cNvPr>
          <p:cNvSpPr>
            <a:spLocks noGrp="1"/>
          </p:cNvSpPr>
          <p:nvPr/>
        </p:nvSpPr>
        <p:spPr>
          <a:xfrm>
            <a:off x="3384891" y="7802859"/>
            <a:ext cx="8013601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MinervaRavenclaw</a:t>
            </a:r>
          </a:p>
        </p:txBody>
      </p:sp>
      <p:sp>
        <p:nvSpPr>
          <p:cNvPr id="639" name="MinervaSlytherin">
            <a:extLst>
              <a:ext uri="{FF2B5EF4-FFF2-40B4-BE49-F238E27FC236}">
                <a16:creationId xmlns:a16="http://schemas.microsoft.com/office/drawing/2014/main" id="{A5AD9B70-C812-28CD-9A7A-0EE655BD1E38}"/>
              </a:ext>
            </a:extLst>
          </p:cNvPr>
          <p:cNvSpPr>
            <a:spLocks noGrp="1"/>
          </p:cNvSpPr>
          <p:nvPr/>
        </p:nvSpPr>
        <p:spPr>
          <a:xfrm>
            <a:off x="3384891" y="9354788"/>
            <a:ext cx="7224316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MinervaSlytherin</a:t>
            </a:r>
          </a:p>
        </p:txBody>
      </p:sp>
      <p:sp>
        <p:nvSpPr>
          <p:cNvPr id="640" name="…">
            <a:extLst>
              <a:ext uri="{FF2B5EF4-FFF2-40B4-BE49-F238E27FC236}">
                <a16:creationId xmlns:a16="http://schemas.microsoft.com/office/drawing/2014/main" id="{82BD0796-9546-6EBF-83F5-A45AFE11B702}"/>
              </a:ext>
            </a:extLst>
          </p:cNvPr>
          <p:cNvSpPr>
            <a:spLocks noGrp="1"/>
          </p:cNvSpPr>
          <p:nvPr/>
        </p:nvSpPr>
        <p:spPr>
          <a:xfrm>
            <a:off x="3384891" y="10906717"/>
            <a:ext cx="1130301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55569037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First-Order Logic">
            <a:extLst>
              <a:ext uri="{FF2B5EF4-FFF2-40B4-BE49-F238E27FC236}">
                <a16:creationId xmlns:a16="http://schemas.microsoft.com/office/drawing/2014/main" id="{6E0585EE-7650-4054-8125-EC3C4E02A2C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Lógica de Primeira Ordem</a:t>
            </a:r>
          </a:p>
        </p:txBody>
      </p:sp>
    </p:spTree>
    <p:extLst>
      <p:ext uri="{BB962C8B-B14F-4D97-AF65-F5344CB8AC3E}">
        <p14:creationId xmlns:p14="http://schemas.microsoft.com/office/powerpoint/2010/main" val="1414052928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5F426-A207-AFCD-3D7D-40A0A4BA8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First-Order Logic">
            <a:extLst>
              <a:ext uri="{FF2B5EF4-FFF2-40B4-BE49-F238E27FC236}">
                <a16:creationId xmlns:a16="http://schemas.microsoft.com/office/drawing/2014/main" id="{4DCA50BC-82E2-EEE0-1720-4533BEC9E5F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 err="1"/>
              <a:t>Lógica</a:t>
            </a:r>
            <a:r>
              <a:rPr dirty="0"/>
              <a:t> de </a:t>
            </a:r>
            <a:r>
              <a:rPr dirty="0" err="1"/>
              <a:t>Primeira</a:t>
            </a:r>
            <a:r>
              <a:rPr dirty="0"/>
              <a:t> </a:t>
            </a:r>
            <a:r>
              <a:rPr dirty="0" err="1"/>
              <a:t>Ordem</a:t>
            </a:r>
            <a:endParaRPr dirty="0"/>
          </a:p>
        </p:txBody>
      </p:sp>
      <p:sp>
        <p:nvSpPr>
          <p:cNvPr id="644" name="Constant Symbol">
            <a:extLst>
              <a:ext uri="{FF2B5EF4-FFF2-40B4-BE49-F238E27FC236}">
                <a16:creationId xmlns:a16="http://schemas.microsoft.com/office/drawing/2014/main" id="{0D03C7BE-6853-55D4-88A0-A82A561DDCFE}"/>
              </a:ext>
            </a:extLst>
          </p:cNvPr>
          <p:cNvSpPr>
            <a:spLocks noGrp="1"/>
          </p:cNvSpPr>
          <p:nvPr/>
        </p:nvSpPr>
        <p:spPr>
          <a:xfrm>
            <a:off x="3840253" y="3269631"/>
            <a:ext cx="6206859" cy="1066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300" b="0" u="sng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Símbolo Constante</a:t>
            </a:r>
          </a:p>
        </p:txBody>
      </p:sp>
    </p:spTree>
    <p:extLst>
      <p:ext uri="{BB962C8B-B14F-4D97-AF65-F5344CB8AC3E}">
        <p14:creationId xmlns:p14="http://schemas.microsoft.com/office/powerpoint/2010/main" val="3332110697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AADE6-5ED9-39D2-6EBC-391B6516F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First-Order Logic">
            <a:extLst>
              <a:ext uri="{FF2B5EF4-FFF2-40B4-BE49-F238E27FC236}">
                <a16:creationId xmlns:a16="http://schemas.microsoft.com/office/drawing/2014/main" id="{ADF7BC40-DEAC-5C75-5494-7CB3E8CE3CF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Lógica de Primeira Ordem</a:t>
            </a:r>
          </a:p>
        </p:txBody>
      </p:sp>
      <p:sp>
        <p:nvSpPr>
          <p:cNvPr id="643" name="Minerva…">
            <a:extLst>
              <a:ext uri="{FF2B5EF4-FFF2-40B4-BE49-F238E27FC236}">
                <a16:creationId xmlns:a16="http://schemas.microsoft.com/office/drawing/2014/main" id="{1CB465E1-C1CA-EB55-B5B3-6B2A5A2E542B}"/>
              </a:ext>
            </a:extLst>
          </p:cNvPr>
          <p:cNvSpPr>
            <a:spLocks noGrp="1"/>
          </p:cNvSpPr>
          <p:nvPr/>
        </p:nvSpPr>
        <p:spPr>
          <a:xfrm>
            <a:off x="3873272" y="4726119"/>
            <a:ext cx="4014528" cy="819183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Minerva</a:t>
            </a:r>
          </a:p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Pomona</a:t>
            </a:r>
          </a:p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Horace</a:t>
            </a:r>
          </a:p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Gilderoy</a:t>
            </a:r>
          </a:p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Gryffindor</a:t>
            </a:r>
          </a:p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Hufflepuff</a:t>
            </a:r>
          </a:p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Ravenclaw</a:t>
            </a:r>
          </a:p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Slytherin</a:t>
            </a:r>
          </a:p>
        </p:txBody>
      </p:sp>
      <p:sp>
        <p:nvSpPr>
          <p:cNvPr id="644" name="Constant Symbol">
            <a:extLst>
              <a:ext uri="{FF2B5EF4-FFF2-40B4-BE49-F238E27FC236}">
                <a16:creationId xmlns:a16="http://schemas.microsoft.com/office/drawing/2014/main" id="{E4AF18EC-2E4D-599D-0F7A-543B8FDE7AB6}"/>
              </a:ext>
            </a:extLst>
          </p:cNvPr>
          <p:cNvSpPr>
            <a:spLocks noGrp="1"/>
          </p:cNvSpPr>
          <p:nvPr/>
        </p:nvSpPr>
        <p:spPr>
          <a:xfrm>
            <a:off x="3840253" y="3269631"/>
            <a:ext cx="6206859" cy="1066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300" b="0" u="sng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Símbolo Constante</a:t>
            </a:r>
          </a:p>
        </p:txBody>
      </p:sp>
    </p:spTree>
    <p:extLst>
      <p:ext uri="{BB962C8B-B14F-4D97-AF65-F5344CB8AC3E}">
        <p14:creationId xmlns:p14="http://schemas.microsoft.com/office/powerpoint/2010/main" val="2588963311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A194A-B0E1-8871-2F09-E5D965FD5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First-Order Logic">
            <a:extLst>
              <a:ext uri="{FF2B5EF4-FFF2-40B4-BE49-F238E27FC236}">
                <a16:creationId xmlns:a16="http://schemas.microsoft.com/office/drawing/2014/main" id="{2CA593EE-95FD-33BA-AC61-84C75331A36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Lógica de Primeira Ordem</a:t>
            </a:r>
          </a:p>
        </p:txBody>
      </p:sp>
      <p:sp>
        <p:nvSpPr>
          <p:cNvPr id="643" name="Minerva…">
            <a:extLst>
              <a:ext uri="{FF2B5EF4-FFF2-40B4-BE49-F238E27FC236}">
                <a16:creationId xmlns:a16="http://schemas.microsoft.com/office/drawing/2014/main" id="{1000CF3E-31FE-09A0-A02D-C5D4BA535217}"/>
              </a:ext>
            </a:extLst>
          </p:cNvPr>
          <p:cNvSpPr>
            <a:spLocks noGrp="1"/>
          </p:cNvSpPr>
          <p:nvPr/>
        </p:nvSpPr>
        <p:spPr>
          <a:xfrm>
            <a:off x="3873272" y="4726119"/>
            <a:ext cx="4014528" cy="819183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Minerva</a:t>
            </a:r>
          </a:p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Pomona</a:t>
            </a:r>
          </a:p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Horace</a:t>
            </a:r>
          </a:p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Gilderoy</a:t>
            </a:r>
          </a:p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Gryffindor</a:t>
            </a:r>
          </a:p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Hufflepuff</a:t>
            </a:r>
          </a:p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Ravenclaw</a:t>
            </a:r>
          </a:p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Slytherin</a:t>
            </a:r>
          </a:p>
        </p:txBody>
      </p:sp>
      <p:sp>
        <p:nvSpPr>
          <p:cNvPr id="644" name="Constant Symbol">
            <a:extLst>
              <a:ext uri="{FF2B5EF4-FFF2-40B4-BE49-F238E27FC236}">
                <a16:creationId xmlns:a16="http://schemas.microsoft.com/office/drawing/2014/main" id="{E78851BB-2215-E945-7182-4A2B3B6CF992}"/>
              </a:ext>
            </a:extLst>
          </p:cNvPr>
          <p:cNvSpPr>
            <a:spLocks noGrp="1"/>
          </p:cNvSpPr>
          <p:nvPr/>
        </p:nvSpPr>
        <p:spPr>
          <a:xfrm>
            <a:off x="3840253" y="3269631"/>
            <a:ext cx="6206859" cy="1066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300" b="0" u="sng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Símbolo Constante</a:t>
            </a:r>
          </a:p>
        </p:txBody>
      </p:sp>
      <p:sp>
        <p:nvSpPr>
          <p:cNvPr id="645" name="Predicate Symbol">
            <a:extLst>
              <a:ext uri="{FF2B5EF4-FFF2-40B4-BE49-F238E27FC236}">
                <a16:creationId xmlns:a16="http://schemas.microsoft.com/office/drawing/2014/main" id="{89B25694-7A78-0DB2-C62C-95C8E99F04A5}"/>
              </a:ext>
            </a:extLst>
          </p:cNvPr>
          <p:cNvSpPr>
            <a:spLocks noGrp="1"/>
          </p:cNvSpPr>
          <p:nvPr/>
        </p:nvSpPr>
        <p:spPr>
          <a:xfrm>
            <a:off x="13014574" y="3269631"/>
            <a:ext cx="6384616" cy="1066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300" b="0" u="sng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Símbolo de Predicado</a:t>
            </a:r>
          </a:p>
        </p:txBody>
      </p:sp>
    </p:spTree>
    <p:extLst>
      <p:ext uri="{BB962C8B-B14F-4D97-AF65-F5344CB8AC3E}">
        <p14:creationId xmlns:p14="http://schemas.microsoft.com/office/powerpoint/2010/main" val="181911047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CD805-2C08-51F0-F895-FEC538632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First-Order Logic">
            <a:extLst>
              <a:ext uri="{FF2B5EF4-FFF2-40B4-BE49-F238E27FC236}">
                <a16:creationId xmlns:a16="http://schemas.microsoft.com/office/drawing/2014/main" id="{0DDB074C-B662-88A8-1FBD-270D2F4E33E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Lógica de Primeira Ordem</a:t>
            </a:r>
          </a:p>
        </p:txBody>
      </p:sp>
      <p:sp>
        <p:nvSpPr>
          <p:cNvPr id="643" name="Minerva…">
            <a:extLst>
              <a:ext uri="{FF2B5EF4-FFF2-40B4-BE49-F238E27FC236}">
                <a16:creationId xmlns:a16="http://schemas.microsoft.com/office/drawing/2014/main" id="{3799BF64-3012-9015-B7E3-F6BC2FA107D2}"/>
              </a:ext>
            </a:extLst>
          </p:cNvPr>
          <p:cNvSpPr>
            <a:spLocks noGrp="1"/>
          </p:cNvSpPr>
          <p:nvPr/>
        </p:nvSpPr>
        <p:spPr>
          <a:xfrm>
            <a:off x="3873272" y="4726119"/>
            <a:ext cx="4014528" cy="819183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Minerva</a:t>
            </a:r>
          </a:p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Pomona</a:t>
            </a:r>
          </a:p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Horace</a:t>
            </a:r>
          </a:p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Gilderoy</a:t>
            </a:r>
          </a:p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Gryffindor</a:t>
            </a:r>
          </a:p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Hufflepuff</a:t>
            </a:r>
          </a:p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Ravenclaw</a:t>
            </a:r>
          </a:p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Slytherin</a:t>
            </a:r>
          </a:p>
        </p:txBody>
      </p:sp>
      <p:sp>
        <p:nvSpPr>
          <p:cNvPr id="644" name="Constant Symbol">
            <a:extLst>
              <a:ext uri="{FF2B5EF4-FFF2-40B4-BE49-F238E27FC236}">
                <a16:creationId xmlns:a16="http://schemas.microsoft.com/office/drawing/2014/main" id="{CDF6DF85-7CAA-5AF4-C9D3-BF8FA271BD03}"/>
              </a:ext>
            </a:extLst>
          </p:cNvPr>
          <p:cNvSpPr>
            <a:spLocks noGrp="1"/>
          </p:cNvSpPr>
          <p:nvPr/>
        </p:nvSpPr>
        <p:spPr>
          <a:xfrm>
            <a:off x="3840253" y="3269631"/>
            <a:ext cx="6206859" cy="1066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300" b="0" u="sng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Símbolo Constante</a:t>
            </a:r>
          </a:p>
        </p:txBody>
      </p:sp>
      <p:sp>
        <p:nvSpPr>
          <p:cNvPr id="645" name="Predicate Symbol">
            <a:extLst>
              <a:ext uri="{FF2B5EF4-FFF2-40B4-BE49-F238E27FC236}">
                <a16:creationId xmlns:a16="http://schemas.microsoft.com/office/drawing/2014/main" id="{B2B8A37A-B849-155A-F807-F76695BB0A62}"/>
              </a:ext>
            </a:extLst>
          </p:cNvPr>
          <p:cNvSpPr>
            <a:spLocks noGrp="1"/>
          </p:cNvSpPr>
          <p:nvPr/>
        </p:nvSpPr>
        <p:spPr>
          <a:xfrm>
            <a:off x="13014574" y="3269631"/>
            <a:ext cx="6384616" cy="1066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300" b="0" u="sng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Símbolo de Predicado</a:t>
            </a:r>
          </a:p>
        </p:txBody>
      </p:sp>
      <p:sp>
        <p:nvSpPr>
          <p:cNvPr id="646" name="Person…">
            <a:extLst>
              <a:ext uri="{FF2B5EF4-FFF2-40B4-BE49-F238E27FC236}">
                <a16:creationId xmlns:a16="http://schemas.microsoft.com/office/drawing/2014/main" id="{B764C3AE-F1FE-0D54-C0D5-9321E51DA81C}"/>
              </a:ext>
            </a:extLst>
          </p:cNvPr>
          <p:cNvSpPr>
            <a:spLocks noGrp="1"/>
          </p:cNvSpPr>
          <p:nvPr/>
        </p:nvSpPr>
        <p:spPr>
          <a:xfrm>
            <a:off x="13085788" y="4964462"/>
            <a:ext cx="3835687" cy="311183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Person</a:t>
            </a:r>
          </a:p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House</a:t>
            </a:r>
          </a:p>
          <a:p>
            <a:pPr algn="l">
              <a:buNone/>
              <a:defRPr sz="7000" b="0" i="1">
                <a:latin typeface="Times New Roman"/>
                <a:ea typeface="Times New Roman"/>
                <a:cs typeface="Times New Roman"/>
              </a:defRPr>
            </a:pPr>
            <a:r>
              <a:t>BelongsTo</a:t>
            </a:r>
          </a:p>
        </p:txBody>
      </p:sp>
    </p:spTree>
    <p:extLst>
      <p:ext uri="{BB962C8B-B14F-4D97-AF65-F5344CB8AC3E}">
        <p14:creationId xmlns:p14="http://schemas.microsoft.com/office/powerpoint/2010/main" val="2277008631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First-Order Logic">
            <a:extLst>
              <a:ext uri="{FF2B5EF4-FFF2-40B4-BE49-F238E27FC236}">
                <a16:creationId xmlns:a16="http://schemas.microsoft.com/office/drawing/2014/main" id="{B6432026-9D6D-4F63-88D0-E779FEA7871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Lógica de Primeira Ordem</a:t>
            </a:r>
          </a:p>
        </p:txBody>
      </p:sp>
    </p:spTree>
    <p:extLst>
      <p:ext uri="{BB962C8B-B14F-4D97-AF65-F5344CB8AC3E}">
        <p14:creationId xmlns:p14="http://schemas.microsoft.com/office/powerpoint/2010/main" val="254482713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82293-7CA4-49FA-5CFB-9BBB2EE8B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First-Order Logic">
            <a:extLst>
              <a:ext uri="{FF2B5EF4-FFF2-40B4-BE49-F238E27FC236}">
                <a16:creationId xmlns:a16="http://schemas.microsoft.com/office/drawing/2014/main" id="{D51B311E-787B-1056-01D7-99108F2B533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Lógica de Primeira Ordem</a:t>
            </a:r>
          </a:p>
        </p:txBody>
      </p:sp>
      <p:sp>
        <p:nvSpPr>
          <p:cNvPr id="649" name="Person(Minerva)">
            <a:extLst>
              <a:ext uri="{FF2B5EF4-FFF2-40B4-BE49-F238E27FC236}">
                <a16:creationId xmlns:a16="http://schemas.microsoft.com/office/drawing/2014/main" id="{D6872C4E-06DD-5798-CC46-542B580E38DD}"/>
              </a:ext>
            </a:extLst>
          </p:cNvPr>
          <p:cNvSpPr>
            <a:spLocks noGrp="1"/>
          </p:cNvSpPr>
          <p:nvPr/>
        </p:nvSpPr>
        <p:spPr>
          <a:xfrm>
            <a:off x="1287819" y="3803465"/>
            <a:ext cx="7461053" cy="128818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Person</a:t>
            </a:r>
            <a:r>
              <a:t>(</a:t>
            </a:r>
            <a:r>
              <a:rPr i="1"/>
              <a:t>Minerva</a:t>
            </a:r>
            <a: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78937619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CD162-C44B-3F68-C622-9B69500AD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First-Order Logic">
            <a:extLst>
              <a:ext uri="{FF2B5EF4-FFF2-40B4-BE49-F238E27FC236}">
                <a16:creationId xmlns:a16="http://schemas.microsoft.com/office/drawing/2014/main" id="{9E9762F2-AB4C-C1C6-D7C1-A45E9CE3668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Lógica de Primeira Ordem</a:t>
            </a:r>
          </a:p>
        </p:txBody>
      </p:sp>
      <p:sp>
        <p:nvSpPr>
          <p:cNvPr id="649" name="Person(Minerva)">
            <a:extLst>
              <a:ext uri="{FF2B5EF4-FFF2-40B4-BE49-F238E27FC236}">
                <a16:creationId xmlns:a16="http://schemas.microsoft.com/office/drawing/2014/main" id="{F186870E-2708-4BEC-8F2B-70D953A141B1}"/>
              </a:ext>
            </a:extLst>
          </p:cNvPr>
          <p:cNvSpPr>
            <a:spLocks noGrp="1"/>
          </p:cNvSpPr>
          <p:nvPr/>
        </p:nvSpPr>
        <p:spPr>
          <a:xfrm>
            <a:off x="1287819" y="3803465"/>
            <a:ext cx="7461053" cy="128818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Person</a:t>
            </a:r>
            <a:r>
              <a:t>(</a:t>
            </a:r>
            <a:r>
              <a:rPr i="1"/>
              <a:t>Minerva</a:t>
            </a:r>
            <a:r>
              <a:t>)</a:t>
            </a:r>
          </a:p>
        </p:txBody>
      </p:sp>
      <p:sp>
        <p:nvSpPr>
          <p:cNvPr id="650" name="Minerva is a person.">
            <a:extLst>
              <a:ext uri="{FF2B5EF4-FFF2-40B4-BE49-F238E27FC236}">
                <a16:creationId xmlns:a16="http://schemas.microsoft.com/office/drawing/2014/main" id="{E4460F23-96C4-5AC7-2D9A-33580BA84AA5}"/>
              </a:ext>
            </a:extLst>
          </p:cNvPr>
          <p:cNvSpPr>
            <a:spLocks noGrp="1"/>
          </p:cNvSpPr>
          <p:nvPr/>
        </p:nvSpPr>
        <p:spPr>
          <a:xfrm>
            <a:off x="14983610" y="3901456"/>
            <a:ext cx="7547026" cy="1092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Minerva é uma pessoa.</a:t>
            </a:r>
          </a:p>
        </p:txBody>
      </p:sp>
    </p:spTree>
    <p:extLst>
      <p:ext uri="{BB962C8B-B14F-4D97-AF65-F5344CB8AC3E}">
        <p14:creationId xmlns:p14="http://schemas.microsoft.com/office/powerpoint/2010/main" val="2964863611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7A81B-3DE1-E3DD-0087-8BC6FA414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First-Order Logic">
            <a:extLst>
              <a:ext uri="{FF2B5EF4-FFF2-40B4-BE49-F238E27FC236}">
                <a16:creationId xmlns:a16="http://schemas.microsoft.com/office/drawing/2014/main" id="{76883EE6-C7C3-F416-E8E0-B03AF543BA0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Lógica de Primeira Ordem</a:t>
            </a:r>
          </a:p>
        </p:txBody>
      </p:sp>
      <p:sp>
        <p:nvSpPr>
          <p:cNvPr id="649" name="Person(Minerva)">
            <a:extLst>
              <a:ext uri="{FF2B5EF4-FFF2-40B4-BE49-F238E27FC236}">
                <a16:creationId xmlns:a16="http://schemas.microsoft.com/office/drawing/2014/main" id="{3C70B414-0751-02C9-F31A-C11F106C9FE1}"/>
              </a:ext>
            </a:extLst>
          </p:cNvPr>
          <p:cNvSpPr>
            <a:spLocks noGrp="1"/>
          </p:cNvSpPr>
          <p:nvPr/>
        </p:nvSpPr>
        <p:spPr>
          <a:xfrm>
            <a:off x="1287819" y="3803465"/>
            <a:ext cx="7461053" cy="128818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Person</a:t>
            </a:r>
            <a:r>
              <a:t>(</a:t>
            </a:r>
            <a:r>
              <a:rPr i="1"/>
              <a:t>Minerva</a:t>
            </a:r>
            <a:r>
              <a:t>)</a:t>
            </a:r>
          </a:p>
        </p:txBody>
      </p:sp>
      <p:sp>
        <p:nvSpPr>
          <p:cNvPr id="650" name="Minerva is a person.">
            <a:extLst>
              <a:ext uri="{FF2B5EF4-FFF2-40B4-BE49-F238E27FC236}">
                <a16:creationId xmlns:a16="http://schemas.microsoft.com/office/drawing/2014/main" id="{7DC0FB4B-B1BC-B557-A869-27FAB8C32DFD}"/>
              </a:ext>
            </a:extLst>
          </p:cNvPr>
          <p:cNvSpPr>
            <a:spLocks noGrp="1"/>
          </p:cNvSpPr>
          <p:nvPr/>
        </p:nvSpPr>
        <p:spPr>
          <a:xfrm>
            <a:off x="14983610" y="3901456"/>
            <a:ext cx="7547026" cy="1092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Minerva é uma pessoa.</a:t>
            </a:r>
          </a:p>
        </p:txBody>
      </p:sp>
      <p:sp>
        <p:nvSpPr>
          <p:cNvPr id="651" name="House(Gryffindor)">
            <a:extLst>
              <a:ext uri="{FF2B5EF4-FFF2-40B4-BE49-F238E27FC236}">
                <a16:creationId xmlns:a16="http://schemas.microsoft.com/office/drawing/2014/main" id="{14B11D36-ADE3-46DD-36A5-523E0AD3403A}"/>
              </a:ext>
            </a:extLst>
          </p:cNvPr>
          <p:cNvSpPr>
            <a:spLocks noGrp="1"/>
          </p:cNvSpPr>
          <p:nvPr/>
        </p:nvSpPr>
        <p:spPr>
          <a:xfrm>
            <a:off x="1287819" y="5652573"/>
            <a:ext cx="8114260" cy="128818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House</a:t>
            </a:r>
            <a:r>
              <a:t>(</a:t>
            </a:r>
            <a:r>
              <a:rPr i="1"/>
              <a:t>Gryffindor</a:t>
            </a:r>
            <a: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6976797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9546B-4E8D-CE62-82CD-40AAD2F63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First-Order Logic">
            <a:extLst>
              <a:ext uri="{FF2B5EF4-FFF2-40B4-BE49-F238E27FC236}">
                <a16:creationId xmlns:a16="http://schemas.microsoft.com/office/drawing/2014/main" id="{FCEA1C72-89BD-0886-FD9E-EB63D2CC0D6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Lógica de Primeira Ordem</a:t>
            </a:r>
          </a:p>
        </p:txBody>
      </p:sp>
      <p:sp>
        <p:nvSpPr>
          <p:cNvPr id="649" name="Person(Minerva)">
            <a:extLst>
              <a:ext uri="{FF2B5EF4-FFF2-40B4-BE49-F238E27FC236}">
                <a16:creationId xmlns:a16="http://schemas.microsoft.com/office/drawing/2014/main" id="{DDE22956-9226-F1AD-D4AC-0E8FD54797F4}"/>
              </a:ext>
            </a:extLst>
          </p:cNvPr>
          <p:cNvSpPr>
            <a:spLocks noGrp="1"/>
          </p:cNvSpPr>
          <p:nvPr/>
        </p:nvSpPr>
        <p:spPr>
          <a:xfrm>
            <a:off x="1287819" y="3803465"/>
            <a:ext cx="7461053" cy="128818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Person</a:t>
            </a:r>
            <a:r>
              <a:rPr dirty="0"/>
              <a:t>(</a:t>
            </a:r>
            <a:r>
              <a:rPr i="1" dirty="0"/>
              <a:t>Minerva</a:t>
            </a:r>
            <a:r>
              <a:rPr dirty="0"/>
              <a:t>)</a:t>
            </a:r>
          </a:p>
        </p:txBody>
      </p:sp>
      <p:sp>
        <p:nvSpPr>
          <p:cNvPr id="650" name="Minerva is a person.">
            <a:extLst>
              <a:ext uri="{FF2B5EF4-FFF2-40B4-BE49-F238E27FC236}">
                <a16:creationId xmlns:a16="http://schemas.microsoft.com/office/drawing/2014/main" id="{00FB8B1E-2689-8540-4B12-89B8F0374573}"/>
              </a:ext>
            </a:extLst>
          </p:cNvPr>
          <p:cNvSpPr>
            <a:spLocks noGrp="1"/>
          </p:cNvSpPr>
          <p:nvPr/>
        </p:nvSpPr>
        <p:spPr>
          <a:xfrm>
            <a:off x="14983610" y="3901456"/>
            <a:ext cx="7547026" cy="1092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Minerva é uma pessoa.</a:t>
            </a:r>
          </a:p>
        </p:txBody>
      </p:sp>
      <p:sp>
        <p:nvSpPr>
          <p:cNvPr id="651" name="House(Gryffindor)">
            <a:extLst>
              <a:ext uri="{FF2B5EF4-FFF2-40B4-BE49-F238E27FC236}">
                <a16:creationId xmlns:a16="http://schemas.microsoft.com/office/drawing/2014/main" id="{2F020118-AE80-D172-42C8-D64D3BE536B7}"/>
              </a:ext>
            </a:extLst>
          </p:cNvPr>
          <p:cNvSpPr>
            <a:spLocks noGrp="1"/>
          </p:cNvSpPr>
          <p:nvPr/>
        </p:nvSpPr>
        <p:spPr>
          <a:xfrm>
            <a:off x="1287819" y="5652573"/>
            <a:ext cx="8114260" cy="128818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House</a:t>
            </a:r>
            <a:r>
              <a:t>(</a:t>
            </a:r>
            <a:r>
              <a:rPr i="1"/>
              <a:t>Gryffindor</a:t>
            </a:r>
            <a:r>
              <a:t>)</a:t>
            </a:r>
          </a:p>
        </p:txBody>
      </p:sp>
      <p:sp>
        <p:nvSpPr>
          <p:cNvPr id="2" name="Gryffindor is a house.">
            <a:extLst>
              <a:ext uri="{FF2B5EF4-FFF2-40B4-BE49-F238E27FC236}">
                <a16:creationId xmlns:a16="http://schemas.microsoft.com/office/drawing/2014/main" id="{8848DF48-53DD-1FC8-BAA8-C98CE4C3E474}"/>
              </a:ext>
            </a:extLst>
          </p:cNvPr>
          <p:cNvSpPr>
            <a:spLocks noGrp="1"/>
          </p:cNvSpPr>
          <p:nvPr/>
        </p:nvSpPr>
        <p:spPr>
          <a:xfrm>
            <a:off x="15223992" y="5750564"/>
            <a:ext cx="7960179" cy="1092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Gryffindor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casa.</a:t>
            </a:r>
          </a:p>
        </p:txBody>
      </p:sp>
    </p:spTree>
    <p:extLst>
      <p:ext uri="{BB962C8B-B14F-4D97-AF65-F5344CB8AC3E}">
        <p14:creationId xmlns:p14="http://schemas.microsoft.com/office/powerpoint/2010/main" val="2074736319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C3AAB-863B-658E-61D8-F28CB287E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First-Order Logic">
            <a:extLst>
              <a:ext uri="{FF2B5EF4-FFF2-40B4-BE49-F238E27FC236}">
                <a16:creationId xmlns:a16="http://schemas.microsoft.com/office/drawing/2014/main" id="{255A95A0-2789-F587-83F3-069E60E1F5D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Lógica de Primeira Ordem</a:t>
            </a:r>
          </a:p>
        </p:txBody>
      </p:sp>
      <p:sp>
        <p:nvSpPr>
          <p:cNvPr id="649" name="Person(Minerva)">
            <a:extLst>
              <a:ext uri="{FF2B5EF4-FFF2-40B4-BE49-F238E27FC236}">
                <a16:creationId xmlns:a16="http://schemas.microsoft.com/office/drawing/2014/main" id="{3B41A229-AC2B-ADC3-7452-E33B4C7B4EF2}"/>
              </a:ext>
            </a:extLst>
          </p:cNvPr>
          <p:cNvSpPr>
            <a:spLocks noGrp="1"/>
          </p:cNvSpPr>
          <p:nvPr/>
        </p:nvSpPr>
        <p:spPr>
          <a:xfrm>
            <a:off x="1287819" y="3803465"/>
            <a:ext cx="7461053" cy="128818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Person</a:t>
            </a:r>
            <a:r>
              <a:rPr dirty="0"/>
              <a:t>(</a:t>
            </a:r>
            <a:r>
              <a:rPr i="1" dirty="0"/>
              <a:t>Minerva</a:t>
            </a:r>
            <a:r>
              <a:rPr dirty="0"/>
              <a:t>)</a:t>
            </a:r>
          </a:p>
        </p:txBody>
      </p:sp>
      <p:sp>
        <p:nvSpPr>
          <p:cNvPr id="650" name="Minerva is a person.">
            <a:extLst>
              <a:ext uri="{FF2B5EF4-FFF2-40B4-BE49-F238E27FC236}">
                <a16:creationId xmlns:a16="http://schemas.microsoft.com/office/drawing/2014/main" id="{1ED4C6E6-A527-0C66-FB25-A952CE131F42}"/>
              </a:ext>
            </a:extLst>
          </p:cNvPr>
          <p:cNvSpPr>
            <a:spLocks noGrp="1"/>
          </p:cNvSpPr>
          <p:nvPr/>
        </p:nvSpPr>
        <p:spPr>
          <a:xfrm>
            <a:off x="14983610" y="3901456"/>
            <a:ext cx="7547026" cy="1092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Minerva é uma pessoa.</a:t>
            </a:r>
          </a:p>
        </p:txBody>
      </p:sp>
      <p:sp>
        <p:nvSpPr>
          <p:cNvPr id="651" name="House(Gryffindor)">
            <a:extLst>
              <a:ext uri="{FF2B5EF4-FFF2-40B4-BE49-F238E27FC236}">
                <a16:creationId xmlns:a16="http://schemas.microsoft.com/office/drawing/2014/main" id="{255F8A37-0B59-B153-DFEA-C913F0309205}"/>
              </a:ext>
            </a:extLst>
          </p:cNvPr>
          <p:cNvSpPr>
            <a:spLocks noGrp="1"/>
          </p:cNvSpPr>
          <p:nvPr/>
        </p:nvSpPr>
        <p:spPr>
          <a:xfrm>
            <a:off x="1287819" y="5652573"/>
            <a:ext cx="8114260" cy="128818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House</a:t>
            </a:r>
            <a:r>
              <a:t>(</a:t>
            </a:r>
            <a:r>
              <a:rPr i="1"/>
              <a:t>Gryffindor</a:t>
            </a:r>
            <a:r>
              <a:t>)</a:t>
            </a:r>
          </a:p>
        </p:txBody>
      </p:sp>
      <p:sp>
        <p:nvSpPr>
          <p:cNvPr id="652" name="Gryffindor is a house.">
            <a:extLst>
              <a:ext uri="{FF2B5EF4-FFF2-40B4-BE49-F238E27FC236}">
                <a16:creationId xmlns:a16="http://schemas.microsoft.com/office/drawing/2014/main" id="{80FDD69B-C324-9EFD-3E7B-E522891C94CA}"/>
              </a:ext>
            </a:extLst>
          </p:cNvPr>
          <p:cNvSpPr>
            <a:spLocks noGrp="1"/>
          </p:cNvSpPr>
          <p:nvPr/>
        </p:nvSpPr>
        <p:spPr>
          <a:xfrm>
            <a:off x="15223992" y="5750564"/>
            <a:ext cx="7960179" cy="1092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Gryffindor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casa.</a:t>
            </a:r>
          </a:p>
        </p:txBody>
      </p:sp>
      <p:sp>
        <p:nvSpPr>
          <p:cNvPr id="653" name="¬House(Minerva)">
            <a:extLst>
              <a:ext uri="{FF2B5EF4-FFF2-40B4-BE49-F238E27FC236}">
                <a16:creationId xmlns:a16="http://schemas.microsoft.com/office/drawing/2014/main" id="{E7F17B65-768C-3DCD-89C8-7E46BB63DFCE}"/>
              </a:ext>
            </a:extLst>
          </p:cNvPr>
          <p:cNvSpPr>
            <a:spLocks noGrp="1"/>
          </p:cNvSpPr>
          <p:nvPr/>
        </p:nvSpPr>
        <p:spPr>
          <a:xfrm>
            <a:off x="1287819" y="7501680"/>
            <a:ext cx="7766299" cy="128818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t>¬</a:t>
            </a:r>
            <a:r>
              <a:rPr i="1"/>
              <a:t>House</a:t>
            </a:r>
            <a:r>
              <a:t>(</a:t>
            </a:r>
            <a:r>
              <a:rPr i="1"/>
              <a:t>Minerva</a:t>
            </a:r>
            <a: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26184846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1608C-547C-46AB-4393-DD85E1E1C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First-Order Logic">
            <a:extLst>
              <a:ext uri="{FF2B5EF4-FFF2-40B4-BE49-F238E27FC236}">
                <a16:creationId xmlns:a16="http://schemas.microsoft.com/office/drawing/2014/main" id="{AA97E547-8275-4A63-FDFE-912AD4E9486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Lógica de Primeira Ordem</a:t>
            </a:r>
          </a:p>
        </p:txBody>
      </p:sp>
      <p:sp>
        <p:nvSpPr>
          <p:cNvPr id="649" name="Person(Minerva)">
            <a:extLst>
              <a:ext uri="{FF2B5EF4-FFF2-40B4-BE49-F238E27FC236}">
                <a16:creationId xmlns:a16="http://schemas.microsoft.com/office/drawing/2014/main" id="{D71736AC-A6ED-9806-FA45-4CE28C70778B}"/>
              </a:ext>
            </a:extLst>
          </p:cNvPr>
          <p:cNvSpPr>
            <a:spLocks noGrp="1"/>
          </p:cNvSpPr>
          <p:nvPr/>
        </p:nvSpPr>
        <p:spPr>
          <a:xfrm>
            <a:off x="1287819" y="3803465"/>
            <a:ext cx="7461053" cy="128818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Person</a:t>
            </a:r>
            <a:r>
              <a:rPr dirty="0"/>
              <a:t>(</a:t>
            </a:r>
            <a:r>
              <a:rPr i="1" dirty="0"/>
              <a:t>Minerva</a:t>
            </a:r>
            <a:r>
              <a:rPr dirty="0"/>
              <a:t>)</a:t>
            </a:r>
          </a:p>
        </p:txBody>
      </p:sp>
      <p:sp>
        <p:nvSpPr>
          <p:cNvPr id="650" name="Minerva is a person.">
            <a:extLst>
              <a:ext uri="{FF2B5EF4-FFF2-40B4-BE49-F238E27FC236}">
                <a16:creationId xmlns:a16="http://schemas.microsoft.com/office/drawing/2014/main" id="{6AA0077C-7A7E-B526-FA1D-FC1B100CC4F0}"/>
              </a:ext>
            </a:extLst>
          </p:cNvPr>
          <p:cNvSpPr>
            <a:spLocks noGrp="1"/>
          </p:cNvSpPr>
          <p:nvPr/>
        </p:nvSpPr>
        <p:spPr>
          <a:xfrm>
            <a:off x="14983610" y="3901456"/>
            <a:ext cx="7547026" cy="1092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Minerva é uma pessoa.</a:t>
            </a:r>
          </a:p>
        </p:txBody>
      </p:sp>
      <p:sp>
        <p:nvSpPr>
          <p:cNvPr id="651" name="House(Gryffindor)">
            <a:extLst>
              <a:ext uri="{FF2B5EF4-FFF2-40B4-BE49-F238E27FC236}">
                <a16:creationId xmlns:a16="http://schemas.microsoft.com/office/drawing/2014/main" id="{D22C6591-E730-667A-1739-ADABE634D1A5}"/>
              </a:ext>
            </a:extLst>
          </p:cNvPr>
          <p:cNvSpPr>
            <a:spLocks noGrp="1"/>
          </p:cNvSpPr>
          <p:nvPr/>
        </p:nvSpPr>
        <p:spPr>
          <a:xfrm>
            <a:off x="1287819" y="5652573"/>
            <a:ext cx="8114260" cy="128818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House</a:t>
            </a:r>
            <a:r>
              <a:t>(</a:t>
            </a:r>
            <a:r>
              <a:rPr i="1"/>
              <a:t>Gryffindor</a:t>
            </a:r>
            <a:r>
              <a:t>)</a:t>
            </a:r>
          </a:p>
        </p:txBody>
      </p:sp>
      <p:sp>
        <p:nvSpPr>
          <p:cNvPr id="652" name="Gryffindor is a house.">
            <a:extLst>
              <a:ext uri="{FF2B5EF4-FFF2-40B4-BE49-F238E27FC236}">
                <a16:creationId xmlns:a16="http://schemas.microsoft.com/office/drawing/2014/main" id="{7B3BB8E7-A6AF-8107-5DFB-ACB18C603B1D}"/>
              </a:ext>
            </a:extLst>
          </p:cNvPr>
          <p:cNvSpPr>
            <a:spLocks noGrp="1"/>
          </p:cNvSpPr>
          <p:nvPr/>
        </p:nvSpPr>
        <p:spPr>
          <a:xfrm>
            <a:off x="15223992" y="5750564"/>
            <a:ext cx="7960179" cy="1092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Gryffindor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casa.</a:t>
            </a:r>
          </a:p>
        </p:txBody>
      </p:sp>
      <p:sp>
        <p:nvSpPr>
          <p:cNvPr id="653" name="¬House(Minerva)">
            <a:extLst>
              <a:ext uri="{FF2B5EF4-FFF2-40B4-BE49-F238E27FC236}">
                <a16:creationId xmlns:a16="http://schemas.microsoft.com/office/drawing/2014/main" id="{75177AFB-C4B0-E585-A2AC-E11B61795975}"/>
              </a:ext>
            </a:extLst>
          </p:cNvPr>
          <p:cNvSpPr>
            <a:spLocks noGrp="1"/>
          </p:cNvSpPr>
          <p:nvPr/>
        </p:nvSpPr>
        <p:spPr>
          <a:xfrm>
            <a:off x="1287819" y="7501680"/>
            <a:ext cx="7766299" cy="128818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t>¬</a:t>
            </a:r>
            <a:r>
              <a:rPr i="1"/>
              <a:t>House</a:t>
            </a:r>
            <a:r>
              <a:t>(</a:t>
            </a:r>
            <a:r>
              <a:rPr i="1"/>
              <a:t>Minerva</a:t>
            </a:r>
            <a:r>
              <a:t>)</a:t>
            </a:r>
          </a:p>
        </p:txBody>
      </p:sp>
      <p:sp>
        <p:nvSpPr>
          <p:cNvPr id="654" name="Minerva is not a house.">
            <a:extLst>
              <a:ext uri="{FF2B5EF4-FFF2-40B4-BE49-F238E27FC236}">
                <a16:creationId xmlns:a16="http://schemas.microsoft.com/office/drawing/2014/main" id="{FF8F20E8-F6C6-7697-40A7-4F0DB147820B}"/>
              </a:ext>
            </a:extLst>
          </p:cNvPr>
          <p:cNvSpPr>
            <a:spLocks noGrp="1"/>
          </p:cNvSpPr>
          <p:nvPr/>
        </p:nvSpPr>
        <p:spPr>
          <a:xfrm>
            <a:off x="14242937" y="7599670"/>
            <a:ext cx="8649035" cy="1092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Minerva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casa.</a:t>
            </a:r>
          </a:p>
        </p:txBody>
      </p:sp>
    </p:spTree>
    <p:extLst>
      <p:ext uri="{BB962C8B-B14F-4D97-AF65-F5344CB8AC3E}">
        <p14:creationId xmlns:p14="http://schemas.microsoft.com/office/powerpoint/2010/main" val="3759243577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2FBEC-D5A8-D5BC-7705-85E2A2163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First-Order Logic">
            <a:extLst>
              <a:ext uri="{FF2B5EF4-FFF2-40B4-BE49-F238E27FC236}">
                <a16:creationId xmlns:a16="http://schemas.microsoft.com/office/drawing/2014/main" id="{90AE808D-E247-B065-7B5F-EF5555D1A5D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Lógica de Primeira Ordem</a:t>
            </a:r>
          </a:p>
        </p:txBody>
      </p:sp>
      <p:sp>
        <p:nvSpPr>
          <p:cNvPr id="649" name="Person(Minerva)">
            <a:extLst>
              <a:ext uri="{FF2B5EF4-FFF2-40B4-BE49-F238E27FC236}">
                <a16:creationId xmlns:a16="http://schemas.microsoft.com/office/drawing/2014/main" id="{ECF35201-ED1F-88D0-4495-D0A31E49AF8B}"/>
              </a:ext>
            </a:extLst>
          </p:cNvPr>
          <p:cNvSpPr>
            <a:spLocks noGrp="1"/>
          </p:cNvSpPr>
          <p:nvPr/>
        </p:nvSpPr>
        <p:spPr>
          <a:xfrm>
            <a:off x="1287819" y="3803465"/>
            <a:ext cx="7461053" cy="128818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Person</a:t>
            </a:r>
            <a:r>
              <a:rPr dirty="0"/>
              <a:t>(</a:t>
            </a:r>
            <a:r>
              <a:rPr i="1" dirty="0"/>
              <a:t>Minerva</a:t>
            </a:r>
            <a:r>
              <a:rPr dirty="0"/>
              <a:t>)</a:t>
            </a:r>
          </a:p>
        </p:txBody>
      </p:sp>
      <p:sp>
        <p:nvSpPr>
          <p:cNvPr id="650" name="Minerva is a person.">
            <a:extLst>
              <a:ext uri="{FF2B5EF4-FFF2-40B4-BE49-F238E27FC236}">
                <a16:creationId xmlns:a16="http://schemas.microsoft.com/office/drawing/2014/main" id="{BF8D5D72-E547-FBA9-AC7A-6D1E15F83726}"/>
              </a:ext>
            </a:extLst>
          </p:cNvPr>
          <p:cNvSpPr>
            <a:spLocks noGrp="1"/>
          </p:cNvSpPr>
          <p:nvPr/>
        </p:nvSpPr>
        <p:spPr>
          <a:xfrm>
            <a:off x="14983610" y="3901456"/>
            <a:ext cx="7547026" cy="1092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Minerva é uma pessoa.</a:t>
            </a:r>
          </a:p>
        </p:txBody>
      </p:sp>
      <p:sp>
        <p:nvSpPr>
          <p:cNvPr id="651" name="House(Gryffindor)">
            <a:extLst>
              <a:ext uri="{FF2B5EF4-FFF2-40B4-BE49-F238E27FC236}">
                <a16:creationId xmlns:a16="http://schemas.microsoft.com/office/drawing/2014/main" id="{F9A04C5F-EACF-08F3-3B34-AD491BA412C7}"/>
              </a:ext>
            </a:extLst>
          </p:cNvPr>
          <p:cNvSpPr>
            <a:spLocks noGrp="1"/>
          </p:cNvSpPr>
          <p:nvPr/>
        </p:nvSpPr>
        <p:spPr>
          <a:xfrm>
            <a:off x="1287819" y="5652573"/>
            <a:ext cx="8114260" cy="128818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House</a:t>
            </a:r>
            <a:r>
              <a:t>(</a:t>
            </a:r>
            <a:r>
              <a:rPr i="1"/>
              <a:t>Gryffindor</a:t>
            </a:r>
            <a:r>
              <a:t>)</a:t>
            </a:r>
          </a:p>
        </p:txBody>
      </p:sp>
      <p:sp>
        <p:nvSpPr>
          <p:cNvPr id="652" name="Gryffindor is a house.">
            <a:extLst>
              <a:ext uri="{FF2B5EF4-FFF2-40B4-BE49-F238E27FC236}">
                <a16:creationId xmlns:a16="http://schemas.microsoft.com/office/drawing/2014/main" id="{BBBD3E39-C9E0-1BC5-4B87-72104801D606}"/>
              </a:ext>
            </a:extLst>
          </p:cNvPr>
          <p:cNvSpPr>
            <a:spLocks noGrp="1"/>
          </p:cNvSpPr>
          <p:nvPr/>
        </p:nvSpPr>
        <p:spPr>
          <a:xfrm>
            <a:off x="15223992" y="5750564"/>
            <a:ext cx="7960179" cy="1092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Gryffindor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casa.</a:t>
            </a:r>
          </a:p>
        </p:txBody>
      </p:sp>
      <p:sp>
        <p:nvSpPr>
          <p:cNvPr id="653" name="¬House(Minerva)">
            <a:extLst>
              <a:ext uri="{FF2B5EF4-FFF2-40B4-BE49-F238E27FC236}">
                <a16:creationId xmlns:a16="http://schemas.microsoft.com/office/drawing/2014/main" id="{2606CC98-284F-E1F4-F4F5-B5AD587D63C2}"/>
              </a:ext>
            </a:extLst>
          </p:cNvPr>
          <p:cNvSpPr>
            <a:spLocks noGrp="1"/>
          </p:cNvSpPr>
          <p:nvPr/>
        </p:nvSpPr>
        <p:spPr>
          <a:xfrm>
            <a:off x="1287819" y="7501680"/>
            <a:ext cx="7766299" cy="128818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t>¬</a:t>
            </a:r>
            <a:r>
              <a:rPr i="1"/>
              <a:t>House</a:t>
            </a:r>
            <a:r>
              <a:t>(</a:t>
            </a:r>
            <a:r>
              <a:rPr i="1"/>
              <a:t>Minerva</a:t>
            </a:r>
            <a:r>
              <a:t>)</a:t>
            </a:r>
          </a:p>
        </p:txBody>
      </p:sp>
      <p:sp>
        <p:nvSpPr>
          <p:cNvPr id="654" name="Minerva is not a house.">
            <a:extLst>
              <a:ext uri="{FF2B5EF4-FFF2-40B4-BE49-F238E27FC236}">
                <a16:creationId xmlns:a16="http://schemas.microsoft.com/office/drawing/2014/main" id="{32C1ACF5-EE82-004C-E608-B5444F05421B}"/>
              </a:ext>
            </a:extLst>
          </p:cNvPr>
          <p:cNvSpPr>
            <a:spLocks noGrp="1"/>
          </p:cNvSpPr>
          <p:nvPr/>
        </p:nvSpPr>
        <p:spPr>
          <a:xfrm>
            <a:off x="14242937" y="7599670"/>
            <a:ext cx="8649035" cy="1092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Minerva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casa.</a:t>
            </a:r>
          </a:p>
        </p:txBody>
      </p:sp>
      <p:sp>
        <p:nvSpPr>
          <p:cNvPr id="655" name="BelongsTo(Minerva, Gryffindor)">
            <a:extLst>
              <a:ext uri="{FF2B5EF4-FFF2-40B4-BE49-F238E27FC236}">
                <a16:creationId xmlns:a16="http://schemas.microsoft.com/office/drawing/2014/main" id="{EEE84575-D658-302C-EC54-730ACDF8793C}"/>
              </a:ext>
            </a:extLst>
          </p:cNvPr>
          <p:cNvSpPr>
            <a:spLocks noGrp="1"/>
          </p:cNvSpPr>
          <p:nvPr/>
        </p:nvSpPr>
        <p:spPr>
          <a:xfrm>
            <a:off x="1287819" y="9350788"/>
            <a:ext cx="14001454" cy="128818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BelongsTo</a:t>
            </a:r>
            <a:r>
              <a:t>(</a:t>
            </a:r>
            <a:r>
              <a:rPr i="1"/>
              <a:t>Minerva</a:t>
            </a:r>
            <a:r>
              <a:t>, </a:t>
            </a:r>
            <a:r>
              <a:rPr i="1"/>
              <a:t>Gryffindor</a:t>
            </a:r>
            <a: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43653145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BA7FB-C2C7-92C0-C35B-D6F5FF995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First-Order Logic">
            <a:extLst>
              <a:ext uri="{FF2B5EF4-FFF2-40B4-BE49-F238E27FC236}">
                <a16:creationId xmlns:a16="http://schemas.microsoft.com/office/drawing/2014/main" id="{3440CB54-33D8-C463-6D6E-C8528D60B3C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Lógica de Primeira Ordem</a:t>
            </a:r>
          </a:p>
        </p:txBody>
      </p:sp>
      <p:sp>
        <p:nvSpPr>
          <p:cNvPr id="649" name="Person(Minerva)">
            <a:extLst>
              <a:ext uri="{FF2B5EF4-FFF2-40B4-BE49-F238E27FC236}">
                <a16:creationId xmlns:a16="http://schemas.microsoft.com/office/drawing/2014/main" id="{FFE19AA4-D37C-FF25-8216-6E9BE8D08C83}"/>
              </a:ext>
            </a:extLst>
          </p:cNvPr>
          <p:cNvSpPr>
            <a:spLocks noGrp="1"/>
          </p:cNvSpPr>
          <p:nvPr/>
        </p:nvSpPr>
        <p:spPr>
          <a:xfrm>
            <a:off x="1287819" y="3803465"/>
            <a:ext cx="7461053" cy="128818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Person</a:t>
            </a:r>
            <a:r>
              <a:rPr dirty="0"/>
              <a:t>(</a:t>
            </a:r>
            <a:r>
              <a:rPr i="1" dirty="0"/>
              <a:t>Minerva</a:t>
            </a:r>
            <a:r>
              <a:rPr dirty="0"/>
              <a:t>)</a:t>
            </a:r>
          </a:p>
        </p:txBody>
      </p:sp>
      <p:sp>
        <p:nvSpPr>
          <p:cNvPr id="650" name="Minerva is a person.">
            <a:extLst>
              <a:ext uri="{FF2B5EF4-FFF2-40B4-BE49-F238E27FC236}">
                <a16:creationId xmlns:a16="http://schemas.microsoft.com/office/drawing/2014/main" id="{EDA67996-1540-64F6-5D20-2F90236E277A}"/>
              </a:ext>
            </a:extLst>
          </p:cNvPr>
          <p:cNvSpPr>
            <a:spLocks noGrp="1"/>
          </p:cNvSpPr>
          <p:nvPr/>
        </p:nvSpPr>
        <p:spPr>
          <a:xfrm>
            <a:off x="14983610" y="3901456"/>
            <a:ext cx="7547026" cy="1092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Minerva é uma pessoa.</a:t>
            </a:r>
          </a:p>
        </p:txBody>
      </p:sp>
      <p:sp>
        <p:nvSpPr>
          <p:cNvPr id="651" name="House(Gryffindor)">
            <a:extLst>
              <a:ext uri="{FF2B5EF4-FFF2-40B4-BE49-F238E27FC236}">
                <a16:creationId xmlns:a16="http://schemas.microsoft.com/office/drawing/2014/main" id="{5985DFB7-3E99-8859-E33E-542F983035D7}"/>
              </a:ext>
            </a:extLst>
          </p:cNvPr>
          <p:cNvSpPr>
            <a:spLocks noGrp="1"/>
          </p:cNvSpPr>
          <p:nvPr/>
        </p:nvSpPr>
        <p:spPr>
          <a:xfrm>
            <a:off x="1287819" y="5652573"/>
            <a:ext cx="8114260" cy="128818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House</a:t>
            </a:r>
            <a:r>
              <a:t>(</a:t>
            </a:r>
            <a:r>
              <a:rPr i="1"/>
              <a:t>Gryffindor</a:t>
            </a:r>
            <a:r>
              <a:t>)</a:t>
            </a:r>
          </a:p>
        </p:txBody>
      </p:sp>
      <p:sp>
        <p:nvSpPr>
          <p:cNvPr id="652" name="Gryffindor is a house.">
            <a:extLst>
              <a:ext uri="{FF2B5EF4-FFF2-40B4-BE49-F238E27FC236}">
                <a16:creationId xmlns:a16="http://schemas.microsoft.com/office/drawing/2014/main" id="{0F75A233-F067-603E-AFAD-6AFD24D2D23C}"/>
              </a:ext>
            </a:extLst>
          </p:cNvPr>
          <p:cNvSpPr>
            <a:spLocks noGrp="1"/>
          </p:cNvSpPr>
          <p:nvPr/>
        </p:nvSpPr>
        <p:spPr>
          <a:xfrm>
            <a:off x="15223992" y="5750564"/>
            <a:ext cx="7960179" cy="1092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Gryffindor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casa.</a:t>
            </a:r>
          </a:p>
        </p:txBody>
      </p:sp>
      <p:sp>
        <p:nvSpPr>
          <p:cNvPr id="653" name="¬House(Minerva)">
            <a:extLst>
              <a:ext uri="{FF2B5EF4-FFF2-40B4-BE49-F238E27FC236}">
                <a16:creationId xmlns:a16="http://schemas.microsoft.com/office/drawing/2014/main" id="{B6DB2AE7-055F-F4E9-5E65-86351F1E6574}"/>
              </a:ext>
            </a:extLst>
          </p:cNvPr>
          <p:cNvSpPr>
            <a:spLocks noGrp="1"/>
          </p:cNvSpPr>
          <p:nvPr/>
        </p:nvSpPr>
        <p:spPr>
          <a:xfrm>
            <a:off x="1287819" y="7501680"/>
            <a:ext cx="7766299" cy="128818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t>¬</a:t>
            </a:r>
            <a:r>
              <a:rPr i="1"/>
              <a:t>House</a:t>
            </a:r>
            <a:r>
              <a:t>(</a:t>
            </a:r>
            <a:r>
              <a:rPr i="1"/>
              <a:t>Minerva</a:t>
            </a:r>
            <a:r>
              <a:t>)</a:t>
            </a:r>
          </a:p>
        </p:txBody>
      </p:sp>
      <p:sp>
        <p:nvSpPr>
          <p:cNvPr id="654" name="Minerva is not a house.">
            <a:extLst>
              <a:ext uri="{FF2B5EF4-FFF2-40B4-BE49-F238E27FC236}">
                <a16:creationId xmlns:a16="http://schemas.microsoft.com/office/drawing/2014/main" id="{1E3E6E02-7904-4FF1-1EC3-4C2CE40759C5}"/>
              </a:ext>
            </a:extLst>
          </p:cNvPr>
          <p:cNvSpPr>
            <a:spLocks noGrp="1"/>
          </p:cNvSpPr>
          <p:nvPr/>
        </p:nvSpPr>
        <p:spPr>
          <a:xfrm>
            <a:off x="14242937" y="7599670"/>
            <a:ext cx="8649035" cy="1092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Minerva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casa.</a:t>
            </a:r>
          </a:p>
        </p:txBody>
      </p:sp>
      <p:sp>
        <p:nvSpPr>
          <p:cNvPr id="655" name="BelongsTo(Minerva, Gryffindor)">
            <a:extLst>
              <a:ext uri="{FF2B5EF4-FFF2-40B4-BE49-F238E27FC236}">
                <a16:creationId xmlns:a16="http://schemas.microsoft.com/office/drawing/2014/main" id="{FBDA6A61-F9E8-5B49-B25C-09EF3B1A67C5}"/>
              </a:ext>
            </a:extLst>
          </p:cNvPr>
          <p:cNvSpPr>
            <a:spLocks noGrp="1"/>
          </p:cNvSpPr>
          <p:nvPr/>
        </p:nvSpPr>
        <p:spPr>
          <a:xfrm>
            <a:off x="1287819" y="9350788"/>
            <a:ext cx="14001454" cy="128818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BelongsTo</a:t>
            </a:r>
            <a:r>
              <a:t>(</a:t>
            </a:r>
            <a:r>
              <a:rPr i="1"/>
              <a:t>Minerva</a:t>
            </a:r>
            <a:r>
              <a:t>, </a:t>
            </a:r>
            <a:r>
              <a:rPr i="1"/>
              <a:t>Gryffindor</a:t>
            </a:r>
            <a:r>
              <a:t>)</a:t>
            </a:r>
          </a:p>
        </p:txBody>
      </p:sp>
      <p:sp>
        <p:nvSpPr>
          <p:cNvPr id="656" name="Minerva belongs to Gryffindor.">
            <a:extLst>
              <a:ext uri="{FF2B5EF4-FFF2-40B4-BE49-F238E27FC236}">
                <a16:creationId xmlns:a16="http://schemas.microsoft.com/office/drawing/2014/main" id="{43B0926E-AD63-8D60-4479-B5B443C641DC}"/>
              </a:ext>
            </a:extLst>
          </p:cNvPr>
          <p:cNvSpPr>
            <a:spLocks noGrp="1"/>
          </p:cNvSpPr>
          <p:nvPr/>
        </p:nvSpPr>
        <p:spPr>
          <a:xfrm>
            <a:off x="16958395" y="9288806"/>
            <a:ext cx="6769482" cy="2103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Minerva </a:t>
            </a:r>
            <a:r>
              <a:rPr dirty="0" err="1"/>
              <a:t>pertence</a:t>
            </a:r>
            <a:r>
              <a:rPr dirty="0"/>
              <a:t> </a:t>
            </a:r>
            <a:endParaRPr lang="pt-BR" dirty="0"/>
          </a:p>
          <a:p>
            <a:pPr algn="ctr">
              <a:buNone/>
            </a:pPr>
            <a:r>
              <a:rPr dirty="0"/>
              <a:t>à Gryffindor.</a:t>
            </a:r>
          </a:p>
        </p:txBody>
      </p:sp>
    </p:spTree>
    <p:extLst>
      <p:ext uri="{BB962C8B-B14F-4D97-AF65-F5344CB8AC3E}">
        <p14:creationId xmlns:p14="http://schemas.microsoft.com/office/powerpoint/2010/main" val="1003826909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Universal Quantification">
            <a:extLst>
              <a:ext uri="{FF2B5EF4-FFF2-40B4-BE49-F238E27FC236}">
                <a16:creationId xmlns:a16="http://schemas.microsoft.com/office/drawing/2014/main" id="{6F8AD2D3-7565-4660-9D42-0238E3ED318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Quantificação Universal</a:t>
            </a:r>
          </a:p>
        </p:txBody>
      </p:sp>
    </p:spTree>
    <p:extLst>
      <p:ext uri="{BB962C8B-B14F-4D97-AF65-F5344CB8AC3E}">
        <p14:creationId xmlns:p14="http://schemas.microsoft.com/office/powerpoint/2010/main" val="693377508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Universal Quantification">
            <a:extLst>
              <a:ext uri="{FF2B5EF4-FFF2-40B4-BE49-F238E27FC236}">
                <a16:creationId xmlns:a16="http://schemas.microsoft.com/office/drawing/2014/main" id="{3B4638AA-2028-48CA-8A6E-2D365BBD177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Quantificação Universal</a:t>
            </a:r>
          </a:p>
        </p:txBody>
      </p:sp>
    </p:spTree>
    <p:extLst>
      <p:ext uri="{BB962C8B-B14F-4D97-AF65-F5344CB8AC3E}">
        <p14:creationId xmlns:p14="http://schemas.microsoft.com/office/powerpoint/2010/main" val="892995366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D8C59-BAE9-B24C-E57B-794C5721F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Universal Quantification">
            <a:extLst>
              <a:ext uri="{FF2B5EF4-FFF2-40B4-BE49-F238E27FC236}">
                <a16:creationId xmlns:a16="http://schemas.microsoft.com/office/drawing/2014/main" id="{E225686A-B4C3-11A4-91CC-8EB19AEBDC4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Quantificação Universal</a:t>
            </a:r>
          </a:p>
        </p:txBody>
      </p:sp>
      <p:sp>
        <p:nvSpPr>
          <p:cNvPr id="661" name="∀x. BelongsTo(x, Gryffindor) →…">
            <a:extLst>
              <a:ext uri="{FF2B5EF4-FFF2-40B4-BE49-F238E27FC236}">
                <a16:creationId xmlns:a16="http://schemas.microsoft.com/office/drawing/2014/main" id="{40B12800-356E-3F5D-1DD3-FF81C4A3B6DD}"/>
              </a:ext>
            </a:extLst>
          </p:cNvPr>
          <p:cNvSpPr>
            <a:spLocks noGrp="1"/>
          </p:cNvSpPr>
          <p:nvPr/>
        </p:nvSpPr>
        <p:spPr>
          <a:xfrm>
            <a:off x="1452918" y="5033269"/>
            <a:ext cx="13873834" cy="259978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t>∀</a:t>
            </a:r>
            <a:r>
              <a:rPr i="1"/>
              <a:t>x</a:t>
            </a:r>
            <a:r>
              <a:t>. </a:t>
            </a:r>
            <a:r>
              <a:rPr i="1"/>
              <a:t>BelongsTo</a:t>
            </a:r>
            <a:r>
              <a:t>(</a:t>
            </a:r>
            <a:r>
              <a:rPr i="1"/>
              <a:t>x, Gryffindor</a:t>
            </a:r>
            <a:r>
              <a:t>) →</a:t>
            </a:r>
          </a:p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t>       ¬</a:t>
            </a:r>
            <a:r>
              <a:rPr i="1"/>
              <a:t>BelongsTo</a:t>
            </a:r>
            <a:r>
              <a:t>(</a:t>
            </a:r>
            <a:r>
              <a:rPr i="1"/>
              <a:t>x</a:t>
            </a:r>
            <a:r>
              <a:t>, </a:t>
            </a:r>
            <a:r>
              <a:rPr i="1"/>
              <a:t>Hufflepuff</a:t>
            </a:r>
            <a: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5609311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0B1D6-B4D5-50C6-D50C-F81124CA8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Universal Quantification">
            <a:extLst>
              <a:ext uri="{FF2B5EF4-FFF2-40B4-BE49-F238E27FC236}">
                <a16:creationId xmlns:a16="http://schemas.microsoft.com/office/drawing/2014/main" id="{D61B025A-F507-2139-9463-F0BC403BE4A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Quantificação Universal</a:t>
            </a:r>
          </a:p>
        </p:txBody>
      </p:sp>
      <p:sp>
        <p:nvSpPr>
          <p:cNvPr id="661" name="∀x. BelongsTo(x, Gryffindor) →…">
            <a:extLst>
              <a:ext uri="{FF2B5EF4-FFF2-40B4-BE49-F238E27FC236}">
                <a16:creationId xmlns:a16="http://schemas.microsoft.com/office/drawing/2014/main" id="{27C74285-2179-AEBD-0777-F504F44B7BF4}"/>
              </a:ext>
            </a:extLst>
          </p:cNvPr>
          <p:cNvSpPr>
            <a:spLocks noGrp="1"/>
          </p:cNvSpPr>
          <p:nvPr/>
        </p:nvSpPr>
        <p:spPr>
          <a:xfrm>
            <a:off x="1452918" y="5033269"/>
            <a:ext cx="13873834" cy="259978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t>∀</a:t>
            </a:r>
            <a:r>
              <a:rPr i="1"/>
              <a:t>x</a:t>
            </a:r>
            <a:r>
              <a:t>. </a:t>
            </a:r>
            <a:r>
              <a:rPr i="1"/>
              <a:t>BelongsTo</a:t>
            </a:r>
            <a:r>
              <a:t>(</a:t>
            </a:r>
            <a:r>
              <a:rPr i="1"/>
              <a:t>x, Gryffindor</a:t>
            </a:r>
            <a:r>
              <a:t>) →</a:t>
            </a:r>
          </a:p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t>       ¬</a:t>
            </a:r>
            <a:r>
              <a:rPr i="1"/>
              <a:t>BelongsTo</a:t>
            </a:r>
            <a:r>
              <a:t>(</a:t>
            </a:r>
            <a:r>
              <a:rPr i="1"/>
              <a:t>x</a:t>
            </a:r>
            <a:r>
              <a:t>, </a:t>
            </a:r>
            <a:r>
              <a:rPr i="1"/>
              <a:t>Hufflepuff</a:t>
            </a:r>
            <a:r>
              <a:t>)</a:t>
            </a:r>
          </a:p>
        </p:txBody>
      </p:sp>
      <p:sp>
        <p:nvSpPr>
          <p:cNvPr id="662" name="For all objects x, if x belongs to Gryffindor,…">
            <a:extLst>
              <a:ext uri="{FF2B5EF4-FFF2-40B4-BE49-F238E27FC236}">
                <a16:creationId xmlns:a16="http://schemas.microsoft.com/office/drawing/2014/main" id="{E97524BE-B58D-282B-F0E1-4D1D1520B191}"/>
              </a:ext>
            </a:extLst>
          </p:cNvPr>
          <p:cNvSpPr>
            <a:spLocks noGrp="1"/>
          </p:cNvSpPr>
          <p:nvPr/>
        </p:nvSpPr>
        <p:spPr>
          <a:xfrm>
            <a:off x="8806679" y="8532773"/>
            <a:ext cx="14575144" cy="2103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pPr>
            <a:r>
              <a:rPr dirty="0"/>
              <a:t>Para </a:t>
            </a:r>
            <a:r>
              <a:rPr dirty="0" err="1"/>
              <a:t>todo</a:t>
            </a:r>
            <a:r>
              <a:rPr dirty="0"/>
              <a:t> x, se x </a:t>
            </a:r>
            <a:r>
              <a:rPr dirty="0" err="1"/>
              <a:t>pertence</a:t>
            </a:r>
            <a:r>
              <a:rPr dirty="0"/>
              <a:t> à Gryffindor,</a:t>
            </a:r>
          </a:p>
          <a:p>
            <a:pPr algn="r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pPr>
            <a:r>
              <a:rPr dirty="0" err="1"/>
              <a:t>então</a:t>
            </a:r>
            <a:r>
              <a:rPr dirty="0"/>
              <a:t> x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pertence</a:t>
            </a:r>
            <a:r>
              <a:rPr dirty="0"/>
              <a:t> à Hufflepuff. </a:t>
            </a:r>
          </a:p>
        </p:txBody>
      </p:sp>
    </p:spTree>
    <p:extLst>
      <p:ext uri="{BB962C8B-B14F-4D97-AF65-F5344CB8AC3E}">
        <p14:creationId xmlns:p14="http://schemas.microsoft.com/office/powerpoint/2010/main" val="204006837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9E007-51F8-AFA0-79DC-D0C6B9FFA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Universal Quantification">
            <a:extLst>
              <a:ext uri="{FF2B5EF4-FFF2-40B4-BE49-F238E27FC236}">
                <a16:creationId xmlns:a16="http://schemas.microsoft.com/office/drawing/2014/main" id="{5FFA8D86-5232-D634-560A-944F65ACEC3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Quantificação Universal</a:t>
            </a:r>
          </a:p>
        </p:txBody>
      </p:sp>
      <p:sp>
        <p:nvSpPr>
          <p:cNvPr id="661" name="∀x. BelongsTo(x, Gryffindor) →…">
            <a:extLst>
              <a:ext uri="{FF2B5EF4-FFF2-40B4-BE49-F238E27FC236}">
                <a16:creationId xmlns:a16="http://schemas.microsoft.com/office/drawing/2014/main" id="{8F32776A-10A3-82F3-BE22-5953D09C51D3}"/>
              </a:ext>
            </a:extLst>
          </p:cNvPr>
          <p:cNvSpPr>
            <a:spLocks noGrp="1"/>
          </p:cNvSpPr>
          <p:nvPr/>
        </p:nvSpPr>
        <p:spPr>
          <a:xfrm>
            <a:off x="1452918" y="5033269"/>
            <a:ext cx="13873834" cy="259978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t>∀</a:t>
            </a:r>
            <a:r>
              <a:rPr i="1"/>
              <a:t>x</a:t>
            </a:r>
            <a:r>
              <a:t>. </a:t>
            </a:r>
            <a:r>
              <a:rPr i="1"/>
              <a:t>BelongsTo</a:t>
            </a:r>
            <a:r>
              <a:t>(</a:t>
            </a:r>
            <a:r>
              <a:rPr i="1"/>
              <a:t>x, Gryffindor</a:t>
            </a:r>
            <a:r>
              <a:t>) →</a:t>
            </a:r>
          </a:p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t>       ¬</a:t>
            </a:r>
            <a:r>
              <a:rPr i="1"/>
              <a:t>BelongsTo</a:t>
            </a:r>
            <a:r>
              <a:t>(</a:t>
            </a:r>
            <a:r>
              <a:rPr i="1"/>
              <a:t>x</a:t>
            </a:r>
            <a:r>
              <a:t>, </a:t>
            </a:r>
            <a:r>
              <a:rPr i="1"/>
              <a:t>Hufflepuff</a:t>
            </a:r>
            <a:r>
              <a:t>)</a:t>
            </a:r>
          </a:p>
        </p:txBody>
      </p:sp>
      <p:sp>
        <p:nvSpPr>
          <p:cNvPr id="663" name="Anyone in Gryffindor is not in Hufflepuff.">
            <a:extLst>
              <a:ext uri="{FF2B5EF4-FFF2-40B4-BE49-F238E27FC236}">
                <a16:creationId xmlns:a16="http://schemas.microsoft.com/office/drawing/2014/main" id="{37613696-BE61-9DDC-4D1D-A36CB7C5D100}"/>
              </a:ext>
            </a:extLst>
          </p:cNvPr>
          <p:cNvSpPr>
            <a:spLocks noGrp="1"/>
          </p:cNvSpPr>
          <p:nvPr/>
        </p:nvSpPr>
        <p:spPr>
          <a:xfrm>
            <a:off x="8690675" y="11646804"/>
            <a:ext cx="14691148" cy="1092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Quem pertence à Gryffindor não pertence à Hufflepuff.</a:t>
            </a:r>
          </a:p>
        </p:txBody>
      </p:sp>
      <p:sp>
        <p:nvSpPr>
          <p:cNvPr id="2" name="For all objects x, if x belongs to Gryffindor,…">
            <a:extLst>
              <a:ext uri="{FF2B5EF4-FFF2-40B4-BE49-F238E27FC236}">
                <a16:creationId xmlns:a16="http://schemas.microsoft.com/office/drawing/2014/main" id="{DF63AF2C-B2A5-47F7-1236-38877EE61725}"/>
              </a:ext>
            </a:extLst>
          </p:cNvPr>
          <p:cNvSpPr>
            <a:spLocks noGrp="1"/>
          </p:cNvSpPr>
          <p:nvPr/>
        </p:nvSpPr>
        <p:spPr>
          <a:xfrm>
            <a:off x="8806679" y="8532773"/>
            <a:ext cx="14575144" cy="2103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pPr>
            <a:r>
              <a:rPr dirty="0"/>
              <a:t>Para </a:t>
            </a:r>
            <a:r>
              <a:rPr dirty="0" err="1"/>
              <a:t>todo</a:t>
            </a:r>
            <a:r>
              <a:rPr dirty="0"/>
              <a:t> x, se x </a:t>
            </a:r>
            <a:r>
              <a:rPr dirty="0" err="1"/>
              <a:t>pertence</a:t>
            </a:r>
            <a:r>
              <a:rPr dirty="0"/>
              <a:t> à Gryffindor,</a:t>
            </a:r>
          </a:p>
          <a:p>
            <a:pPr algn="r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pPr>
            <a:r>
              <a:rPr dirty="0" err="1"/>
              <a:t>então</a:t>
            </a:r>
            <a:r>
              <a:rPr dirty="0"/>
              <a:t> x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pertence</a:t>
            </a:r>
            <a:r>
              <a:rPr dirty="0"/>
              <a:t> à Hufflepuff. </a:t>
            </a:r>
          </a:p>
        </p:txBody>
      </p:sp>
    </p:spTree>
    <p:extLst>
      <p:ext uri="{BB962C8B-B14F-4D97-AF65-F5344CB8AC3E}">
        <p14:creationId xmlns:p14="http://schemas.microsoft.com/office/powerpoint/2010/main" val="689104602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Existential Quantification">
            <a:extLst>
              <a:ext uri="{FF2B5EF4-FFF2-40B4-BE49-F238E27FC236}">
                <a16:creationId xmlns:a16="http://schemas.microsoft.com/office/drawing/2014/main" id="{52C8F03E-7B0E-464F-9FC4-1D96965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Quantificação Existencial</a:t>
            </a:r>
          </a:p>
        </p:txBody>
      </p:sp>
    </p:spTree>
    <p:extLst>
      <p:ext uri="{BB962C8B-B14F-4D97-AF65-F5344CB8AC3E}">
        <p14:creationId xmlns:p14="http://schemas.microsoft.com/office/powerpoint/2010/main" val="1981729747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Existential Quantification">
            <a:extLst>
              <a:ext uri="{FF2B5EF4-FFF2-40B4-BE49-F238E27FC236}">
                <a16:creationId xmlns:a16="http://schemas.microsoft.com/office/drawing/2014/main" id="{461AEF0A-970A-4D92-8D6F-8953BDCF2D1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Quantificação Existencial</a:t>
            </a:r>
          </a:p>
        </p:txBody>
      </p:sp>
    </p:spTree>
    <p:extLst>
      <p:ext uri="{BB962C8B-B14F-4D97-AF65-F5344CB8AC3E}">
        <p14:creationId xmlns:p14="http://schemas.microsoft.com/office/powerpoint/2010/main" val="318137507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85EE1-5804-389E-889C-FBE82E124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Existential Quantification">
            <a:extLst>
              <a:ext uri="{FF2B5EF4-FFF2-40B4-BE49-F238E27FC236}">
                <a16:creationId xmlns:a16="http://schemas.microsoft.com/office/drawing/2014/main" id="{BC7789F8-FF7A-F518-5F11-073155085BF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Quantificação Existencial</a:t>
            </a:r>
          </a:p>
        </p:txBody>
      </p:sp>
      <p:sp>
        <p:nvSpPr>
          <p:cNvPr id="668" name="∃x. House(x) ∧ BelongsTo(Minerva, x)">
            <a:extLst>
              <a:ext uri="{FF2B5EF4-FFF2-40B4-BE49-F238E27FC236}">
                <a16:creationId xmlns:a16="http://schemas.microsoft.com/office/drawing/2014/main" id="{0AECB912-BB4A-6371-68FF-E2EC844B4420}"/>
              </a:ext>
            </a:extLst>
          </p:cNvPr>
          <p:cNvSpPr>
            <a:spLocks noGrp="1"/>
          </p:cNvSpPr>
          <p:nvPr/>
        </p:nvSpPr>
        <p:spPr>
          <a:xfrm>
            <a:off x="1452918" y="5671097"/>
            <a:ext cx="16555940" cy="132412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t>∃</a:t>
            </a:r>
            <a:r>
              <a:rPr i="1"/>
              <a:t>x</a:t>
            </a:r>
            <a:r>
              <a:t>. </a:t>
            </a:r>
            <a:r>
              <a:rPr i="1"/>
              <a:t>House</a:t>
            </a:r>
            <a:r>
              <a:t>(</a:t>
            </a:r>
            <a:r>
              <a:rPr i="1"/>
              <a:t>x</a:t>
            </a:r>
            <a:r>
              <a:t>) ∧ </a:t>
            </a:r>
            <a:r>
              <a:rPr i="1"/>
              <a:t>BelongsTo</a:t>
            </a:r>
            <a:r>
              <a:t>(</a:t>
            </a:r>
            <a:r>
              <a:rPr i="1"/>
              <a:t>Minerva, x</a:t>
            </a:r>
            <a: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86545335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C7338-675F-CE02-9DAA-E2636609E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Existential Quantification">
            <a:extLst>
              <a:ext uri="{FF2B5EF4-FFF2-40B4-BE49-F238E27FC236}">
                <a16:creationId xmlns:a16="http://schemas.microsoft.com/office/drawing/2014/main" id="{84630DE7-1D58-7AD4-F7A4-3EAAE948515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Quantificação Existencial</a:t>
            </a:r>
          </a:p>
        </p:txBody>
      </p:sp>
      <p:sp>
        <p:nvSpPr>
          <p:cNvPr id="668" name="∃x. House(x) ∧ BelongsTo(Minerva, x)">
            <a:extLst>
              <a:ext uri="{FF2B5EF4-FFF2-40B4-BE49-F238E27FC236}">
                <a16:creationId xmlns:a16="http://schemas.microsoft.com/office/drawing/2014/main" id="{671EE366-CED8-1675-CA83-58C0A82D5EBD}"/>
              </a:ext>
            </a:extLst>
          </p:cNvPr>
          <p:cNvSpPr>
            <a:spLocks noGrp="1"/>
          </p:cNvSpPr>
          <p:nvPr/>
        </p:nvSpPr>
        <p:spPr>
          <a:xfrm>
            <a:off x="1452918" y="5671097"/>
            <a:ext cx="16555940" cy="132412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t>∃</a:t>
            </a:r>
            <a:r>
              <a:rPr i="1"/>
              <a:t>x</a:t>
            </a:r>
            <a:r>
              <a:t>. </a:t>
            </a:r>
            <a:r>
              <a:rPr i="1"/>
              <a:t>House</a:t>
            </a:r>
            <a:r>
              <a:t>(</a:t>
            </a:r>
            <a:r>
              <a:rPr i="1"/>
              <a:t>x</a:t>
            </a:r>
            <a:r>
              <a:t>) ∧ </a:t>
            </a:r>
            <a:r>
              <a:rPr i="1"/>
              <a:t>BelongsTo</a:t>
            </a:r>
            <a:r>
              <a:t>(</a:t>
            </a:r>
            <a:r>
              <a:rPr i="1"/>
              <a:t>Minerva, x</a:t>
            </a:r>
            <a:r>
              <a:t>)</a:t>
            </a:r>
          </a:p>
        </p:txBody>
      </p:sp>
      <p:sp>
        <p:nvSpPr>
          <p:cNvPr id="669" name="There exists an object x such that…">
            <a:extLst>
              <a:ext uri="{FF2B5EF4-FFF2-40B4-BE49-F238E27FC236}">
                <a16:creationId xmlns:a16="http://schemas.microsoft.com/office/drawing/2014/main" id="{8472943F-18AE-DEB7-2C25-093702127410}"/>
              </a:ext>
            </a:extLst>
          </p:cNvPr>
          <p:cNvSpPr>
            <a:spLocks noGrp="1"/>
          </p:cNvSpPr>
          <p:nvPr/>
        </p:nvSpPr>
        <p:spPr>
          <a:xfrm>
            <a:off x="9180010" y="8542942"/>
            <a:ext cx="14201813" cy="2082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pPr>
            <a:r>
              <a:rPr dirty="0" err="1"/>
              <a:t>Existe</a:t>
            </a:r>
            <a:r>
              <a:rPr dirty="0"/>
              <a:t> </a:t>
            </a:r>
            <a:r>
              <a:rPr lang="pt-BR" dirty="0"/>
              <a:t>pelo menos um </a:t>
            </a:r>
            <a:r>
              <a:rPr dirty="0"/>
              <a:t>x </a:t>
            </a:r>
            <a:r>
              <a:rPr dirty="0" err="1"/>
              <a:t>tal</a:t>
            </a:r>
            <a:r>
              <a:rPr dirty="0"/>
              <a:t> </a:t>
            </a:r>
            <a:r>
              <a:rPr dirty="0" err="1"/>
              <a:t>que</a:t>
            </a:r>
            <a:endParaRPr dirty="0"/>
          </a:p>
          <a:p>
            <a:pPr algn="r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pPr>
            <a:r>
              <a:rPr dirty="0"/>
              <a:t>x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casa e Minerva </a:t>
            </a:r>
            <a:r>
              <a:rPr dirty="0" err="1"/>
              <a:t>pertence</a:t>
            </a:r>
            <a:r>
              <a:rPr dirty="0"/>
              <a:t> a x.</a:t>
            </a:r>
          </a:p>
        </p:txBody>
      </p:sp>
    </p:spTree>
    <p:extLst>
      <p:ext uri="{BB962C8B-B14F-4D97-AF65-F5344CB8AC3E}">
        <p14:creationId xmlns:p14="http://schemas.microsoft.com/office/powerpoint/2010/main" val="3560568136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81176-27CE-C144-AE09-BECE8F1C1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Existential Quantification">
            <a:extLst>
              <a:ext uri="{FF2B5EF4-FFF2-40B4-BE49-F238E27FC236}">
                <a16:creationId xmlns:a16="http://schemas.microsoft.com/office/drawing/2014/main" id="{1FD1CE26-263F-0343-287C-75DF92D71EA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Quantificação Existencial</a:t>
            </a:r>
          </a:p>
        </p:txBody>
      </p:sp>
      <p:sp>
        <p:nvSpPr>
          <p:cNvPr id="668" name="∃x. House(x) ∧ BelongsTo(Minerva, x)">
            <a:extLst>
              <a:ext uri="{FF2B5EF4-FFF2-40B4-BE49-F238E27FC236}">
                <a16:creationId xmlns:a16="http://schemas.microsoft.com/office/drawing/2014/main" id="{BCFF679C-FEC5-77B7-B930-98DC87206A2E}"/>
              </a:ext>
            </a:extLst>
          </p:cNvPr>
          <p:cNvSpPr>
            <a:spLocks noGrp="1"/>
          </p:cNvSpPr>
          <p:nvPr/>
        </p:nvSpPr>
        <p:spPr>
          <a:xfrm>
            <a:off x="1452918" y="5671097"/>
            <a:ext cx="16555940" cy="132412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t>∃</a:t>
            </a:r>
            <a:r>
              <a:rPr i="1"/>
              <a:t>x</a:t>
            </a:r>
            <a:r>
              <a:t>. </a:t>
            </a:r>
            <a:r>
              <a:rPr i="1"/>
              <a:t>House</a:t>
            </a:r>
            <a:r>
              <a:t>(</a:t>
            </a:r>
            <a:r>
              <a:rPr i="1"/>
              <a:t>x</a:t>
            </a:r>
            <a:r>
              <a:t>) ∧ </a:t>
            </a:r>
            <a:r>
              <a:rPr i="1"/>
              <a:t>BelongsTo</a:t>
            </a:r>
            <a:r>
              <a:t>(</a:t>
            </a:r>
            <a:r>
              <a:rPr i="1"/>
              <a:t>Minerva, x</a:t>
            </a:r>
            <a:r>
              <a:t>)</a:t>
            </a:r>
          </a:p>
        </p:txBody>
      </p:sp>
      <p:sp>
        <p:nvSpPr>
          <p:cNvPr id="670" name="Minerva belongs to a house.">
            <a:extLst>
              <a:ext uri="{FF2B5EF4-FFF2-40B4-BE49-F238E27FC236}">
                <a16:creationId xmlns:a16="http://schemas.microsoft.com/office/drawing/2014/main" id="{01690C1D-275C-0335-CA3B-9FD03B9AA0E7}"/>
              </a:ext>
            </a:extLst>
          </p:cNvPr>
          <p:cNvSpPr>
            <a:spLocks noGrp="1"/>
          </p:cNvSpPr>
          <p:nvPr/>
        </p:nvSpPr>
        <p:spPr>
          <a:xfrm>
            <a:off x="12896372" y="11679824"/>
            <a:ext cx="10485451" cy="1092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Minerva pertence a uma casa.</a:t>
            </a:r>
          </a:p>
        </p:txBody>
      </p:sp>
      <p:sp>
        <p:nvSpPr>
          <p:cNvPr id="2" name="There exists an object x such that…">
            <a:extLst>
              <a:ext uri="{FF2B5EF4-FFF2-40B4-BE49-F238E27FC236}">
                <a16:creationId xmlns:a16="http://schemas.microsoft.com/office/drawing/2014/main" id="{49F41198-4FEB-0506-ED8B-142AC8B82DAA}"/>
              </a:ext>
            </a:extLst>
          </p:cNvPr>
          <p:cNvSpPr>
            <a:spLocks noGrp="1"/>
          </p:cNvSpPr>
          <p:nvPr/>
        </p:nvSpPr>
        <p:spPr>
          <a:xfrm>
            <a:off x="9180010" y="8542942"/>
            <a:ext cx="14201813" cy="2082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pPr>
            <a:r>
              <a:rPr dirty="0" err="1"/>
              <a:t>Existe</a:t>
            </a:r>
            <a:r>
              <a:rPr dirty="0"/>
              <a:t> </a:t>
            </a:r>
            <a:r>
              <a:rPr lang="pt-BR" dirty="0"/>
              <a:t>pelo menos um </a:t>
            </a:r>
            <a:r>
              <a:rPr dirty="0"/>
              <a:t>x </a:t>
            </a:r>
            <a:r>
              <a:rPr dirty="0" err="1"/>
              <a:t>tal</a:t>
            </a:r>
            <a:r>
              <a:rPr dirty="0"/>
              <a:t> </a:t>
            </a:r>
            <a:r>
              <a:rPr dirty="0" err="1"/>
              <a:t>que</a:t>
            </a:r>
            <a:endParaRPr dirty="0"/>
          </a:p>
          <a:p>
            <a:pPr algn="r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pPr>
            <a:r>
              <a:rPr dirty="0"/>
              <a:t>x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casa e Minerva </a:t>
            </a:r>
            <a:r>
              <a:rPr dirty="0" err="1"/>
              <a:t>pertence</a:t>
            </a:r>
            <a:r>
              <a:rPr dirty="0"/>
              <a:t> a x.</a:t>
            </a:r>
          </a:p>
        </p:txBody>
      </p:sp>
    </p:spTree>
    <p:extLst>
      <p:ext uri="{BB962C8B-B14F-4D97-AF65-F5344CB8AC3E}">
        <p14:creationId xmlns:p14="http://schemas.microsoft.com/office/powerpoint/2010/main" val="2666707438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Existential Quantification">
            <a:extLst>
              <a:ext uri="{FF2B5EF4-FFF2-40B4-BE49-F238E27FC236}">
                <a16:creationId xmlns:a16="http://schemas.microsoft.com/office/drawing/2014/main" id="{D2BEB04F-F4E0-4968-9DFD-1976DBEA854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 err="1"/>
              <a:t>Quantificação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3008908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389DB-F427-844C-8C5C-B595F6A22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Existential Quantification">
            <a:extLst>
              <a:ext uri="{FF2B5EF4-FFF2-40B4-BE49-F238E27FC236}">
                <a16:creationId xmlns:a16="http://schemas.microsoft.com/office/drawing/2014/main" id="{484F5665-AFC4-D167-8BC6-08540B59EEC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 err="1"/>
              <a:t>Quantificação</a:t>
            </a:r>
            <a:endParaRPr dirty="0"/>
          </a:p>
        </p:txBody>
      </p:sp>
      <p:sp>
        <p:nvSpPr>
          <p:cNvPr id="673" name="∀x. Person(x) →  (∃y. House(y) ∧ BelongsTo(x, y))">
            <a:extLst>
              <a:ext uri="{FF2B5EF4-FFF2-40B4-BE49-F238E27FC236}">
                <a16:creationId xmlns:a16="http://schemas.microsoft.com/office/drawing/2014/main" id="{FCAC41A1-BACA-8088-76C1-A1AB667F068B}"/>
              </a:ext>
            </a:extLst>
          </p:cNvPr>
          <p:cNvSpPr>
            <a:spLocks noGrp="1"/>
          </p:cNvSpPr>
          <p:nvPr/>
        </p:nvSpPr>
        <p:spPr>
          <a:xfrm>
            <a:off x="1452918" y="5671097"/>
            <a:ext cx="21878480" cy="132412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t>∀</a:t>
            </a:r>
            <a:r>
              <a:rPr i="1"/>
              <a:t>x</a:t>
            </a:r>
            <a:r>
              <a:t>. </a:t>
            </a:r>
            <a:r>
              <a:rPr i="1"/>
              <a:t>Person</a:t>
            </a:r>
            <a:r>
              <a:t>(</a:t>
            </a:r>
            <a:r>
              <a:rPr i="1"/>
              <a:t>x</a:t>
            </a:r>
            <a:r>
              <a:t>) →  (∃</a:t>
            </a:r>
            <a:r>
              <a:rPr i="1"/>
              <a:t>y</a:t>
            </a:r>
            <a:r>
              <a:t>. </a:t>
            </a:r>
            <a:r>
              <a:rPr i="1"/>
              <a:t>House</a:t>
            </a:r>
            <a:r>
              <a:t>(</a:t>
            </a:r>
            <a:r>
              <a:rPr i="1"/>
              <a:t>y</a:t>
            </a:r>
            <a:r>
              <a:t>) ∧ </a:t>
            </a:r>
            <a:r>
              <a:rPr i="1"/>
              <a:t>BelongsTo</a:t>
            </a:r>
            <a:r>
              <a:t>(</a:t>
            </a:r>
            <a:r>
              <a:rPr i="1"/>
              <a:t>x, y</a:t>
            </a:r>
            <a: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337112668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13333-96B9-73B7-F5A6-ACD8EA51A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Existential Quantification">
            <a:extLst>
              <a:ext uri="{FF2B5EF4-FFF2-40B4-BE49-F238E27FC236}">
                <a16:creationId xmlns:a16="http://schemas.microsoft.com/office/drawing/2014/main" id="{E9D96027-3821-935D-3FC7-1C5F6D6B6B1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 err="1"/>
              <a:t>Quantificação</a:t>
            </a:r>
            <a:endParaRPr dirty="0"/>
          </a:p>
        </p:txBody>
      </p:sp>
      <p:sp>
        <p:nvSpPr>
          <p:cNvPr id="673" name="∀x. Person(x) →  (∃y. House(y) ∧ BelongsTo(x, y))">
            <a:extLst>
              <a:ext uri="{FF2B5EF4-FFF2-40B4-BE49-F238E27FC236}">
                <a16:creationId xmlns:a16="http://schemas.microsoft.com/office/drawing/2014/main" id="{17A92DE4-4DEE-D5E0-605D-3D096373F643}"/>
              </a:ext>
            </a:extLst>
          </p:cNvPr>
          <p:cNvSpPr>
            <a:spLocks noGrp="1"/>
          </p:cNvSpPr>
          <p:nvPr/>
        </p:nvSpPr>
        <p:spPr>
          <a:xfrm>
            <a:off x="1452918" y="5671097"/>
            <a:ext cx="21878480" cy="132412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t>∀</a:t>
            </a:r>
            <a:r>
              <a:rPr i="1"/>
              <a:t>x</a:t>
            </a:r>
            <a:r>
              <a:t>. </a:t>
            </a:r>
            <a:r>
              <a:rPr i="1"/>
              <a:t>Person</a:t>
            </a:r>
            <a:r>
              <a:t>(</a:t>
            </a:r>
            <a:r>
              <a:rPr i="1"/>
              <a:t>x</a:t>
            </a:r>
            <a:r>
              <a:t>) →  (∃</a:t>
            </a:r>
            <a:r>
              <a:rPr i="1"/>
              <a:t>y</a:t>
            </a:r>
            <a:r>
              <a:t>. </a:t>
            </a:r>
            <a:r>
              <a:rPr i="1"/>
              <a:t>House</a:t>
            </a:r>
            <a:r>
              <a:t>(</a:t>
            </a:r>
            <a:r>
              <a:rPr i="1"/>
              <a:t>y</a:t>
            </a:r>
            <a:r>
              <a:t>) ∧ </a:t>
            </a:r>
            <a:r>
              <a:rPr i="1"/>
              <a:t>BelongsTo</a:t>
            </a:r>
            <a:r>
              <a:t>(</a:t>
            </a:r>
            <a:r>
              <a:rPr i="1"/>
              <a:t>x, y</a:t>
            </a:r>
            <a:r>
              <a:t>))</a:t>
            </a:r>
          </a:p>
        </p:txBody>
      </p:sp>
      <p:sp>
        <p:nvSpPr>
          <p:cNvPr id="674" name="For all objects x, if x is a person, then…">
            <a:extLst>
              <a:ext uri="{FF2B5EF4-FFF2-40B4-BE49-F238E27FC236}">
                <a16:creationId xmlns:a16="http://schemas.microsoft.com/office/drawing/2014/main" id="{27F4BA9F-D6CD-E447-B3B2-20DAAB8A872F}"/>
              </a:ext>
            </a:extLst>
          </p:cNvPr>
          <p:cNvSpPr>
            <a:spLocks noGrp="1"/>
          </p:cNvSpPr>
          <p:nvPr/>
        </p:nvSpPr>
        <p:spPr>
          <a:xfrm>
            <a:off x="9022123" y="7784988"/>
            <a:ext cx="14359700" cy="310341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pPr>
            <a:r>
              <a:rPr dirty="0"/>
              <a:t>Para </a:t>
            </a:r>
            <a:r>
              <a:rPr dirty="0" err="1"/>
              <a:t>todo</a:t>
            </a:r>
            <a:r>
              <a:rPr dirty="0"/>
              <a:t> x, se x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pessoa</a:t>
            </a:r>
            <a:r>
              <a:rPr dirty="0"/>
              <a:t>, </a:t>
            </a:r>
            <a:r>
              <a:rPr dirty="0" err="1"/>
              <a:t>então</a:t>
            </a:r>
            <a:endParaRPr dirty="0"/>
          </a:p>
          <a:p>
            <a:pPr algn="r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pPr>
            <a:r>
              <a:rPr dirty="0" err="1"/>
              <a:t>existe</a:t>
            </a:r>
            <a:r>
              <a:rPr dirty="0"/>
              <a:t> </a:t>
            </a:r>
            <a:r>
              <a:rPr lang="pt-BR" dirty="0"/>
              <a:t>pelo menos um </a:t>
            </a:r>
            <a:r>
              <a:rPr dirty="0"/>
              <a:t>y</a:t>
            </a:r>
            <a:r>
              <a:rPr lang="pt-BR" dirty="0"/>
              <a:t>,</a:t>
            </a:r>
            <a:r>
              <a:rPr dirty="0"/>
              <a:t> </a:t>
            </a:r>
            <a:r>
              <a:rPr dirty="0" err="1"/>
              <a:t>tal</a:t>
            </a:r>
            <a:r>
              <a:rPr dirty="0"/>
              <a:t> </a:t>
            </a:r>
            <a:r>
              <a:rPr dirty="0" err="1"/>
              <a:t>que</a:t>
            </a:r>
            <a:endParaRPr dirty="0"/>
          </a:p>
          <a:p>
            <a:pPr algn="r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pPr>
            <a:r>
              <a:rPr dirty="0"/>
              <a:t>y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casa e x </a:t>
            </a:r>
            <a:r>
              <a:rPr dirty="0" err="1"/>
              <a:t>pertence</a:t>
            </a:r>
            <a:r>
              <a:rPr dirty="0"/>
              <a:t> a y. </a:t>
            </a:r>
          </a:p>
        </p:txBody>
      </p:sp>
    </p:spTree>
    <p:extLst>
      <p:ext uri="{BB962C8B-B14F-4D97-AF65-F5344CB8AC3E}">
        <p14:creationId xmlns:p14="http://schemas.microsoft.com/office/powerpoint/2010/main" val="970971097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41B44-46D0-688E-F2EE-3D34641E9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Existential Quantification">
            <a:extLst>
              <a:ext uri="{FF2B5EF4-FFF2-40B4-BE49-F238E27FC236}">
                <a16:creationId xmlns:a16="http://schemas.microsoft.com/office/drawing/2014/main" id="{5A98EBA0-8A1C-E277-BE2E-7AEE6708333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 err="1"/>
              <a:t>Quantificação</a:t>
            </a:r>
            <a:endParaRPr dirty="0"/>
          </a:p>
        </p:txBody>
      </p:sp>
      <p:sp>
        <p:nvSpPr>
          <p:cNvPr id="673" name="∀x. Person(x) →  (∃y. House(y) ∧ BelongsTo(x, y))">
            <a:extLst>
              <a:ext uri="{FF2B5EF4-FFF2-40B4-BE49-F238E27FC236}">
                <a16:creationId xmlns:a16="http://schemas.microsoft.com/office/drawing/2014/main" id="{3B193DDB-A936-5DA4-CBF2-1B7583B84B34}"/>
              </a:ext>
            </a:extLst>
          </p:cNvPr>
          <p:cNvSpPr>
            <a:spLocks noGrp="1"/>
          </p:cNvSpPr>
          <p:nvPr/>
        </p:nvSpPr>
        <p:spPr>
          <a:xfrm>
            <a:off x="1452918" y="5671097"/>
            <a:ext cx="21878480" cy="132412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t>∀</a:t>
            </a:r>
            <a:r>
              <a:rPr i="1"/>
              <a:t>x</a:t>
            </a:r>
            <a:r>
              <a:t>. </a:t>
            </a:r>
            <a:r>
              <a:rPr i="1"/>
              <a:t>Person</a:t>
            </a:r>
            <a:r>
              <a:t>(</a:t>
            </a:r>
            <a:r>
              <a:rPr i="1"/>
              <a:t>x</a:t>
            </a:r>
            <a:r>
              <a:t>) →  (∃</a:t>
            </a:r>
            <a:r>
              <a:rPr i="1"/>
              <a:t>y</a:t>
            </a:r>
            <a:r>
              <a:t>. </a:t>
            </a:r>
            <a:r>
              <a:rPr i="1"/>
              <a:t>House</a:t>
            </a:r>
            <a:r>
              <a:t>(</a:t>
            </a:r>
            <a:r>
              <a:rPr i="1"/>
              <a:t>y</a:t>
            </a:r>
            <a:r>
              <a:t>) ∧ </a:t>
            </a:r>
            <a:r>
              <a:rPr i="1"/>
              <a:t>BelongsTo</a:t>
            </a:r>
            <a:r>
              <a:t>(</a:t>
            </a:r>
            <a:r>
              <a:rPr i="1"/>
              <a:t>x, y</a:t>
            </a:r>
            <a:r>
              <a:t>))</a:t>
            </a:r>
          </a:p>
        </p:txBody>
      </p:sp>
      <p:sp>
        <p:nvSpPr>
          <p:cNvPr id="675" name="Every person belongs to a house.">
            <a:extLst>
              <a:ext uri="{FF2B5EF4-FFF2-40B4-BE49-F238E27FC236}">
                <a16:creationId xmlns:a16="http://schemas.microsoft.com/office/drawing/2014/main" id="{51EAABEE-2043-DBD4-EE52-FF13D18B5D54}"/>
              </a:ext>
            </a:extLst>
          </p:cNvPr>
          <p:cNvSpPr>
            <a:spLocks noGrp="1"/>
          </p:cNvSpPr>
          <p:nvPr/>
        </p:nvSpPr>
        <p:spPr>
          <a:xfrm>
            <a:off x="10063758" y="11600244"/>
            <a:ext cx="13252026" cy="110286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lang="pt-BR" dirty="0"/>
              <a:t>Cada</a:t>
            </a:r>
            <a:r>
              <a:rPr dirty="0"/>
              <a:t> </a:t>
            </a:r>
            <a:r>
              <a:rPr dirty="0" err="1"/>
              <a:t>pessoa</a:t>
            </a:r>
            <a:r>
              <a:rPr dirty="0"/>
              <a:t> </a:t>
            </a:r>
            <a:r>
              <a:rPr dirty="0" err="1"/>
              <a:t>pertence</a:t>
            </a:r>
            <a:r>
              <a:rPr dirty="0"/>
              <a:t> a </a:t>
            </a:r>
            <a:r>
              <a:rPr dirty="0" err="1"/>
              <a:t>uma</a:t>
            </a:r>
            <a:r>
              <a:rPr dirty="0"/>
              <a:t> casa.</a:t>
            </a:r>
          </a:p>
        </p:txBody>
      </p:sp>
      <p:sp>
        <p:nvSpPr>
          <p:cNvPr id="2" name="For all objects x, if x is a person, then…">
            <a:extLst>
              <a:ext uri="{FF2B5EF4-FFF2-40B4-BE49-F238E27FC236}">
                <a16:creationId xmlns:a16="http://schemas.microsoft.com/office/drawing/2014/main" id="{3D1EEE9F-6371-F569-3D77-13E41004074F}"/>
              </a:ext>
            </a:extLst>
          </p:cNvPr>
          <p:cNvSpPr>
            <a:spLocks noGrp="1"/>
          </p:cNvSpPr>
          <p:nvPr/>
        </p:nvSpPr>
        <p:spPr>
          <a:xfrm>
            <a:off x="9022123" y="7784988"/>
            <a:ext cx="14359700" cy="310341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pPr>
            <a:r>
              <a:rPr dirty="0"/>
              <a:t>Para </a:t>
            </a:r>
            <a:r>
              <a:rPr dirty="0" err="1"/>
              <a:t>todo</a:t>
            </a:r>
            <a:r>
              <a:rPr dirty="0"/>
              <a:t> x, se x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pessoa</a:t>
            </a:r>
            <a:r>
              <a:rPr dirty="0"/>
              <a:t>, </a:t>
            </a:r>
            <a:r>
              <a:rPr dirty="0" err="1"/>
              <a:t>então</a:t>
            </a:r>
            <a:endParaRPr dirty="0"/>
          </a:p>
          <a:p>
            <a:pPr algn="r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pPr>
            <a:r>
              <a:rPr dirty="0" err="1"/>
              <a:t>existe</a:t>
            </a:r>
            <a:r>
              <a:rPr dirty="0"/>
              <a:t> </a:t>
            </a:r>
            <a:r>
              <a:rPr lang="pt-BR" dirty="0"/>
              <a:t>pelo menos um </a:t>
            </a:r>
            <a:r>
              <a:rPr dirty="0"/>
              <a:t>y</a:t>
            </a:r>
            <a:r>
              <a:rPr lang="pt-BR" dirty="0"/>
              <a:t>,</a:t>
            </a:r>
            <a:r>
              <a:rPr dirty="0"/>
              <a:t> </a:t>
            </a:r>
            <a:r>
              <a:rPr dirty="0" err="1"/>
              <a:t>tal</a:t>
            </a:r>
            <a:r>
              <a:rPr dirty="0"/>
              <a:t> </a:t>
            </a:r>
            <a:r>
              <a:rPr dirty="0" err="1"/>
              <a:t>que</a:t>
            </a:r>
            <a:endParaRPr dirty="0"/>
          </a:p>
          <a:p>
            <a:pPr algn="r">
              <a:buNone/>
              <a:defRPr sz="6500" b="0">
                <a:solidFill>
                  <a:srgbClr val="A9A9A9"/>
                </a:solidFill>
                <a:latin typeface="Helvetica"/>
                <a:ea typeface="Helvetica"/>
                <a:cs typeface="Helvetica"/>
              </a:defRPr>
            </a:pPr>
            <a:r>
              <a:rPr dirty="0"/>
              <a:t>y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casa e x </a:t>
            </a:r>
            <a:r>
              <a:rPr dirty="0" err="1"/>
              <a:t>pertence</a:t>
            </a:r>
            <a:r>
              <a:rPr dirty="0"/>
              <a:t> a y. </a:t>
            </a:r>
          </a:p>
        </p:txBody>
      </p:sp>
    </p:spTree>
    <p:extLst>
      <p:ext uri="{BB962C8B-B14F-4D97-AF65-F5344CB8AC3E}">
        <p14:creationId xmlns:p14="http://schemas.microsoft.com/office/powerpoint/2010/main" val="990142111"/>
      </p:ext>
    </p:extLst>
  </p:cSld>
  <p:clrMapOvr>
    <a:masterClrMapping/>
  </p:clrMapOvr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4775</Words>
  <Application>Microsoft Macintosh PowerPoint</Application>
  <DocSecurity>0</DocSecurity>
  <PresentationFormat>Custom</PresentationFormat>
  <Paragraphs>1221</Paragraphs>
  <Slides>247</Slides>
  <Notes>210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247</vt:i4>
      </vt:variant>
    </vt:vector>
  </HeadingPairs>
  <TitlesOfParts>
    <vt:vector size="253" baseType="lpstr">
      <vt:lpstr>Arial</vt:lpstr>
      <vt:lpstr>Consolas</vt:lpstr>
      <vt:lpstr>Helvetica</vt:lpstr>
      <vt:lpstr>Helvetica Neue</vt:lpstr>
      <vt:lpstr>Times New Roman</vt:lpstr>
      <vt:lpstr>Black</vt:lpstr>
      <vt:lpstr>Conhecimento</vt:lpstr>
      <vt:lpstr>agentes baseados em conhecimento</vt:lpstr>
      <vt:lpstr>PowerPoint Presentation</vt:lpstr>
      <vt:lpstr>PowerPoint Presentation</vt:lpstr>
      <vt:lpstr>PowerPoint Presentation</vt:lpstr>
      <vt:lpstr>Lógica</vt:lpstr>
      <vt:lpstr>Lógica Proposicional</vt:lpstr>
      <vt:lpstr>sentença</vt:lpstr>
      <vt:lpstr>Símbolos Proposicionais</vt:lpstr>
      <vt:lpstr>Conectivos Lógicos</vt:lpstr>
      <vt:lpstr>Não (¬)</vt:lpstr>
      <vt:lpstr>E (∧)</vt:lpstr>
      <vt:lpstr>Ou (∨)</vt:lpstr>
      <vt:lpstr>Ou exclusivo (∨)</vt:lpstr>
      <vt:lpstr>Implicação (→)</vt:lpstr>
      <vt:lpstr>Bicondicional (↔)</vt:lpstr>
      <vt:lpstr>modelo</vt:lpstr>
      <vt:lpstr>modelo</vt:lpstr>
      <vt:lpstr>base de conhecimento</vt:lpstr>
      <vt:lpstr>Implicação lógica (Entailment) </vt:lpstr>
      <vt:lpstr>PowerPoint Presentation</vt:lpstr>
      <vt:lpstr>inferência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Algoritmos de Inferência</vt:lpstr>
      <vt:lpstr>KB ⊨ α</vt:lpstr>
      <vt:lpstr>Verificação de Modelos</vt:lpstr>
      <vt:lpstr>Verificação de Modelos</vt:lpstr>
      <vt:lpstr>Verificação de Modelos</vt:lpstr>
      <vt:lpstr>Verificação de Modelos</vt:lpstr>
      <vt:lpstr>Verificação de Modelos</vt:lpstr>
      <vt:lpstr>Verificação de Modelos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Engenharia do Conhecimento</vt:lpstr>
      <vt:lpstr>Clue</vt:lpstr>
      <vt:lpstr>Clue (Detetive)</vt:lpstr>
      <vt:lpstr>Clue (Detetive)</vt:lpstr>
      <vt:lpstr>Clue (Detetive)</vt:lpstr>
      <vt:lpstr>Clue (Detetive)</vt:lpstr>
      <vt:lpstr>Clue (Detetive)</vt:lpstr>
      <vt:lpstr>Clue</vt:lpstr>
      <vt:lpstr>Clue</vt:lpstr>
      <vt:lpstr>Clue</vt:lpstr>
      <vt:lpstr>Clue</vt:lpstr>
      <vt:lpstr>Clue</vt:lpstr>
      <vt:lpstr>Clue</vt:lpstr>
      <vt:lpstr>Clue</vt:lpstr>
      <vt:lpstr>Clue</vt:lpstr>
      <vt:lpstr>Clue</vt:lpstr>
      <vt:lpstr>Enigmas</vt:lpstr>
      <vt:lpstr>Enigmas</vt:lpstr>
      <vt:lpstr>Enigmas</vt:lpstr>
      <vt:lpstr>Enigmas</vt:lpstr>
      <vt:lpstr>Enigmas</vt:lpstr>
      <vt:lpstr>Enigmas</vt:lpstr>
      <vt:lpstr>Enigmas</vt:lpstr>
      <vt:lpstr>Enigmas</vt:lpstr>
      <vt:lpstr>Enigmas</vt:lpstr>
      <vt:lpstr>Regras de Inferência</vt:lpstr>
      <vt:lpstr>PowerPoint Presentation</vt:lpstr>
      <vt:lpstr>PowerPoint Presentation</vt:lpstr>
      <vt:lpstr>PowerPoint Presentation</vt:lpstr>
      <vt:lpstr>PowerPoint Presentation</vt:lpstr>
      <vt:lpstr>Modus Ponens</vt:lpstr>
      <vt:lpstr>Modus Ponens</vt:lpstr>
      <vt:lpstr>Modus Ponens</vt:lpstr>
      <vt:lpstr>Modus Ponens</vt:lpstr>
      <vt:lpstr>Modus Ponens</vt:lpstr>
      <vt:lpstr>PowerPoint Presentation</vt:lpstr>
      <vt:lpstr>PowerPoint Presentation</vt:lpstr>
      <vt:lpstr>PowerPoint Presentation</vt:lpstr>
      <vt:lpstr>Eliminação da Conjunção</vt:lpstr>
      <vt:lpstr>Eliminação da Conjunção</vt:lpstr>
      <vt:lpstr>Eliminação da Conjunção</vt:lpstr>
      <vt:lpstr>Eliminação da Conjunção</vt:lpstr>
      <vt:lpstr>Eliminação da Conjunção</vt:lpstr>
      <vt:lpstr>PowerPoint Presentation</vt:lpstr>
      <vt:lpstr>PowerPoint Presentation</vt:lpstr>
      <vt:lpstr>PowerPoint Presentation</vt:lpstr>
      <vt:lpstr>Eliminação da Dupla Negação</vt:lpstr>
      <vt:lpstr>Eliminação da Dupla Negação</vt:lpstr>
      <vt:lpstr>Eliminação da Dupla Negação</vt:lpstr>
      <vt:lpstr>Eliminação da Dupla Negação</vt:lpstr>
      <vt:lpstr>PowerPoint Presentation</vt:lpstr>
      <vt:lpstr>PowerPoint Presentation</vt:lpstr>
      <vt:lpstr>PowerPoint Presentation</vt:lpstr>
      <vt:lpstr>Eliminação da Implicação</vt:lpstr>
      <vt:lpstr>Eliminação da Implicação</vt:lpstr>
      <vt:lpstr>Eliminação da Implicação</vt:lpstr>
      <vt:lpstr>Eliminação da Implicação</vt:lpstr>
      <vt:lpstr>PowerPoint Presentation</vt:lpstr>
      <vt:lpstr>PowerPoint Presentation</vt:lpstr>
      <vt:lpstr>PowerPoint Presentation</vt:lpstr>
      <vt:lpstr>Eliminação do Bicondicional</vt:lpstr>
      <vt:lpstr>Eliminação do Bicondicional</vt:lpstr>
      <vt:lpstr>Eliminação do Bicondicional</vt:lpstr>
      <vt:lpstr>Eliminação do Bicondicional</vt:lpstr>
      <vt:lpstr>PowerPoint Presentation</vt:lpstr>
      <vt:lpstr>PowerPoint Presentation</vt:lpstr>
      <vt:lpstr>PowerPoint Presentation</vt:lpstr>
      <vt:lpstr>Lei de De Morgan</vt:lpstr>
      <vt:lpstr>Lei de De Morgan</vt:lpstr>
      <vt:lpstr>Lei de De Morgan</vt:lpstr>
      <vt:lpstr>Lei de De Morgan</vt:lpstr>
      <vt:lpstr>Lei de De Morgan</vt:lpstr>
      <vt:lpstr>Lei de De Morgan</vt:lpstr>
      <vt:lpstr>Lei de De Morgan</vt:lpstr>
      <vt:lpstr>Lei de De Morgan</vt:lpstr>
      <vt:lpstr>Lei de De Morgan</vt:lpstr>
      <vt:lpstr>Lei de De Morgan</vt:lpstr>
      <vt:lpstr>Propriedade Distributiva</vt:lpstr>
      <vt:lpstr>Propriedade Distributiva</vt:lpstr>
      <vt:lpstr>Propriedade Distributiva</vt:lpstr>
      <vt:lpstr>Propriedade Distributiva</vt:lpstr>
      <vt:lpstr>Propriedade Distributiva</vt:lpstr>
      <vt:lpstr>Propriedade Distributiva</vt:lpstr>
      <vt:lpstr>Problemas de Busca</vt:lpstr>
      <vt:lpstr>Problemas de Busca</vt:lpstr>
      <vt:lpstr>Problemas de Busca</vt:lpstr>
      <vt:lpstr>Resolução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cláusula</vt:lpstr>
      <vt:lpstr>forma normal conjuntiva (CNF)</vt:lpstr>
      <vt:lpstr>Conversão para CNF</vt:lpstr>
      <vt:lpstr>Conversão para CNF</vt:lpstr>
      <vt:lpstr>Conversão para CNF</vt:lpstr>
      <vt:lpstr>Conversão para CNF</vt:lpstr>
      <vt:lpstr>Conversão para CNF</vt:lpstr>
      <vt:lpstr>Conversão para CNF</vt:lpstr>
      <vt:lpstr>Conversão para CNF</vt:lpstr>
      <vt:lpstr>Conversão para CNF</vt:lpstr>
      <vt:lpstr>Conversão para CNF</vt:lpstr>
      <vt:lpstr>Conversão para CNF</vt:lpstr>
      <vt:lpstr>Conversão para CNF</vt:lpstr>
      <vt:lpstr>Conversão para CNF</vt:lpstr>
      <vt:lpstr>Conversão para CNF</vt:lpstr>
      <vt:lpstr>Conversão para CNF</vt:lpstr>
      <vt:lpstr>Conversão para CNF</vt:lpstr>
      <vt:lpstr>Conversão para CNF</vt:lpstr>
      <vt:lpstr>Conversão para CNF</vt:lpstr>
      <vt:lpstr>Conversão para CNF</vt:lpstr>
      <vt:lpstr>Inferência por Resolução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Inferência por Resolução</vt:lpstr>
      <vt:lpstr>Inferência por Resolução</vt:lpstr>
      <vt:lpstr>Inferência por Resolução</vt:lpstr>
      <vt:lpstr>Inferência por Resolução</vt:lpstr>
      <vt:lpstr>Inferência por Resolução</vt:lpstr>
      <vt:lpstr>Inferência por Resolução</vt:lpstr>
      <vt:lpstr>Inferência por Resolução</vt:lpstr>
      <vt:lpstr>Inferência por Resolução</vt:lpstr>
      <vt:lpstr>Inferência por Resolução</vt:lpstr>
      <vt:lpstr>Inferência por Resolução</vt:lpstr>
      <vt:lpstr>Inferência por Resolução</vt:lpstr>
      <vt:lpstr>Inferência por Resolução</vt:lpstr>
      <vt:lpstr>Inferência por Resolução</vt:lpstr>
      <vt:lpstr>Inferência por Resolução</vt:lpstr>
      <vt:lpstr>Inferência por Resolução</vt:lpstr>
      <vt:lpstr>Inferência por Resolução</vt:lpstr>
      <vt:lpstr>Inferência por Resolução</vt:lpstr>
      <vt:lpstr>Inferência por Resolução</vt:lpstr>
      <vt:lpstr>Inferência por Resolução</vt:lpstr>
      <vt:lpstr>Inferência por Resolução</vt:lpstr>
      <vt:lpstr>Inferência por Resolução</vt:lpstr>
      <vt:lpstr>Inferência por Resolução</vt:lpstr>
      <vt:lpstr>Inferência por Resolução</vt:lpstr>
      <vt:lpstr>Lógica de Primeira Ordem</vt:lpstr>
      <vt:lpstr>Lógica Proposicional</vt:lpstr>
      <vt:lpstr>Lógica Proposicional</vt:lpstr>
      <vt:lpstr>Lógica Proposicional</vt:lpstr>
      <vt:lpstr>Lógica de Primeira Ordem</vt:lpstr>
      <vt:lpstr>Lógica de Primeira Ordem</vt:lpstr>
      <vt:lpstr>Lógica de Primeira Ordem</vt:lpstr>
      <vt:lpstr>Lógica de Primeira Ordem</vt:lpstr>
      <vt:lpstr>Lógica de Primeira Ordem</vt:lpstr>
      <vt:lpstr>Lógica de Primeira Ordem</vt:lpstr>
      <vt:lpstr>Lógica de Primeira Ordem</vt:lpstr>
      <vt:lpstr>Lógica de Primeira Ordem</vt:lpstr>
      <vt:lpstr>Lógica de Primeira Ordem</vt:lpstr>
      <vt:lpstr>Lógica de Primeira Ordem</vt:lpstr>
      <vt:lpstr>Lógica de Primeira Ordem</vt:lpstr>
      <vt:lpstr>Lógica de Primeira Ordem</vt:lpstr>
      <vt:lpstr>Lógica de Primeira Ordem</vt:lpstr>
      <vt:lpstr>Lógica de Primeira Ordem</vt:lpstr>
      <vt:lpstr>Quantificação Universal</vt:lpstr>
      <vt:lpstr>Quantificação Universal</vt:lpstr>
      <vt:lpstr>Quantificação Universal</vt:lpstr>
      <vt:lpstr>Quantificação Universal</vt:lpstr>
      <vt:lpstr>Quantificação Universal</vt:lpstr>
      <vt:lpstr>Quantificação Existencial</vt:lpstr>
      <vt:lpstr>Quantificação Existencial</vt:lpstr>
      <vt:lpstr>Quantificação Existencial</vt:lpstr>
      <vt:lpstr>Quantificação Existencial</vt:lpstr>
      <vt:lpstr>Quantificação Existencial</vt:lpstr>
      <vt:lpstr>Quantificação</vt:lpstr>
      <vt:lpstr>Quantificação</vt:lpstr>
      <vt:lpstr>Quantificação</vt:lpstr>
      <vt:lpstr>Quantificação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João Aldo da Silva Leite Nune</cp:lastModifiedBy>
  <cp:revision>6</cp:revision>
  <dcterms:created xsi:type="dcterms:W3CDTF">2026-07-31T21:22:52Z</dcterms:created>
  <dcterms:modified xsi:type="dcterms:W3CDTF">2026-08-06T22:03:29Z</dcterms:modified>
</cp:coreProperties>
</file>